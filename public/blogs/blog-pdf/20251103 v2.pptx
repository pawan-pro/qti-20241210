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handoutMasters/handoutMaster1.xml" ContentType="application/vnd.openxmlformats-officedocument.presentationml.handoutMaster+xml"/>
  <Override PartName="/ppt/media/image4.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 id="2147483658" r:id="rId3"/>
  </p:sldMasterIdLst>
  <p:notesMasterIdLst>
    <p:notesMasterId r:id="rId6"/>
  </p:notesMasterIdLst>
  <p:handoutMasterIdLst>
    <p:handoutMasterId r:id="rId159"/>
  </p:handoutMasterIdLst>
  <p:sldIdLst>
    <p:sldId id="4102425" r:id="rId4"/>
    <p:sldId id="4103704" r:id="rId5"/>
    <p:sldId id="4103791" r:id="rId7"/>
    <p:sldId id="4103705" r:id="rId8"/>
    <p:sldId id="4103789" r:id="rId9"/>
    <p:sldId id="4103832" r:id="rId10"/>
    <p:sldId id="4103790" r:id="rId11"/>
    <p:sldId id="4103882" r:id="rId12"/>
    <p:sldId id="4103792" r:id="rId13"/>
    <p:sldId id="4103793" r:id="rId14"/>
    <p:sldId id="4103794" r:id="rId15"/>
    <p:sldId id="4103839" r:id="rId16"/>
    <p:sldId id="4103840" r:id="rId17"/>
    <p:sldId id="4103841" r:id="rId18"/>
    <p:sldId id="4103842" r:id="rId19"/>
    <p:sldId id="4103843" r:id="rId20"/>
    <p:sldId id="4103844" r:id="rId21"/>
    <p:sldId id="4103795" r:id="rId22"/>
    <p:sldId id="4103883" r:id="rId23"/>
    <p:sldId id="4103884" r:id="rId24"/>
    <p:sldId id="4103885" r:id="rId25"/>
    <p:sldId id="4103886" r:id="rId26"/>
    <p:sldId id="4103887" r:id="rId27"/>
    <p:sldId id="4103888" r:id="rId28"/>
    <p:sldId id="4103796" r:id="rId29"/>
    <p:sldId id="4103797" r:id="rId30"/>
    <p:sldId id="4103798" r:id="rId31"/>
    <p:sldId id="4103845" r:id="rId32"/>
    <p:sldId id="4103846" r:id="rId33"/>
    <p:sldId id="4103847" r:id="rId34"/>
    <p:sldId id="4103848" r:id="rId35"/>
    <p:sldId id="4103849" r:id="rId36"/>
    <p:sldId id="4103850" r:id="rId37"/>
    <p:sldId id="4103799" r:id="rId38"/>
    <p:sldId id="4103889" r:id="rId39"/>
    <p:sldId id="4103890" r:id="rId40"/>
    <p:sldId id="4103891" r:id="rId41"/>
    <p:sldId id="4103892" r:id="rId42"/>
    <p:sldId id="4103893" r:id="rId43"/>
    <p:sldId id="4103894" r:id="rId44"/>
    <p:sldId id="4103800" r:id="rId45"/>
    <p:sldId id="4103801" r:id="rId46"/>
    <p:sldId id="4103802" r:id="rId47"/>
    <p:sldId id="4103851" r:id="rId48"/>
    <p:sldId id="4103852" r:id="rId49"/>
    <p:sldId id="4103853" r:id="rId50"/>
    <p:sldId id="4103854" r:id="rId51"/>
    <p:sldId id="4103855" r:id="rId52"/>
    <p:sldId id="4103856" r:id="rId53"/>
    <p:sldId id="4103803" r:id="rId54"/>
    <p:sldId id="4103895" r:id="rId55"/>
    <p:sldId id="4103896" r:id="rId56"/>
    <p:sldId id="4103897" r:id="rId57"/>
    <p:sldId id="4103898" r:id="rId58"/>
    <p:sldId id="4103899" r:id="rId59"/>
    <p:sldId id="4103900" r:id="rId60"/>
    <p:sldId id="4103804" r:id="rId61"/>
    <p:sldId id="4103805" r:id="rId62"/>
    <p:sldId id="4103806" r:id="rId63"/>
    <p:sldId id="4103920" r:id="rId64"/>
    <p:sldId id="4103921" r:id="rId65"/>
    <p:sldId id="4103922" r:id="rId66"/>
    <p:sldId id="4103923" r:id="rId67"/>
    <p:sldId id="4103924" r:id="rId68"/>
    <p:sldId id="4103925" r:id="rId69"/>
    <p:sldId id="4103807" r:id="rId70"/>
    <p:sldId id="4103926" r:id="rId71"/>
    <p:sldId id="4103927" r:id="rId72"/>
    <p:sldId id="4103928" r:id="rId73"/>
    <p:sldId id="4103929" r:id="rId74"/>
    <p:sldId id="4103930" r:id="rId75"/>
    <p:sldId id="4103931" r:id="rId76"/>
    <p:sldId id="4103808" r:id="rId77"/>
    <p:sldId id="4103809" r:id="rId78"/>
    <p:sldId id="4103810" r:id="rId79"/>
    <p:sldId id="4103863" r:id="rId80"/>
    <p:sldId id="4103864" r:id="rId81"/>
    <p:sldId id="4103865" r:id="rId82"/>
    <p:sldId id="4103866" r:id="rId83"/>
    <p:sldId id="4103867" r:id="rId84"/>
    <p:sldId id="4103868" r:id="rId85"/>
    <p:sldId id="4103811" r:id="rId86"/>
    <p:sldId id="4103901" r:id="rId87"/>
    <p:sldId id="4103902" r:id="rId88"/>
    <p:sldId id="4103903" r:id="rId89"/>
    <p:sldId id="4103904" r:id="rId90"/>
    <p:sldId id="4103905" r:id="rId91"/>
    <p:sldId id="4103906" r:id="rId92"/>
    <p:sldId id="4103812" r:id="rId93"/>
    <p:sldId id="4103813" r:id="rId94"/>
    <p:sldId id="4103814" r:id="rId95"/>
    <p:sldId id="4103869" r:id="rId96"/>
    <p:sldId id="4103870" r:id="rId97"/>
    <p:sldId id="4103871" r:id="rId98"/>
    <p:sldId id="4103872" r:id="rId99"/>
    <p:sldId id="4103873" r:id="rId100"/>
    <p:sldId id="4103874" r:id="rId101"/>
    <p:sldId id="4103815" r:id="rId102"/>
    <p:sldId id="4103907" r:id="rId103"/>
    <p:sldId id="4103908" r:id="rId104"/>
    <p:sldId id="4103909" r:id="rId105"/>
    <p:sldId id="4103910" r:id="rId106"/>
    <p:sldId id="4103911" r:id="rId107"/>
    <p:sldId id="4103912" r:id="rId108"/>
    <p:sldId id="4103816" r:id="rId109"/>
    <p:sldId id="4103817" r:id="rId110"/>
    <p:sldId id="4103818" r:id="rId111"/>
    <p:sldId id="4103932" r:id="rId112"/>
    <p:sldId id="4103933" r:id="rId113"/>
    <p:sldId id="4103934" r:id="rId114"/>
    <p:sldId id="4103935" r:id="rId115"/>
    <p:sldId id="4103936" r:id="rId116"/>
    <p:sldId id="4103937" r:id="rId117"/>
    <p:sldId id="4103819" r:id="rId118"/>
    <p:sldId id="4103938" r:id="rId119"/>
    <p:sldId id="4103939" r:id="rId120"/>
    <p:sldId id="4103940" r:id="rId121"/>
    <p:sldId id="4103941" r:id="rId122"/>
    <p:sldId id="4103942" r:id="rId123"/>
    <p:sldId id="4103943" r:id="rId124"/>
    <p:sldId id="4103820" r:id="rId125"/>
    <p:sldId id="4103821" r:id="rId126"/>
    <p:sldId id="4103822" r:id="rId127"/>
    <p:sldId id="4103875" r:id="rId128"/>
    <p:sldId id="4103823" r:id="rId129"/>
    <p:sldId id="4103913" r:id="rId130"/>
    <p:sldId id="4103824" r:id="rId131"/>
    <p:sldId id="4103825" r:id="rId132"/>
    <p:sldId id="4103826" r:id="rId133"/>
    <p:sldId id="4103944" r:id="rId134"/>
    <p:sldId id="4103945" r:id="rId135"/>
    <p:sldId id="4103946" r:id="rId136"/>
    <p:sldId id="4103947" r:id="rId137"/>
    <p:sldId id="4103948" r:id="rId138"/>
    <p:sldId id="4103949" r:id="rId139"/>
    <p:sldId id="4103828" r:id="rId140"/>
    <p:sldId id="4103829" r:id="rId141"/>
    <p:sldId id="4103830" r:id="rId142"/>
    <p:sldId id="4103876" r:id="rId143"/>
    <p:sldId id="4103877" r:id="rId144"/>
    <p:sldId id="4103878" r:id="rId145"/>
    <p:sldId id="4103879" r:id="rId146"/>
    <p:sldId id="4103880" r:id="rId147"/>
    <p:sldId id="4103881" r:id="rId148"/>
    <p:sldId id="4103831" r:id="rId149"/>
    <p:sldId id="4103914" r:id="rId150"/>
    <p:sldId id="4103915" r:id="rId151"/>
    <p:sldId id="4103916" r:id="rId152"/>
    <p:sldId id="4103917" r:id="rId153"/>
    <p:sldId id="4103918" r:id="rId154"/>
    <p:sldId id="4103919" r:id="rId155"/>
    <p:sldId id="4103709" r:id="rId156"/>
    <p:sldId id="4103711" r:id="rId157"/>
    <p:sldId id="4103712" r:id="rId158"/>
  </p:sldIdLst>
  <p:sldSz cx="12192000" cy="6858000"/>
  <p:notesSz cx="6858000" cy="9144000"/>
  <p:embeddedFontLst>
    <p:embeddedFont>
      <p:font typeface="Century Gothic" panose="020B0702020202020204" pitchFamily="34" charset="0"/>
      <p:regular r:id="rId163"/>
    </p:embeddedFont>
    <p:embeddedFont>
      <p:font typeface="Century Gothic" panose="020B0702020202020204"/>
      <p:regular r:id="rId16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6" userDrawn="1">
          <p15:clr>
            <a:srgbClr val="A4A3A4"/>
          </p15:clr>
        </p15:guide>
        <p15:guide id="2" pos="1300" userDrawn="1">
          <p15:clr>
            <a:srgbClr val="A4A3A4"/>
          </p15:clr>
        </p15:guide>
        <p15:guide id="3" orient="horz" pos="560" userDrawn="1">
          <p15:clr>
            <a:srgbClr val="A4A3A4"/>
          </p15:clr>
        </p15:guide>
        <p15:guide id="4" pos="7512" userDrawn="1">
          <p15:clr>
            <a:srgbClr val="A4A3A4"/>
          </p15:clr>
        </p15:guide>
        <p15:guide id="5" pos="2343" userDrawn="1">
          <p15:clr>
            <a:srgbClr val="A4A3A4"/>
          </p15:clr>
        </p15:guide>
        <p15:guide id="6" pos="3443" userDrawn="1">
          <p15:clr>
            <a:srgbClr val="A4A3A4"/>
          </p15:clr>
        </p15:guide>
        <p15:guide id="7" pos="2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29"/>
    <p:restoredTop sz="94682"/>
  </p:normalViewPr>
  <p:slideViewPr>
    <p:cSldViewPr showGuides="1">
      <p:cViewPr>
        <p:scale>
          <a:sx n="90" d="100"/>
          <a:sy n="90" d="100"/>
        </p:scale>
        <p:origin x="-32" y="816"/>
      </p:cViewPr>
      <p:guideLst>
        <p:guide orient="horz" pos="436"/>
        <p:guide pos="1300"/>
        <p:guide orient="horz" pos="560"/>
        <p:guide pos="7512"/>
        <p:guide pos="2343"/>
        <p:guide pos="3443"/>
        <p:guide pos="232"/>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notesMaster" Target="notesMasters/notesMaster1.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4" Type="http://schemas.openxmlformats.org/officeDocument/2006/relationships/font" Target="fonts/font2.fntdata"/><Relationship Id="rId163" Type="http://schemas.openxmlformats.org/officeDocument/2006/relationships/font" Target="fonts/font1.fntdata"/><Relationship Id="rId162" Type="http://schemas.openxmlformats.org/officeDocument/2006/relationships/tableStyles" Target="tableStyles.xml"/><Relationship Id="rId161" Type="http://schemas.openxmlformats.org/officeDocument/2006/relationships/viewProps" Target="viewProps.xml"/><Relationship Id="rId160" Type="http://schemas.openxmlformats.org/officeDocument/2006/relationships/presProps" Target="presProps.xml"/><Relationship Id="rId16" Type="http://schemas.openxmlformats.org/officeDocument/2006/relationships/slide" Target="slides/slide12.xml"/><Relationship Id="rId159" Type="http://schemas.openxmlformats.org/officeDocument/2006/relationships/handoutMaster" Target="handoutMasters/handoutMaster1.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1.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406E5E-8587-7944-A611-EE9F859B850F}"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A3D73E-6582-8C42-9592-FC2CEFA619E6}"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image5.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image6.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image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microsoft.com/office/2007/relationships/hdphoto" Target="../media/image5.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image6.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microsoft.com/office/2007/relationships/hdphoto" Target="../media/image7.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7" name="Title 1"/>
          <p:cNvSpPr txBox="1"/>
          <p:nvPr userDrawn="1"/>
        </p:nvSpPr>
        <p:spPr>
          <a:xfrm>
            <a:off x="266700" y="875170"/>
            <a:ext cx="6062980" cy="6869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t>Click to edit Master title style</a:t>
            </a:r>
            <a:endParaRPr lang="en-US" dirty="0"/>
          </a:p>
        </p:txBody>
      </p:sp>
      <p:sp>
        <p:nvSpPr>
          <p:cNvPr id="6" name="Title 1"/>
          <p:cNvSpPr txBox="1"/>
          <p:nvPr userDrawn="1"/>
        </p:nvSpPr>
        <p:spPr>
          <a:xfrm>
            <a:off x="6059020" y="3501931"/>
            <a:ext cx="5443870" cy="220035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3300" dirty="0">
                <a:solidFill>
                  <a:schemeClr val="bg1">
                    <a:lumMod val="50000"/>
                  </a:schemeClr>
                </a:solidFill>
              </a:rPr>
              <a:t>[Date]</a:t>
            </a:r>
            <a:endParaRPr lang="en-US" sz="3300" dirty="0">
              <a:solidFill>
                <a:schemeClr val="bg1">
                  <a:lumMod val="50000"/>
                </a:schemeClr>
              </a:solidFill>
            </a:endParaRPr>
          </a:p>
          <a:p>
            <a:endParaRPr lang="en-US" sz="3300" dirty="0">
              <a:solidFill>
                <a:schemeClr val="bg1">
                  <a:lumMod val="50000"/>
                </a:schemeClr>
              </a:solidFill>
            </a:endParaRPr>
          </a:p>
          <a:p>
            <a:r>
              <a:rPr lang="en-US" sz="3300" dirty="0">
                <a:solidFill>
                  <a:schemeClr val="bg1">
                    <a:lumMod val="50000"/>
                  </a:schemeClr>
                </a:solidFill>
              </a:rPr>
              <a:t>Economic Data Releases &amp; Their Historical Impact on Assets</a:t>
            </a:r>
            <a:endParaRPr lang="en-US" sz="3300" dirty="0">
              <a:solidFill>
                <a:schemeClr val="bg1">
                  <a:lumMod val="50000"/>
                </a:schemeClr>
              </a:solidFill>
            </a:endParaRPr>
          </a:p>
        </p:txBody>
      </p:sp>
      <p:sp>
        <p:nvSpPr>
          <p:cNvPr id="8" name="TextBox 7"/>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able of content">
    <p:spTree>
      <p:nvGrpSpPr>
        <p:cNvPr id="1" name=""/>
        <p:cNvGrpSpPr/>
        <p:nvPr/>
      </p:nvGrpSpPr>
      <p:grpSpPr>
        <a:xfrm>
          <a:off x="0" y="0"/>
          <a:ext cx="0" cy="0"/>
          <a:chOff x="0" y="0"/>
          <a:chExt cx="0" cy="0"/>
        </a:xfrm>
      </p:grpSpPr>
      <p:pic>
        <p:nvPicPr>
          <p:cNvPr id="68" name="Graphic 6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3" name="Rectangle 2"/>
          <p:cNvSpPr/>
          <p:nvPr userDrawn="1"/>
        </p:nvSpPr>
        <p:spPr>
          <a:xfrm>
            <a:off x="439940" y="428750"/>
            <a:ext cx="11407299"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Century Gothic" panose="020B0702020202020204" pitchFamily="34" charset="0"/>
              </a:rPr>
              <a:t>Brief</a:t>
            </a:r>
            <a:endParaRPr lang="en-US" b="1" dirty="0">
              <a:solidFill>
                <a:srgbClr val="002060"/>
              </a:solidFill>
              <a:latin typeface="Century Gothic" panose="020B0702020202020204" pitchFamily="34" charset="0"/>
            </a:endParaRPr>
          </a:p>
        </p:txBody>
      </p:sp>
      <p:graphicFrame>
        <p:nvGraphicFramePr>
          <p:cNvPr id="4" name="Table 3"/>
          <p:cNvGraphicFramePr>
            <a:graphicFrameLocks noGrp="1"/>
          </p:cNvGraphicFramePr>
          <p:nvPr userDrawn="1"/>
        </p:nvGraphicFramePr>
        <p:xfrm>
          <a:off x="439939" y="882757"/>
          <a:ext cx="11407299" cy="5810186"/>
        </p:xfrm>
        <a:graphic>
          <a:graphicData uri="http://schemas.openxmlformats.org/drawingml/2006/table">
            <a:tbl>
              <a:tblPr>
                <a:tableStyleId>{5C22544A-7EE6-4342-B048-85BDC9FD1C3A}</a:tableStyleId>
              </a:tblPr>
              <a:tblGrid>
                <a:gridCol w="1492493"/>
                <a:gridCol w="949772"/>
                <a:gridCol w="1283396"/>
                <a:gridCol w="927100"/>
                <a:gridCol w="723900"/>
                <a:gridCol w="6030638"/>
              </a:tblGrid>
              <a:tr h="276893">
                <a:tc>
                  <a:txBody>
                    <a:bodyPr/>
                    <a:lstStyle/>
                    <a:p>
                      <a:pPr algn="ctr" fontAlgn="ctr"/>
                      <a:r>
                        <a:rPr lang="en-US" sz="1050" b="1" i="0" u="none" strike="noStrike" dirty="0">
                          <a:solidFill>
                            <a:srgbClr val="002060"/>
                          </a:solidFill>
                          <a:effectLst/>
                          <a:latin typeface="Verdana" panose="020B0604030504040204" pitchFamily="34" charset="0"/>
                        </a:rPr>
                        <a:t>Date</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Day</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Time (IST)</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Cur.</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Imp.</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Event</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600" b="0" i="0" u="none" strike="noStrike" dirty="0">
                          <a:solidFill>
                            <a:srgbClr val="000000"/>
                          </a:solidFill>
                          <a:effectLst/>
                          <a:latin typeface="Verdana" panose="020B0604030504040204" pitchFamily="34" charset="0"/>
                        </a:rPr>
                        <a:t>[</a:t>
                      </a: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153">
                <a:tc gridSpan="6">
                  <a:txBody>
                    <a:bodyPr/>
                    <a:lstStyle/>
                    <a:p>
                      <a:pPr lvl="0" algn="ctr" fontAlgn="ctr"/>
                      <a:endParaRPr lang="en-US" sz="8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TextBox 5"/>
          <p:cNvSpPr txBox="1"/>
          <p:nvPr userDrawn="1"/>
        </p:nvSpPr>
        <p:spPr>
          <a:xfrm rot="16200000">
            <a:off x="10969560" y="1558732"/>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7" name="Title 1"/>
          <p:cNvSpPr txBox="1"/>
          <p:nvPr userDrawn="1"/>
        </p:nvSpPr>
        <p:spPr>
          <a:xfrm>
            <a:off x="266700" y="875170"/>
            <a:ext cx="6062980" cy="6869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t>Click to edit Master title style</a:t>
            </a:r>
            <a:endParaRPr lang="en-US" dirty="0"/>
          </a:p>
        </p:txBody>
      </p:sp>
      <p:sp>
        <p:nvSpPr>
          <p:cNvPr id="6" name="Title 1"/>
          <p:cNvSpPr txBox="1"/>
          <p:nvPr userDrawn="1"/>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2000" b="1" dirty="0">
                <a:solidFill>
                  <a:srgbClr val="002060"/>
                </a:solidFill>
                <a:latin typeface="Century Gothic" panose="020B0702020202020204" pitchFamily="34" charset="0"/>
              </a:rPr>
              <a:t>[Event Name]</a:t>
            </a:r>
            <a:endParaRPr lang="en-US" sz="2000" b="1" dirty="0">
              <a:solidFill>
                <a:srgbClr val="002060"/>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Main Title 02">
    <p:bg>
      <p:bgRef idx="1001">
        <a:schemeClr val="bg2"/>
      </p:bgRef>
    </p:bg>
    <p:spTree>
      <p:nvGrpSpPr>
        <p:cNvPr id="1" name=""/>
        <p:cNvGrpSpPr/>
        <p:nvPr/>
      </p:nvGrpSpPr>
      <p:grpSpPr>
        <a:xfrm>
          <a:off x="0" y="0"/>
          <a:ext cx="0" cy="0"/>
          <a:chOff x="0" y="0"/>
          <a:chExt cx="0" cy="0"/>
        </a:xfrm>
      </p:grpSpPr>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8" name="Rectangle 7"/>
          <p:cNvSpPr/>
          <p:nvPr userDrawn="1"/>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702020202020204" pitchFamily="34" charset="0"/>
              </a:rPr>
              <a:t>[Event Name]</a:t>
            </a:r>
            <a:endParaRPr lang="en-US" sz="1800" b="1" dirty="0">
              <a:solidFill>
                <a:srgbClr val="002060"/>
              </a:solidFill>
              <a:latin typeface="Century Gothic" panose="020B0702020202020204" pitchFamily="34" charset="0"/>
            </a:endParaRPr>
          </a:p>
        </p:txBody>
      </p:sp>
      <p:graphicFrame>
        <p:nvGraphicFramePr>
          <p:cNvPr id="9" name="Table 8"/>
          <p:cNvGraphicFramePr>
            <a:graphicFrameLocks noGrp="1"/>
          </p:cNvGraphicFramePr>
          <p:nvPr userDrawn="1"/>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rtl="0" fontAlgn="ctr"/>
                      <a:r>
                        <a:rPr lang="en-US" sz="1800" b="1" i="0" u="none" strike="noStrike" dirty="0">
                          <a:solidFill>
                            <a:srgbClr val="000000"/>
                          </a:solidFill>
                          <a:effectLst/>
                          <a:latin typeface="Century Gothic" panose="020B0702020202020204" pitchFamily="34" charset="0"/>
                        </a:rPr>
                        <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rtl="0" fontAlgn="ctr"/>
                      <a:r>
                        <a:rPr lang="en-US" sz="1800" b="1" i="0" u="none" strike="noStrike" dirty="0">
                          <a:solidFill>
                            <a:srgbClr val="000000"/>
                          </a:solidFill>
                          <a:effectLst/>
                          <a:latin typeface="Century Gothic" panose="020B0702020202020204" pitchFamily="34" charset="0"/>
                        </a:rPr>
                        <a:t>[Event Name]</a:t>
                      </a: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rtl="0" fontAlgn="ctr"/>
                      <a:r>
                        <a:rPr lang="en-US" sz="1800" b="1" i="0" u="none" strike="noStrike">
                          <a:solidFill>
                            <a:srgbClr val="000000"/>
                          </a:solidFill>
                          <a:effectLst/>
                          <a:latin typeface="Century Gothic" panose="020B0702020202020204" pitchFamily="34" charset="0"/>
                        </a:rPr>
                        <a:t>Description</a:t>
                      </a:r>
                      <a:endParaRPr lang="en-US" sz="1800" b="1" i="0" u="none" strike="noStrike">
                        <a:solidFill>
                          <a:srgbClr val="000000"/>
                        </a:solidFill>
                        <a:effectLst/>
                        <a:latin typeface="Century Gothic" panose="020B0702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rtl="0" fontAlgn="ctr"/>
                      <a:r>
                        <a:rPr lang="en-US" sz="1800" b="1" i="0" u="none" strike="noStrike">
                          <a:solidFill>
                            <a:srgbClr val="000000"/>
                          </a:solidFill>
                          <a:effectLst/>
                          <a:latin typeface="Century Gothic" panose="020B0702020202020204" pitchFamily="34" charset="0"/>
                        </a:rPr>
                        <a:t>Actual:</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r>
                        <a:rPr lang="en-US" sz="1800" b="1" i="0" u="none" strike="noStrike">
                          <a:solidFill>
                            <a:srgbClr val="000000"/>
                          </a:solidFill>
                          <a:effectLst/>
                          <a:latin typeface="Century Gothic" panose="020B0702020202020204" pitchFamily="34" charset="0"/>
                        </a:rPr>
                        <a:t> </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rtl="0" fontAlgn="ctr"/>
                      <a:endParaRPr lang="en-US" sz="900" b="0" i="0" u="none" strike="noStrike" dirty="0">
                        <a:solidFill>
                          <a:srgbClr val="000000"/>
                        </a:solidFill>
                        <a:effectLst/>
                        <a:latin typeface="Century Gothic" panose="020B0702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6500">
                <a:tc>
                  <a:txBody>
                    <a:bodyPr/>
                    <a:lstStyle/>
                    <a:p>
                      <a:pPr algn="l" rtl="0" fontAlgn="ctr"/>
                      <a:r>
                        <a:rPr lang="en-US" sz="1800" b="1" i="0" u="none" strike="noStrike">
                          <a:solidFill>
                            <a:srgbClr val="000000"/>
                          </a:solidFill>
                          <a:effectLst/>
                          <a:latin typeface="Century Gothic" panose="020B0702020202020204" pitchFamily="34" charset="0"/>
                        </a:rPr>
                        <a:t>Forecast:</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r>
                        <a:rPr lang="en-US" sz="1800" b="1" i="0" u="none" strike="noStrike">
                          <a:solidFill>
                            <a:srgbClr val="000000"/>
                          </a:solidFill>
                          <a:effectLst/>
                          <a:latin typeface="Century Gothic" panose="020B0702020202020204" pitchFamily="34" charset="0"/>
                        </a:rPr>
                        <a:t> </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rtl="0" fontAlgn="ctr"/>
                      <a:r>
                        <a:rPr lang="en-US" sz="1800" b="1" i="0" u="none" strike="noStrike">
                          <a:solidFill>
                            <a:srgbClr val="000000"/>
                          </a:solidFill>
                          <a:effectLst/>
                          <a:latin typeface="Century Gothic" panose="020B0702020202020204" pitchFamily="34" charset="0"/>
                        </a:rPr>
                        <a:t>Previous:</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rtl="0" fontAlgn="ctr"/>
                      <a:r>
                        <a:rPr lang="en-US" sz="1800" b="1" i="0" u="none" strike="noStrike">
                          <a:solidFill>
                            <a:srgbClr val="000000"/>
                          </a:solidFill>
                          <a:effectLst/>
                          <a:latin typeface="Century Gothic" panose="020B0702020202020204" pitchFamily="34" charset="0"/>
                        </a:rPr>
                        <a:t>Time (GMT):</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rtl="0" fontAlgn="ctr"/>
                      <a:r>
                        <a:rPr lang="en-US" sz="1800" b="1" i="0" u="none" strike="noStrike">
                          <a:solidFill>
                            <a:srgbClr val="000000"/>
                          </a:solidFill>
                          <a:effectLst/>
                          <a:latin typeface="Century Gothic" panose="020B0702020202020204" pitchFamily="34" charset="0"/>
                        </a:rPr>
                        <a:t>Release Date</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702020202020204" pitchFamily="34" charset="0"/>
                        </a:rPr>
                        <a:t>Actual</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702020202020204" pitchFamily="34" charset="0"/>
                        </a:rPr>
                        <a:t>Forecast</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r>
                        <a:rPr lang="en-US" sz="1800" b="1" i="0" u="none" strike="noStrike" dirty="0">
                          <a:solidFill>
                            <a:srgbClr val="000000"/>
                          </a:solidFill>
                          <a:effectLst/>
                          <a:latin typeface="Century Gothic" panose="020B0702020202020204" pitchFamily="34" charset="0"/>
                        </a:rPr>
                        <a:t>Previous</a:t>
                      </a: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
        <p:nvSpPr>
          <p:cNvPr id="2" name="TextBox 5"/>
          <p:cNvSpPr txBox="1"/>
          <p:nvPr userDrawn="1"/>
        </p:nvSpPr>
        <p:spPr>
          <a:xfrm rot="16200000">
            <a:off x="11014010" y="1358707"/>
            <a:ext cx="2056958" cy="230832"/>
          </a:xfrm>
          <a:prstGeom prst="rect">
            <a:avLst/>
          </a:prstGeom>
          <a:noFill/>
        </p:spPr>
        <p:txBody>
          <a:bodyPr wrap="square">
            <a:spAutoFit/>
          </a:bodyPr>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6" name="Title 1"/>
          <p:cNvSpPr txBox="1"/>
          <p:nvPr userDrawn="1"/>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2000" b="1" dirty="0">
                <a:solidFill>
                  <a:srgbClr val="002060"/>
                </a:solidFill>
                <a:latin typeface="Century Gothic" panose="020B0702020202020204" pitchFamily="34" charset="0"/>
              </a:rPr>
              <a:t>[Event Name]</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[asset name 1]</a:t>
            </a:r>
            <a:endParaRPr lang="en-US" sz="2000" b="1" dirty="0">
              <a:solidFill>
                <a:srgbClr val="002060"/>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of content">
    <p:spTree>
      <p:nvGrpSpPr>
        <p:cNvPr id="1" name=""/>
        <p:cNvGrpSpPr/>
        <p:nvPr/>
      </p:nvGrpSpPr>
      <p:grpSpPr>
        <a:xfrm>
          <a:off x="0" y="0"/>
          <a:ext cx="0" cy="0"/>
          <a:chOff x="0" y="0"/>
          <a:chExt cx="0" cy="0"/>
        </a:xfrm>
      </p:grpSpPr>
      <p:pic>
        <p:nvPicPr>
          <p:cNvPr id="68" name="Graphic 6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2" name="TextBox 5"/>
          <p:cNvSpPr txBox="1"/>
          <p:nvPr userDrawn="1"/>
        </p:nvSpPr>
        <p:spPr>
          <a:xfrm rot="16200000">
            <a:off x="11014010" y="135870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6" name="Title 1"/>
          <p:cNvSpPr txBox="1"/>
          <p:nvPr userDrawn="1"/>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2000" b="1" dirty="0">
                <a:solidFill>
                  <a:srgbClr val="002060"/>
                </a:solidFill>
                <a:latin typeface="Century Gothic" panose="020B0702020202020204" pitchFamily="34" charset="0"/>
              </a:rPr>
              <a:t>[Event Name]</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[asset name 2]</a:t>
            </a:r>
            <a:endParaRPr lang="en-US" sz="2000" b="1" dirty="0">
              <a:solidFill>
                <a:srgbClr val="002060"/>
              </a:solidFill>
              <a:latin typeface="Century Gothic" panose="020B0702020202020204" pitchFamily="34" charset="0"/>
            </a:endParaRPr>
          </a:p>
        </p:txBody>
      </p:sp>
      <p:sp>
        <p:nvSpPr>
          <p:cNvPr id="5" name="TextBox 5"/>
          <p:cNvSpPr txBox="1"/>
          <p:nvPr userDrawn="1"/>
        </p:nvSpPr>
        <p:spPr>
          <a:xfrm rot="16200000">
            <a:off x="11014010" y="905952"/>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able of content">
    <p:spTree>
      <p:nvGrpSpPr>
        <p:cNvPr id="1" name=""/>
        <p:cNvGrpSpPr/>
        <p:nvPr/>
      </p:nvGrpSpPr>
      <p:grpSpPr>
        <a:xfrm>
          <a:off x="0" y="0"/>
          <a:ext cx="0" cy="0"/>
          <a:chOff x="0" y="0"/>
          <a:chExt cx="0" cy="0"/>
        </a:xfrm>
      </p:grpSpPr>
      <p:pic>
        <p:nvPicPr>
          <p:cNvPr id="68" name="Graphic 6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6" name="TextBox 5"/>
          <p:cNvSpPr txBox="1"/>
          <p:nvPr userDrawn="1"/>
        </p:nvSpPr>
        <p:spPr>
          <a:xfrm rot="16200000">
            <a:off x="11014010" y="150221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743200" cy="365125"/>
          </a:xfrm>
          <a:prstGeom prst="rect">
            <a:avLst/>
          </a:prstGeom>
        </p:spPr>
        <p:txBody>
          <a:bodyPr/>
          <a:lstStyle/>
          <a:p>
            <a:fld id="{9C520731-65EA-CE43-94A5-88CA2912E5C8}"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24CBB0-FF61-A741-B66C-72250AAD4BCF}" type="slidenum">
              <a:rPr lang="en-US" smtClean="0"/>
            </a:fld>
            <a:endParaRPr lang="en-US"/>
          </a:p>
        </p:txBody>
      </p:sp>
      <p:sp>
        <p:nvSpPr>
          <p:cNvPr id="5" name="TextBox 5"/>
          <p:cNvSpPr txBox="1"/>
          <p:nvPr userDrawn="1"/>
        </p:nvSpPr>
        <p:spPr>
          <a:xfrm rot="16200000">
            <a:off x="11023535" y="1514282"/>
            <a:ext cx="2056958" cy="229870"/>
          </a:xfrm>
          <a:prstGeom prst="rect">
            <a:avLst/>
          </a:prstGeom>
          <a:noFill/>
        </p:spPr>
        <p:txBody>
          <a:bodyPr wrap="square">
            <a:spAutoFit/>
          </a:bodyPr>
          <a:lstStyle/>
          <a:p>
            <a:r>
              <a:rPr lang="en-US" sz="900" dirty="0">
                <a:solidFill>
                  <a:schemeClr val="bg1">
                    <a:lumMod val="65000"/>
                  </a:schemeClr>
                </a:solidFill>
                <a:latin typeface="Century Gothic" panose="020B0702020202020204" pitchFamily="34" charset="0"/>
              </a:rPr>
              <a:t>Quantwater Tech Investments </a:t>
            </a:r>
            <a:endParaRPr lang="en-US" sz="900" dirty="0">
              <a:solidFill>
                <a:schemeClr val="bg1">
                  <a:lumMod val="65000"/>
                </a:schemeClr>
              </a:solidFill>
              <a:latin typeface="Century Gothic" panose="020B0702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7" name="Title 1"/>
          <p:cNvSpPr txBox="1"/>
          <p:nvPr userDrawn="1"/>
        </p:nvSpPr>
        <p:spPr>
          <a:xfrm>
            <a:off x="266700" y="875170"/>
            <a:ext cx="6062980" cy="6869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t>Click to edit Master title style</a:t>
            </a:r>
            <a:endParaRPr lang="en-US" dirty="0"/>
          </a:p>
        </p:txBody>
      </p:sp>
      <p:sp>
        <p:nvSpPr>
          <p:cNvPr id="6" name="Title 1"/>
          <p:cNvSpPr txBox="1"/>
          <p:nvPr userDrawn="1"/>
        </p:nvSpPr>
        <p:spPr>
          <a:xfrm>
            <a:off x="6059020" y="3501931"/>
            <a:ext cx="5443870" cy="220035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3300" dirty="0">
                <a:solidFill>
                  <a:schemeClr val="bg1">
                    <a:lumMod val="50000"/>
                  </a:schemeClr>
                </a:solidFill>
              </a:rPr>
              <a:t>[Date]</a:t>
            </a:r>
            <a:endParaRPr lang="en-US" sz="3300" dirty="0">
              <a:solidFill>
                <a:schemeClr val="bg1">
                  <a:lumMod val="50000"/>
                </a:schemeClr>
              </a:solidFill>
            </a:endParaRPr>
          </a:p>
          <a:p>
            <a:endParaRPr lang="en-US" sz="3300" dirty="0">
              <a:solidFill>
                <a:schemeClr val="bg1">
                  <a:lumMod val="50000"/>
                </a:schemeClr>
              </a:solidFill>
            </a:endParaRPr>
          </a:p>
          <a:p>
            <a:r>
              <a:rPr lang="en-US" sz="3300" dirty="0">
                <a:solidFill>
                  <a:schemeClr val="bg1">
                    <a:lumMod val="50000"/>
                  </a:schemeClr>
                </a:solidFill>
              </a:rPr>
              <a:t>Economic Data Releases &amp; Their Historical Impact on Assets</a:t>
            </a:r>
            <a:endParaRPr lang="en-US" sz="3300" dirty="0">
              <a:solidFill>
                <a:schemeClr val="bg1">
                  <a:lumMod val="50000"/>
                </a:schemeClr>
              </a:solidFill>
            </a:endParaRPr>
          </a:p>
        </p:txBody>
      </p:sp>
      <p:sp>
        <p:nvSpPr>
          <p:cNvPr id="8" name="TextBox 7"/>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able of content">
    <p:spTree>
      <p:nvGrpSpPr>
        <p:cNvPr id="1" name=""/>
        <p:cNvGrpSpPr/>
        <p:nvPr/>
      </p:nvGrpSpPr>
      <p:grpSpPr>
        <a:xfrm>
          <a:off x="0" y="0"/>
          <a:ext cx="0" cy="0"/>
          <a:chOff x="0" y="0"/>
          <a:chExt cx="0" cy="0"/>
        </a:xfrm>
      </p:grpSpPr>
      <p:pic>
        <p:nvPicPr>
          <p:cNvPr id="68" name="Graphic 6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3" name="Rectangle 2"/>
          <p:cNvSpPr/>
          <p:nvPr userDrawn="1"/>
        </p:nvSpPr>
        <p:spPr>
          <a:xfrm>
            <a:off x="439940" y="428750"/>
            <a:ext cx="11407299"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Century Gothic" panose="020B0702020202020204" pitchFamily="34" charset="0"/>
              </a:rPr>
              <a:t>Brief</a:t>
            </a:r>
            <a:endParaRPr lang="en-US" b="1" dirty="0">
              <a:solidFill>
                <a:srgbClr val="002060"/>
              </a:solidFill>
              <a:latin typeface="Century Gothic" panose="020B0702020202020204" pitchFamily="34" charset="0"/>
            </a:endParaRPr>
          </a:p>
        </p:txBody>
      </p:sp>
      <p:graphicFrame>
        <p:nvGraphicFramePr>
          <p:cNvPr id="4" name="Table 3"/>
          <p:cNvGraphicFramePr>
            <a:graphicFrameLocks noGrp="1"/>
          </p:cNvGraphicFramePr>
          <p:nvPr userDrawn="1"/>
        </p:nvGraphicFramePr>
        <p:xfrm>
          <a:off x="439939" y="882757"/>
          <a:ext cx="11407299" cy="5810186"/>
        </p:xfrm>
        <a:graphic>
          <a:graphicData uri="http://schemas.openxmlformats.org/drawingml/2006/table">
            <a:tbl>
              <a:tblPr>
                <a:tableStyleId>{5C22544A-7EE6-4342-B048-85BDC9FD1C3A}</a:tableStyleId>
              </a:tblPr>
              <a:tblGrid>
                <a:gridCol w="1492493"/>
                <a:gridCol w="949772"/>
                <a:gridCol w="1283396"/>
                <a:gridCol w="927100"/>
                <a:gridCol w="723900"/>
                <a:gridCol w="6030638"/>
              </a:tblGrid>
              <a:tr h="276893">
                <a:tc>
                  <a:txBody>
                    <a:bodyPr/>
                    <a:lstStyle/>
                    <a:p>
                      <a:pPr algn="ctr" fontAlgn="ctr"/>
                      <a:r>
                        <a:rPr lang="en-US" sz="1050" b="1" i="0" u="none" strike="noStrike" dirty="0">
                          <a:solidFill>
                            <a:srgbClr val="002060"/>
                          </a:solidFill>
                          <a:effectLst/>
                          <a:latin typeface="Verdana" panose="020B0604030504040204" pitchFamily="34" charset="0"/>
                        </a:rPr>
                        <a:t>Date</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Day</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Time (IST)</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Cur.</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Imp.</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Event</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600" b="0" i="0" u="none" strike="noStrike" dirty="0">
                          <a:solidFill>
                            <a:srgbClr val="000000"/>
                          </a:solidFill>
                          <a:effectLst/>
                          <a:latin typeface="Verdana" panose="020B0604030504040204" pitchFamily="34" charset="0"/>
                        </a:rPr>
                        <a:t>[</a:t>
                      </a: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153">
                <a:tc gridSpan="6">
                  <a:txBody>
                    <a:bodyPr/>
                    <a:lstStyle/>
                    <a:p>
                      <a:pPr lvl="0" algn="ctr" fontAlgn="ctr"/>
                      <a:endParaRPr lang="en-US" sz="8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TextBox 5"/>
          <p:cNvSpPr txBox="1"/>
          <p:nvPr userDrawn="1"/>
        </p:nvSpPr>
        <p:spPr>
          <a:xfrm rot="16200000">
            <a:off x="10969560" y="1558732"/>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7" name="Title 1"/>
          <p:cNvSpPr txBox="1"/>
          <p:nvPr userDrawn="1"/>
        </p:nvSpPr>
        <p:spPr>
          <a:xfrm>
            <a:off x="266700" y="875170"/>
            <a:ext cx="6062980" cy="6869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t>Click to edit Master title style</a:t>
            </a:r>
            <a:endParaRPr lang="en-US" dirty="0"/>
          </a:p>
        </p:txBody>
      </p:sp>
      <p:sp>
        <p:nvSpPr>
          <p:cNvPr id="6" name="Title 1"/>
          <p:cNvSpPr txBox="1"/>
          <p:nvPr userDrawn="1"/>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2000" b="1" dirty="0">
                <a:solidFill>
                  <a:srgbClr val="002060"/>
                </a:solidFill>
                <a:latin typeface="Century Gothic" panose="020B0702020202020204" pitchFamily="34" charset="0"/>
              </a:rPr>
              <a:t>[Event Name]</a:t>
            </a:r>
            <a:endParaRPr lang="en-US" sz="2000" b="1" dirty="0">
              <a:solidFill>
                <a:srgbClr val="002060"/>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Main Title 02">
    <p:bg>
      <p:bgRef idx="1001">
        <a:schemeClr val="bg2"/>
      </p:bgRef>
    </p:bg>
    <p:spTree>
      <p:nvGrpSpPr>
        <p:cNvPr id="1" name=""/>
        <p:cNvGrpSpPr/>
        <p:nvPr/>
      </p:nvGrpSpPr>
      <p:grpSpPr>
        <a:xfrm>
          <a:off x="0" y="0"/>
          <a:ext cx="0" cy="0"/>
          <a:chOff x="0" y="0"/>
          <a:chExt cx="0" cy="0"/>
        </a:xfrm>
      </p:grpSpPr>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8" name="Rectangle 7"/>
          <p:cNvSpPr/>
          <p:nvPr userDrawn="1"/>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702020202020204" pitchFamily="34" charset="0"/>
              </a:rPr>
              <a:t>[Event Name]</a:t>
            </a:r>
            <a:endParaRPr lang="en-US" sz="1800" b="1" dirty="0">
              <a:solidFill>
                <a:srgbClr val="002060"/>
              </a:solidFill>
              <a:latin typeface="Century Gothic" panose="020B0702020202020204" pitchFamily="34" charset="0"/>
            </a:endParaRPr>
          </a:p>
        </p:txBody>
      </p:sp>
      <p:graphicFrame>
        <p:nvGraphicFramePr>
          <p:cNvPr id="9" name="Table 8"/>
          <p:cNvGraphicFramePr>
            <a:graphicFrameLocks noGrp="1"/>
          </p:cNvGraphicFramePr>
          <p:nvPr userDrawn="1"/>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rtl="0" fontAlgn="ctr"/>
                      <a:r>
                        <a:rPr lang="en-US" sz="1800" b="1" i="0" u="none" strike="noStrike" dirty="0">
                          <a:solidFill>
                            <a:srgbClr val="000000"/>
                          </a:solidFill>
                          <a:effectLst/>
                          <a:latin typeface="Century Gothic" panose="020B0702020202020204" pitchFamily="34" charset="0"/>
                        </a:rPr>
                        <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rtl="0" fontAlgn="ctr"/>
                      <a:r>
                        <a:rPr lang="en-US" sz="1800" b="1" i="0" u="none" strike="noStrike" dirty="0">
                          <a:solidFill>
                            <a:srgbClr val="000000"/>
                          </a:solidFill>
                          <a:effectLst/>
                          <a:latin typeface="Century Gothic" panose="020B0702020202020204" pitchFamily="34" charset="0"/>
                        </a:rPr>
                        <a:t>[Event Name]</a:t>
                      </a: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rtl="0" fontAlgn="ctr"/>
                      <a:r>
                        <a:rPr lang="en-US" sz="1800" b="1" i="0" u="none" strike="noStrike">
                          <a:solidFill>
                            <a:srgbClr val="000000"/>
                          </a:solidFill>
                          <a:effectLst/>
                          <a:latin typeface="Century Gothic" panose="020B0702020202020204" pitchFamily="34" charset="0"/>
                        </a:rPr>
                        <a:t>Description</a:t>
                      </a:r>
                      <a:endParaRPr lang="en-US" sz="1800" b="1" i="0" u="none" strike="noStrike">
                        <a:solidFill>
                          <a:srgbClr val="000000"/>
                        </a:solidFill>
                        <a:effectLst/>
                        <a:latin typeface="Century Gothic" panose="020B0702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rtl="0" fontAlgn="ctr"/>
                      <a:r>
                        <a:rPr lang="en-US" sz="1800" b="1" i="0" u="none" strike="noStrike">
                          <a:solidFill>
                            <a:srgbClr val="000000"/>
                          </a:solidFill>
                          <a:effectLst/>
                          <a:latin typeface="Century Gothic" panose="020B0702020202020204" pitchFamily="34" charset="0"/>
                        </a:rPr>
                        <a:t>Actual:</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r>
                        <a:rPr lang="en-US" sz="1800" b="1" i="0" u="none" strike="noStrike">
                          <a:solidFill>
                            <a:srgbClr val="000000"/>
                          </a:solidFill>
                          <a:effectLst/>
                          <a:latin typeface="Century Gothic" panose="020B0702020202020204" pitchFamily="34" charset="0"/>
                        </a:rPr>
                        <a:t> </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rtl="0" fontAlgn="ctr"/>
                      <a:endParaRPr lang="en-US" sz="900" b="0" i="0" u="none" strike="noStrike" dirty="0">
                        <a:solidFill>
                          <a:srgbClr val="000000"/>
                        </a:solidFill>
                        <a:effectLst/>
                        <a:latin typeface="Century Gothic" panose="020B0702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6500">
                <a:tc>
                  <a:txBody>
                    <a:bodyPr/>
                    <a:lstStyle/>
                    <a:p>
                      <a:pPr algn="l" rtl="0" fontAlgn="ctr"/>
                      <a:r>
                        <a:rPr lang="en-US" sz="1800" b="1" i="0" u="none" strike="noStrike">
                          <a:solidFill>
                            <a:srgbClr val="000000"/>
                          </a:solidFill>
                          <a:effectLst/>
                          <a:latin typeface="Century Gothic" panose="020B0702020202020204" pitchFamily="34" charset="0"/>
                        </a:rPr>
                        <a:t>Forecast:</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r>
                        <a:rPr lang="en-US" sz="1800" b="1" i="0" u="none" strike="noStrike">
                          <a:solidFill>
                            <a:srgbClr val="000000"/>
                          </a:solidFill>
                          <a:effectLst/>
                          <a:latin typeface="Century Gothic" panose="020B0702020202020204" pitchFamily="34" charset="0"/>
                        </a:rPr>
                        <a:t> </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rtl="0" fontAlgn="ctr"/>
                      <a:r>
                        <a:rPr lang="en-US" sz="1800" b="1" i="0" u="none" strike="noStrike">
                          <a:solidFill>
                            <a:srgbClr val="000000"/>
                          </a:solidFill>
                          <a:effectLst/>
                          <a:latin typeface="Century Gothic" panose="020B0702020202020204" pitchFamily="34" charset="0"/>
                        </a:rPr>
                        <a:t>Previous:</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rtl="0" fontAlgn="ctr"/>
                      <a:r>
                        <a:rPr lang="en-US" sz="1800" b="1" i="0" u="none" strike="noStrike">
                          <a:solidFill>
                            <a:srgbClr val="000000"/>
                          </a:solidFill>
                          <a:effectLst/>
                          <a:latin typeface="Century Gothic" panose="020B0702020202020204" pitchFamily="34" charset="0"/>
                        </a:rPr>
                        <a:t>Time (GMT):</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rtl="0" fontAlgn="ctr"/>
                      <a:r>
                        <a:rPr lang="en-US" sz="1800" b="1" i="0" u="none" strike="noStrike">
                          <a:solidFill>
                            <a:srgbClr val="000000"/>
                          </a:solidFill>
                          <a:effectLst/>
                          <a:latin typeface="Century Gothic" panose="020B0702020202020204" pitchFamily="34" charset="0"/>
                        </a:rPr>
                        <a:t>Release Date</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702020202020204" pitchFamily="34" charset="0"/>
                        </a:rPr>
                        <a:t>Actual</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702020202020204" pitchFamily="34" charset="0"/>
                        </a:rPr>
                        <a:t>Forecast</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r>
                        <a:rPr lang="en-US" sz="1800" b="1" i="0" u="none" strike="noStrike" dirty="0">
                          <a:solidFill>
                            <a:srgbClr val="000000"/>
                          </a:solidFill>
                          <a:effectLst/>
                          <a:latin typeface="Century Gothic" panose="020B0702020202020204" pitchFamily="34" charset="0"/>
                        </a:rPr>
                        <a:t>Previous</a:t>
                      </a: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
        <p:nvSpPr>
          <p:cNvPr id="2" name="TextBox 5"/>
          <p:cNvSpPr txBox="1"/>
          <p:nvPr userDrawn="1"/>
        </p:nvSpPr>
        <p:spPr>
          <a:xfrm rot="16200000">
            <a:off x="11014010" y="1358707"/>
            <a:ext cx="2056958" cy="230832"/>
          </a:xfrm>
          <a:prstGeom prst="rect">
            <a:avLst/>
          </a:prstGeom>
          <a:noFill/>
        </p:spPr>
        <p:txBody>
          <a:bodyPr wrap="square">
            <a:spAutoFit/>
          </a:bodyPr>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6" name="Title 1"/>
          <p:cNvSpPr txBox="1"/>
          <p:nvPr userDrawn="1"/>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2000" b="1" dirty="0">
                <a:solidFill>
                  <a:srgbClr val="002060"/>
                </a:solidFill>
                <a:latin typeface="Century Gothic" panose="020B0702020202020204" pitchFamily="34" charset="0"/>
              </a:rPr>
              <a:t>[Event Name]</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[asset name 1]</a:t>
            </a:r>
            <a:endParaRPr lang="en-US" sz="2000" b="1" dirty="0">
              <a:solidFill>
                <a:srgbClr val="002060"/>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able of content">
    <p:spTree>
      <p:nvGrpSpPr>
        <p:cNvPr id="1" name=""/>
        <p:cNvGrpSpPr/>
        <p:nvPr/>
      </p:nvGrpSpPr>
      <p:grpSpPr>
        <a:xfrm>
          <a:off x="0" y="0"/>
          <a:ext cx="0" cy="0"/>
          <a:chOff x="0" y="0"/>
          <a:chExt cx="0" cy="0"/>
        </a:xfrm>
      </p:grpSpPr>
      <p:pic>
        <p:nvPicPr>
          <p:cNvPr id="68" name="Graphic 6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2" name="TextBox 5"/>
          <p:cNvSpPr txBox="1"/>
          <p:nvPr userDrawn="1"/>
        </p:nvSpPr>
        <p:spPr>
          <a:xfrm rot="16200000">
            <a:off x="11014010" y="135870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6" name="Title 1"/>
          <p:cNvSpPr txBox="1"/>
          <p:nvPr userDrawn="1"/>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2000" b="1" dirty="0">
                <a:solidFill>
                  <a:srgbClr val="002060"/>
                </a:solidFill>
                <a:latin typeface="Century Gothic" panose="020B0702020202020204" pitchFamily="34" charset="0"/>
              </a:rPr>
              <a:t>[Event Name]</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[asset name 2]</a:t>
            </a:r>
            <a:endParaRPr lang="en-US" sz="2000" b="1" dirty="0">
              <a:solidFill>
                <a:srgbClr val="002060"/>
              </a:solidFill>
              <a:latin typeface="Century Gothic" panose="020B0702020202020204" pitchFamily="34" charset="0"/>
            </a:endParaRPr>
          </a:p>
        </p:txBody>
      </p:sp>
      <p:sp>
        <p:nvSpPr>
          <p:cNvPr id="5" name="TextBox 5"/>
          <p:cNvSpPr txBox="1"/>
          <p:nvPr userDrawn="1"/>
        </p:nvSpPr>
        <p:spPr>
          <a:xfrm rot="16200000">
            <a:off x="11014010" y="905952"/>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able of content">
    <p:spTree>
      <p:nvGrpSpPr>
        <p:cNvPr id="1" name=""/>
        <p:cNvGrpSpPr/>
        <p:nvPr/>
      </p:nvGrpSpPr>
      <p:grpSpPr>
        <a:xfrm>
          <a:off x="0" y="0"/>
          <a:ext cx="0" cy="0"/>
          <a:chOff x="0" y="0"/>
          <a:chExt cx="0" cy="0"/>
        </a:xfrm>
      </p:grpSpPr>
      <p:pic>
        <p:nvPicPr>
          <p:cNvPr id="68" name="Graphic 6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6" name="TextBox 5"/>
          <p:cNvSpPr txBox="1"/>
          <p:nvPr userDrawn="1"/>
        </p:nvSpPr>
        <p:spPr>
          <a:xfrm rot="16200000">
            <a:off x="11014010" y="150221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743200" cy="365125"/>
          </a:xfrm>
          <a:prstGeom prst="rect">
            <a:avLst/>
          </a:prstGeom>
        </p:spPr>
        <p:txBody>
          <a:bodyPr/>
          <a:lstStyle/>
          <a:p>
            <a:fld id="{9C520731-65EA-CE43-94A5-88CA2912E5C8}"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24CBB0-FF61-A741-B66C-72250AAD4BCF}" type="slidenum">
              <a:rPr lang="en-US" smtClean="0"/>
            </a:fld>
            <a:endParaRPr lang="en-US"/>
          </a:p>
        </p:txBody>
      </p:sp>
      <p:sp>
        <p:nvSpPr>
          <p:cNvPr id="5" name="TextBox 5"/>
          <p:cNvSpPr txBox="1"/>
          <p:nvPr userDrawn="1"/>
        </p:nvSpPr>
        <p:spPr>
          <a:xfrm rot="16200000">
            <a:off x="11023535" y="1514282"/>
            <a:ext cx="2056958" cy="229870"/>
          </a:xfrm>
          <a:prstGeom prst="rect">
            <a:avLst/>
          </a:prstGeom>
          <a:noFill/>
        </p:spPr>
        <p:txBody>
          <a:bodyPr wrap="square">
            <a:spAutoFit/>
          </a:bodyPr>
          <a:lstStyle/>
          <a:p>
            <a:r>
              <a:rPr lang="en-US" sz="900" dirty="0">
                <a:solidFill>
                  <a:schemeClr val="bg1">
                    <a:lumMod val="65000"/>
                  </a:schemeClr>
                </a:solidFill>
                <a:latin typeface="Century Gothic" panose="020B0702020202020204" pitchFamily="34" charset="0"/>
              </a:rPr>
              <a:t>Quantwater Tech Investments </a:t>
            </a:r>
            <a:endParaRPr lang="en-US" sz="900" dirty="0">
              <a:solidFill>
                <a:schemeClr val="bg1">
                  <a:lumMod val="65000"/>
                </a:schemeClr>
              </a:solidFill>
              <a:latin typeface="Century Gothic" panose="020B0702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slideLayout" Target="../slideLayouts/slideLayout17.xml"/><Relationship Id="rId7" Type="http://schemas.openxmlformats.org/officeDocument/2006/relationships/slideLayout" Target="../slideLayouts/slideLayout16.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 Id="rId3" Type="http://schemas.openxmlformats.org/officeDocument/2006/relationships/slideLayout" Target="../slideLayouts/slideLayout12.xml"/><Relationship Id="rId2" Type="http://schemas.openxmlformats.org/officeDocument/2006/relationships/slideLayout" Target="../slideLayouts/slideLayout11.xml"/><Relationship Id="rId10" Type="http://schemas.openxmlformats.org/officeDocument/2006/relationships/theme" Target="../theme/theme2.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6700" y="228600"/>
            <a:ext cx="11658600" cy="571500"/>
          </a:xfrm>
          <a:prstGeom prst="rect">
            <a:avLst/>
          </a:prstGeom>
        </p:spPr>
        <p:txBody>
          <a:bodyPr vert="horz" lIns="91440" tIns="45720" rIns="91440" bIns="45720" rtlCol="0" anchor="ctr">
            <a:normAutofit/>
          </a:bodyPr>
          <a:lstStyle/>
          <a:p>
            <a:r>
              <a:rPr lang="en-US" dirty="0"/>
              <a:t>Insert Text Here</a:t>
            </a:r>
            <a:endParaRPr lang="en-US" dirty="0"/>
          </a:p>
        </p:txBody>
      </p:sp>
      <p:sp>
        <p:nvSpPr>
          <p:cNvPr id="3" name="Text Placeholder 2"/>
          <p:cNvSpPr>
            <a:spLocks noGrp="1"/>
          </p:cNvSpPr>
          <p:nvPr>
            <p:ph type="body" idx="1"/>
          </p:nvPr>
        </p:nvSpPr>
        <p:spPr>
          <a:xfrm>
            <a:off x="266700" y="892098"/>
            <a:ext cx="11658600" cy="5343677"/>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75000"/>
                  </a:schemeClr>
                </a:solidFill>
                <a:latin typeface="Arial" panose="020B0704020202020204" pitchFamily="34" charset="0"/>
              </a:defRPr>
            </a:lvl1pPr>
          </a:lstStyle>
          <a:p>
            <a:endParaRPr lang="en-US" dirty="0"/>
          </a:p>
        </p:txBody>
      </p:sp>
      <p:sp>
        <p:nvSpPr>
          <p:cNvPr id="6" name="Slide Number Placeholder 5"/>
          <p:cNvSpPr>
            <a:spLocks noGrp="1"/>
          </p:cNvSpPr>
          <p:nvPr>
            <p:ph type="sldNum" sz="quarter" idx="4"/>
          </p:nvPr>
        </p:nvSpPr>
        <p:spPr>
          <a:xfrm>
            <a:off x="8839200" y="6356350"/>
            <a:ext cx="2743200" cy="365125"/>
          </a:xfrm>
          <a:prstGeom prst="rect">
            <a:avLst/>
          </a:prstGeom>
        </p:spPr>
        <p:txBody>
          <a:bodyPr vert="horz" lIns="91440" tIns="45720" rIns="91440" bIns="45720" rtlCol="0" anchor="ctr"/>
          <a:lstStyle>
            <a:lvl1pPr algn="r">
              <a:defRPr sz="1100">
                <a:solidFill>
                  <a:schemeClr val="tx1">
                    <a:tint val="75000"/>
                  </a:schemeClr>
                </a:solidFill>
                <a:latin typeface="Arial" panose="020B0704020202020204" pitchFamily="34" charset="0"/>
              </a:defRPr>
            </a:lvl1pPr>
          </a:lstStyle>
          <a:p>
            <a:fld id="{743B1F26-96D9-40A6-83AD-00943405493D}"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2800" b="1" kern="1200">
          <a:solidFill>
            <a:srgbClr val="0E1120"/>
          </a:solidFill>
          <a:latin typeface="Arial" panose="020B0704020202020204" pitchFamily="34" charset="0"/>
          <a:ea typeface="+mj-ea"/>
          <a:cs typeface="Arial" panose="020B0704020202020204" pitchFamily="34" charset="0"/>
        </a:defRPr>
      </a:lvl1pPr>
    </p:titleStyle>
    <p:bodyStyle>
      <a:lvl1pPr marL="0" indent="0" algn="l" defTabSz="914400" rtl="0" eaLnBrk="1" latinLnBrk="0" hangingPunct="1">
        <a:lnSpc>
          <a:spcPct val="90000"/>
        </a:lnSpc>
        <a:spcBef>
          <a:spcPts val="1000"/>
        </a:spcBef>
        <a:buFont typeface="Arial" panose="020B0704020202020204" pitchFamily="34" charset="0"/>
        <a:buNone/>
        <a:defRPr sz="2000" kern="1200">
          <a:solidFill>
            <a:srgbClr val="0E1120"/>
          </a:solidFill>
          <a:latin typeface="Arial" panose="020B0704020202020204" pitchFamily="34" charset="0"/>
          <a:ea typeface="+mn-ea"/>
          <a:cs typeface="+mn-cs"/>
        </a:defRPr>
      </a:lvl1pPr>
      <a:lvl2pPr marL="457200" indent="0" algn="l"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2pPr>
      <a:lvl3pPr marL="914400" indent="0" algn="l"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3pPr>
      <a:lvl4pPr marL="1371600" indent="0" algn="l" defTabSz="914400" rtl="0" eaLnBrk="1" latinLnBrk="0" hangingPunct="1">
        <a:lnSpc>
          <a:spcPct val="90000"/>
        </a:lnSpc>
        <a:spcBef>
          <a:spcPts val="500"/>
        </a:spcBef>
        <a:buFont typeface="Arial" panose="020B0704020202020204" pitchFamily="34" charset="0"/>
        <a:buNone/>
        <a:defRPr sz="1400" kern="1200">
          <a:solidFill>
            <a:srgbClr val="0E1120"/>
          </a:solidFill>
          <a:latin typeface="Arial" panose="020B0704020202020204" pitchFamily="34" charset="0"/>
          <a:ea typeface="+mn-ea"/>
          <a:cs typeface="+mn-cs"/>
        </a:defRPr>
      </a:lvl4pPr>
      <a:lvl5pPr marL="1828800" indent="0" algn="l" defTabSz="914400" rtl="0" eaLnBrk="1" latinLnBrk="0" hangingPunct="1">
        <a:lnSpc>
          <a:spcPct val="90000"/>
        </a:lnSpc>
        <a:spcBef>
          <a:spcPts val="500"/>
        </a:spcBef>
        <a:buFont typeface="Arial" panose="020B0704020202020204" pitchFamily="34" charset="0"/>
        <a:buNone/>
        <a:defRPr sz="1400" kern="1200">
          <a:solidFill>
            <a:srgbClr val="0E1120"/>
          </a:solidFill>
          <a:latin typeface="Arial" panose="020B0704020202020204" pitchFamily="34" charset="0"/>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6700" y="228600"/>
            <a:ext cx="11658600" cy="571500"/>
          </a:xfrm>
          <a:prstGeom prst="rect">
            <a:avLst/>
          </a:prstGeom>
        </p:spPr>
        <p:txBody>
          <a:bodyPr vert="horz" lIns="91440" tIns="45720" rIns="91440" bIns="45720" rtlCol="0" anchor="ctr">
            <a:normAutofit/>
          </a:bodyPr>
          <a:lstStyle/>
          <a:p>
            <a:r>
              <a:rPr lang="en-US" dirty="0"/>
              <a:t>Insert Text Here</a:t>
            </a:r>
            <a:endParaRPr lang="en-US" dirty="0"/>
          </a:p>
        </p:txBody>
      </p:sp>
      <p:sp>
        <p:nvSpPr>
          <p:cNvPr id="3" name="Text Placeholder 2"/>
          <p:cNvSpPr>
            <a:spLocks noGrp="1"/>
          </p:cNvSpPr>
          <p:nvPr>
            <p:ph type="body" idx="1"/>
          </p:nvPr>
        </p:nvSpPr>
        <p:spPr>
          <a:xfrm>
            <a:off x="266700" y="892098"/>
            <a:ext cx="11658600" cy="5343677"/>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75000"/>
                  </a:schemeClr>
                </a:solidFill>
                <a:latin typeface="Arial" panose="020B0704020202020204" pitchFamily="34" charset="0"/>
              </a:defRPr>
            </a:lvl1pPr>
          </a:lstStyle>
          <a:p>
            <a:endParaRPr lang="en-US" dirty="0"/>
          </a:p>
        </p:txBody>
      </p:sp>
      <p:sp>
        <p:nvSpPr>
          <p:cNvPr id="6" name="Slide Number Placeholder 5"/>
          <p:cNvSpPr>
            <a:spLocks noGrp="1"/>
          </p:cNvSpPr>
          <p:nvPr>
            <p:ph type="sldNum" sz="quarter" idx="4"/>
          </p:nvPr>
        </p:nvSpPr>
        <p:spPr>
          <a:xfrm>
            <a:off x="8839200" y="6356350"/>
            <a:ext cx="2743200" cy="365125"/>
          </a:xfrm>
          <a:prstGeom prst="rect">
            <a:avLst/>
          </a:prstGeom>
        </p:spPr>
        <p:txBody>
          <a:bodyPr vert="horz" lIns="91440" tIns="45720" rIns="91440" bIns="45720" rtlCol="0" anchor="ctr"/>
          <a:lstStyle>
            <a:lvl1pPr algn="r">
              <a:defRPr sz="1100">
                <a:solidFill>
                  <a:schemeClr val="tx1">
                    <a:tint val="75000"/>
                  </a:schemeClr>
                </a:solidFill>
                <a:latin typeface="Arial" panose="020B0704020202020204" pitchFamily="34" charset="0"/>
              </a:defRPr>
            </a:lvl1pPr>
          </a:lstStyle>
          <a:p>
            <a:fld id="{743B1F26-96D9-40A6-83AD-00943405493D}"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hf hdr="0" ftr="0" dt="0"/>
  <p:txStyles>
    <p:titleStyle>
      <a:lvl1pPr algn="l" defTabSz="914400" rtl="0" eaLnBrk="1" latinLnBrk="0" hangingPunct="1">
        <a:lnSpc>
          <a:spcPct val="90000"/>
        </a:lnSpc>
        <a:spcBef>
          <a:spcPct val="0"/>
        </a:spcBef>
        <a:buNone/>
        <a:defRPr sz="2800" b="1" kern="1200">
          <a:solidFill>
            <a:srgbClr val="0E1120"/>
          </a:solidFill>
          <a:latin typeface="Arial" panose="020B0704020202020204" pitchFamily="34" charset="0"/>
          <a:ea typeface="+mj-ea"/>
          <a:cs typeface="Arial" panose="020B0704020202020204" pitchFamily="34" charset="0"/>
        </a:defRPr>
      </a:lvl1pPr>
    </p:titleStyle>
    <p:bodyStyle>
      <a:lvl1pPr marL="0" indent="0" algn="l" defTabSz="914400" rtl="0" eaLnBrk="1" latinLnBrk="0" hangingPunct="1">
        <a:lnSpc>
          <a:spcPct val="90000"/>
        </a:lnSpc>
        <a:spcBef>
          <a:spcPts val="1000"/>
        </a:spcBef>
        <a:buFont typeface="Arial" panose="020B0704020202020204" pitchFamily="34" charset="0"/>
        <a:buNone/>
        <a:defRPr sz="2000" kern="1200">
          <a:solidFill>
            <a:srgbClr val="0E1120"/>
          </a:solidFill>
          <a:latin typeface="Arial" panose="020B0704020202020204" pitchFamily="34" charset="0"/>
          <a:ea typeface="+mn-ea"/>
          <a:cs typeface="+mn-cs"/>
        </a:defRPr>
      </a:lvl1pPr>
      <a:lvl2pPr marL="457200" indent="0" algn="l"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2pPr>
      <a:lvl3pPr marL="914400" indent="0" algn="l"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3pPr>
      <a:lvl4pPr marL="1371600" indent="0" algn="l" defTabSz="914400" rtl="0" eaLnBrk="1" latinLnBrk="0" hangingPunct="1">
        <a:lnSpc>
          <a:spcPct val="90000"/>
        </a:lnSpc>
        <a:spcBef>
          <a:spcPts val="500"/>
        </a:spcBef>
        <a:buFont typeface="Arial" panose="020B0704020202020204" pitchFamily="34" charset="0"/>
        <a:buNone/>
        <a:defRPr sz="1400" kern="1200">
          <a:solidFill>
            <a:srgbClr val="0E1120"/>
          </a:solidFill>
          <a:latin typeface="Arial" panose="020B0704020202020204" pitchFamily="34" charset="0"/>
          <a:ea typeface="+mn-ea"/>
          <a:cs typeface="+mn-cs"/>
        </a:defRPr>
      </a:lvl4pPr>
      <a:lvl5pPr marL="1828800" indent="0" algn="l" defTabSz="914400" rtl="0" eaLnBrk="1" latinLnBrk="0" hangingPunct="1">
        <a:lnSpc>
          <a:spcPct val="90000"/>
        </a:lnSpc>
        <a:spcBef>
          <a:spcPts val="500"/>
        </a:spcBef>
        <a:buFont typeface="Arial" panose="020B0704020202020204" pitchFamily="34" charset="0"/>
        <a:buNone/>
        <a:defRPr sz="1400" kern="1200">
          <a:solidFill>
            <a:srgbClr val="0E1120"/>
          </a:solidFill>
          <a:latin typeface="Arial" panose="020B0704020202020204" pitchFamily="34" charset="0"/>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0.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microsoft.com/office/2007/relationships/hdphoto" Target="../media/image11.wdp"/><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5.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6.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7.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8.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1.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2.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3.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4.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6.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7.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8.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9.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0.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1.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2.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3.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4.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5.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6.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7.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8.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9.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0.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1.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2.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3.png"/></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4.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5.pn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6.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7.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8.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9.png"/></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0.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1.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2.png"/></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3.png"/></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4.pn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5.png"/></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6.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7.pn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8.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9.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0.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1.png"/></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2.png"/></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3.png"/></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4.png"/></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5.png"/></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6.png"/></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7.png"/></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8.png"/></Relationships>
</file>

<file path=ppt/slides/_rels/slide1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9.png"/></Relationships>
</file>

<file path=ppt/slides/_rels/slide1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0.png"/></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1.png"/></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2.png"/></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3.png"/></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4.png"/></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5.png"/></Relationships>
</file>

<file path=ppt/slides/_rels/slide1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6.png"/></Relationships>
</file>

<file path=ppt/slides/_rels/slide1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7.png"/></Relationships>
</file>

<file path=ppt/slides/_rels/slide1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8.png"/></Relationships>
</file>

<file path=ppt/slides/_rels/slide1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9.png"/></Relationships>
</file>

<file path=ppt/slides/_rels/slide1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0.png"/></Relationships>
</file>

<file path=ppt/slides/_rels/slide1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1.png"/></Relationships>
</file>

<file path=ppt/slides/_rels/slide1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1.wdp"/><Relationship Id="rId1" Type="http://schemas.openxmlformats.org/officeDocument/2006/relationships/image" Target="../media/image1.png"/></Relationships>
</file>

<file path=ppt/slides/_rels/slide1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2.png"/></Relationships>
</file>

<file path=ppt/slides/_rels/slide1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3.png"/></Relationships>
</file>

<file path=ppt/slides/_rels/slide1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4.png"/></Relationships>
</file>

<file path=ppt/slides/_rels/slide1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5.png"/></Relationships>
</file>

<file path=ppt/slides/_rels/slide1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6.png"/></Relationships>
</file>

<file path=ppt/slides/_rels/slide1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7.png"/></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53.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18.xml"/><Relationship Id="rId5" Type="http://schemas.openxmlformats.org/officeDocument/2006/relationships/hyperlink" Target="https://quantwatertech.netlify.app/blog" TargetMode="External"/><Relationship Id="rId4" Type="http://schemas.openxmlformats.org/officeDocument/2006/relationships/hyperlink" Target="https://quantwatertech.netlify.app/research" TargetMode="External"/><Relationship Id="rId3" Type="http://schemas.openxmlformats.org/officeDocument/2006/relationships/hyperlink" Target="https://github.com/pawan-pro/quantwater-tech-investments/blob/main/QuantPulse" TargetMode="External"/><Relationship Id="rId2" Type="http://schemas.openxmlformats.org/officeDocument/2006/relationships/hyperlink" Target="https://www.investing.com/brokers/firms-prop-trading/" TargetMode="External"/><Relationship Id="rId1" Type="http://schemas.openxmlformats.org/officeDocument/2006/relationships/hyperlink" Target="https://portal.my-equiti.com/sc/register/?clickid=1154892&amp;affid=C02232911" TargetMode="External"/></Relationships>
</file>

<file path=ppt/slides/_rels/slide15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microsoft.com/office/2007/relationships/hdphoto" Target="../media/image118.wdp"/><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6274435" y="3502025"/>
            <a:ext cx="5625465" cy="2200275"/>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3300" b="0" dirty="0">
                <a:solidFill>
                  <a:schemeClr val="bg1">
                    <a:lumMod val="65000"/>
                  </a:schemeClr>
                </a:solidFill>
                <a:latin typeface="Century Gothic" panose="020B0702020202020204" pitchFamily="34" charset="0"/>
                <a:cs typeface="Century Gothic" panose="020B0702020202020204" pitchFamily="34" charset="0"/>
                <a:sym typeface="+mn-ea"/>
              </a:rPr>
              <a:t>3</a:t>
            </a:r>
            <a:r>
              <a:rPr lang="en-US" sz="3300" b="0" baseline="30000" dirty="0">
                <a:solidFill>
                  <a:schemeClr val="bg1">
                    <a:lumMod val="65000"/>
                  </a:schemeClr>
                </a:solidFill>
                <a:latin typeface="Century Gothic" panose="020B0702020202020204" pitchFamily="34" charset="0"/>
                <a:cs typeface="Century Gothic" panose="020B0702020202020204" pitchFamily="34" charset="0"/>
                <a:sym typeface="+mn-ea"/>
              </a:rPr>
              <a:t>rd</a:t>
            </a:r>
            <a:r>
              <a:rPr lang="en-US" sz="3300" b="0" dirty="0">
                <a:solidFill>
                  <a:schemeClr val="bg1">
                    <a:lumMod val="65000"/>
                  </a:schemeClr>
                </a:solidFill>
                <a:latin typeface="Century Gothic" panose="020B0702020202020204" pitchFamily="34" charset="0"/>
                <a:cs typeface="Century Gothic" panose="020B0702020202020204" pitchFamily="34" charset="0"/>
                <a:sym typeface="+mn-ea"/>
              </a:rPr>
              <a:t> November 2025</a:t>
            </a:r>
            <a:endParaRPr lang="en-US" sz="3300" b="0" dirty="0">
              <a:solidFill>
                <a:schemeClr val="bg1">
                  <a:lumMod val="65000"/>
                </a:schemeClr>
              </a:solidFill>
              <a:latin typeface="Century Gothic" panose="020B0702020202020204" pitchFamily="34" charset="0"/>
              <a:cs typeface="Century Gothic" panose="020B0702020202020204" pitchFamily="34" charset="0"/>
            </a:endParaRPr>
          </a:p>
          <a:p>
            <a:endParaRPr lang="en-US" sz="3300" b="0" dirty="0">
              <a:solidFill>
                <a:schemeClr val="bg1">
                  <a:lumMod val="65000"/>
                </a:schemeClr>
              </a:solidFill>
              <a:latin typeface="Century Gothic" panose="020B0702020202020204" pitchFamily="34" charset="0"/>
              <a:cs typeface="Century Gothic" panose="020B0702020202020204" pitchFamily="34" charset="0"/>
            </a:endParaRPr>
          </a:p>
          <a:p>
            <a:r>
              <a:rPr lang="en-US" sz="3300" b="0" dirty="0">
                <a:solidFill>
                  <a:schemeClr val="bg1">
                    <a:lumMod val="65000"/>
                  </a:schemeClr>
                </a:solidFill>
                <a:latin typeface="Century Gothic" panose="020B0702020202020204" pitchFamily="34" charset="0"/>
                <a:cs typeface="Century Gothic" panose="020B0702020202020204" pitchFamily="34" charset="0"/>
                <a:sym typeface="+mn-ea"/>
              </a:rPr>
              <a:t>Economic Data Releases &amp; Their Historical Impact on Assets</a:t>
            </a:r>
            <a:endParaRPr lang="en-US" sz="3300" b="0" dirty="0">
              <a:solidFill>
                <a:schemeClr val="bg1">
                  <a:lumMod val="65000"/>
                </a:schemeClr>
              </a:solidFill>
              <a:latin typeface="Century Gothic" panose="020B0702020202020204" pitchFamily="34" charset="0"/>
              <a:cs typeface="Century Gothic" panose="020B0702020202020204" pitchFamily="34" charset="0"/>
            </a:endParaRPr>
          </a:p>
        </p:txBody>
      </p:sp>
      <p:sp>
        <p:nvSpPr>
          <p:cNvPr id="18" name="Rectangle 17"/>
          <p:cNvSpPr/>
          <p:nvPr/>
        </p:nvSpPr>
        <p:spPr>
          <a:xfrm>
            <a:off x="1606230" y="5820770"/>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rgbClr val="002060"/>
                </a:solidFill>
                <a:latin typeface="Century Gothic" panose="020B0702020202020204" pitchFamily="34" charset="0"/>
                <a:cs typeface="Century Gothic" panose="020B0702020202020204" pitchFamily="34" charset="0"/>
              </a:rPr>
              <a:t>Overview</a:t>
            </a:r>
            <a:endParaRPr 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cxnSp>
        <p:nvCxnSpPr>
          <p:cNvPr id="2" name="Straight Connector 1"/>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graphicFrame>
        <p:nvGraphicFramePr>
          <p:cNvPr id="15" name="Table 14"/>
          <p:cNvGraphicFramePr>
            <a:graphicFrameLocks noGrp="1"/>
          </p:cNvGraphicFramePr>
          <p:nvPr/>
        </p:nvGraphicFramePr>
        <p:xfrm>
          <a:off x="450215" y="889635"/>
          <a:ext cx="11475085" cy="5419090"/>
        </p:xfrm>
        <a:graphic>
          <a:graphicData uri="http://schemas.openxmlformats.org/drawingml/2006/table">
            <a:tbl>
              <a:tblPr/>
              <a:tblGrid>
                <a:gridCol w="1275080"/>
                <a:gridCol w="1275080"/>
                <a:gridCol w="1275080"/>
                <a:gridCol w="1275080"/>
                <a:gridCol w="1274445"/>
                <a:gridCol w="5100320"/>
              </a:tblGrid>
              <a:tr h="318770">
                <a:tc>
                  <a:txBody>
                    <a:bodyPr/>
                    <a:p>
                      <a:pPr algn="ctr" fontAlgn="ctr"/>
                      <a:r>
                        <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rPr>
                        <a:t>Date</a:t>
                      </a:r>
                      <a:endPar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p>
                      <a:pPr algn="ctr" fontAlgn="ctr"/>
                      <a:r>
                        <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rPr>
                        <a:t>Day</a:t>
                      </a:r>
                      <a:endPar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p>
                      <a:pPr algn="ctr" fontAlgn="ctr"/>
                      <a:r>
                        <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rPr>
                        <a:t>Time (IST)</a:t>
                      </a:r>
                      <a:endPar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p>
                      <a:pPr algn="ctr" fontAlgn="ctr"/>
                      <a:r>
                        <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rPr>
                        <a:t>Cur.</a:t>
                      </a:r>
                      <a:endPar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p>
                      <a:pPr algn="ctr" fontAlgn="ctr"/>
                      <a:r>
                        <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rPr>
                        <a:t>Imp.</a:t>
                      </a:r>
                      <a:endPar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p>
                      <a:pPr algn="ctr" fontAlgn="ctr"/>
                      <a:r>
                        <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rPr>
                        <a:t>Event</a:t>
                      </a:r>
                      <a:endParaRPr lang="en-US" sz="1000" b="1" i="0" u="none" strike="noStrike"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r>
              <a:tr h="318770">
                <a:tc>
                  <a:txBody>
                    <a:bodyPr/>
                    <a:p>
                      <a:pPr algn="ctr" fontAlgn="ctr"/>
                      <a:r>
                        <a:rPr sz="1000" b="0" i="0">
                          <a:solidFill>
                            <a:schemeClr val="tx1">
                              <a:lumMod val="65000"/>
                              <a:lumOff val="35000"/>
                            </a:schemeClr>
                          </a:solidFill>
                          <a:latin typeface="Century Gothic" panose="020B0702020202020204"/>
                          <a:ea typeface="Century Gothic" panose="020B0702020202020204"/>
                        </a:rPr>
                        <a:t>03-Nov-25</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 Mon </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All Day</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Holiday</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Japan - Culture Day</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318770">
                <a:tc>
                  <a:txBody>
                    <a:bodyPr/>
                    <a:p>
                      <a:pPr algn="ctr" fontAlgn="ctr"/>
                      <a:r>
                        <a:rPr sz="1000" b="0" i="0">
                          <a:solidFill>
                            <a:schemeClr val="tx1">
                              <a:lumMod val="65000"/>
                              <a:lumOff val="35000"/>
                            </a:schemeClr>
                          </a:solidFill>
                          <a:latin typeface="Century Gothic" panose="020B0702020202020204"/>
                          <a:ea typeface="Century Gothic" panose="020B0702020202020204"/>
                        </a:rPr>
                        <a:t>03-Nov-25</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 Mon </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All Day</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Holiday</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Russia - Holiday</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318770">
                <a:tc>
                  <a:txBody>
                    <a:bodyPr/>
                    <a:p>
                      <a:pPr algn="ctr" fontAlgn="ctr"/>
                      <a:r>
                        <a:rPr sz="1000" b="0" i="0">
                          <a:solidFill>
                            <a:schemeClr val="tx1">
                              <a:lumMod val="65000"/>
                              <a:lumOff val="35000"/>
                            </a:schemeClr>
                          </a:solidFill>
                          <a:latin typeface="Century Gothic" panose="020B0702020202020204"/>
                          <a:ea typeface="Century Gothic" panose="020B0702020202020204"/>
                        </a:rPr>
                        <a:t>03-Nov-25</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 Mon </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20:15</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USD</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3</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S&amp;P Global Manufacturing PMI (Oct)</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318770">
                <a:tc>
                  <a:txBody>
                    <a:bodyPr/>
                    <a:p>
                      <a:pPr algn="ctr" fontAlgn="ctr"/>
                      <a:r>
                        <a:rPr sz="1000" b="0" i="0">
                          <a:solidFill>
                            <a:schemeClr val="tx1">
                              <a:lumMod val="65000"/>
                              <a:lumOff val="35000"/>
                            </a:schemeClr>
                          </a:solidFill>
                          <a:latin typeface="Century Gothic" panose="020B0702020202020204"/>
                          <a:ea typeface="Century Gothic" panose="020B0702020202020204"/>
                        </a:rPr>
                        <a:t>03-Nov-25</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 Mon </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20:30</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USD</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3</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ISM Manufacturing PMI (Oct)</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318770">
                <a:tc>
                  <a:txBody>
                    <a:bodyPr/>
                    <a:p>
                      <a:pPr algn="ctr" fontAlgn="ctr"/>
                      <a:r>
                        <a:rPr sz="1000" b="0" i="0">
                          <a:solidFill>
                            <a:schemeClr val="tx1">
                              <a:lumMod val="65000"/>
                              <a:lumOff val="35000"/>
                            </a:schemeClr>
                          </a:solidFill>
                          <a:latin typeface="Century Gothic" panose="020B0702020202020204"/>
                          <a:ea typeface="Century Gothic" panose="020B0702020202020204"/>
                        </a:rPr>
                        <a:t>03-Nov-25</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 Mon </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20:30</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USD</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3</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ISM Manufacturing Prices (Oct)</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318770">
                <a:tc>
                  <a:txBody>
                    <a:bodyPr/>
                    <a:p>
                      <a:pPr algn="ctr" fontAlgn="ctr"/>
                      <a:r>
                        <a:rPr sz="1000" b="0" i="0">
                          <a:solidFill>
                            <a:schemeClr val="tx1">
                              <a:lumMod val="65000"/>
                              <a:lumOff val="35000"/>
                            </a:schemeClr>
                          </a:solidFill>
                          <a:latin typeface="Century Gothic" panose="020B0702020202020204"/>
                          <a:ea typeface="Century Gothic" panose="020B0702020202020204"/>
                        </a:rPr>
                        <a:t>04-Nov-25</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 Tue </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All Day</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Holiday</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Russia - Unity Day</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318770">
                <a:tc>
                  <a:txBody>
                    <a:bodyPr/>
                    <a:p>
                      <a:pPr algn="ctr" fontAlgn="ctr"/>
                      <a:r>
                        <a:rPr sz="1000" b="0" i="0">
                          <a:solidFill>
                            <a:schemeClr val="tx1">
                              <a:lumMod val="65000"/>
                              <a:lumOff val="35000"/>
                            </a:schemeClr>
                          </a:solidFill>
                          <a:latin typeface="Century Gothic" panose="020B0702020202020204"/>
                          <a:ea typeface="Century Gothic" panose="020B0702020202020204"/>
                        </a:rPr>
                        <a:t>04-Nov-25</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 Tue </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09:00</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AUD</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3</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RBA Interest Rate Decision (Nov)</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318770">
                <a:tc>
                  <a:txBody>
                    <a:bodyPr/>
                    <a:p>
                      <a:pPr algn="ctr" fontAlgn="ctr"/>
                      <a:r>
                        <a:rPr sz="1000" b="0" i="0">
                          <a:solidFill>
                            <a:schemeClr val="tx1">
                              <a:lumMod val="65000"/>
                              <a:lumOff val="35000"/>
                            </a:schemeClr>
                          </a:solidFill>
                          <a:latin typeface="Century Gothic" panose="020B0702020202020204"/>
                          <a:ea typeface="Century Gothic" panose="020B0702020202020204"/>
                        </a:rPr>
                        <a:t>04-Nov-25</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 Tue </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20:30</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USD</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3</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JOLTS Job Openings (Sep)</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318770">
                <a:tc>
                  <a:txBody>
                    <a:bodyPr/>
                    <a:p>
                      <a:pPr algn="ctr" fontAlgn="ctr"/>
                      <a:r>
                        <a:rPr sz="1000" b="0" i="0">
                          <a:solidFill>
                            <a:schemeClr val="tx1">
                              <a:lumMod val="65000"/>
                              <a:lumOff val="35000"/>
                            </a:schemeClr>
                          </a:solidFill>
                          <a:latin typeface="Century Gothic" panose="020B0702020202020204"/>
                          <a:ea typeface="Century Gothic" panose="020B0702020202020204"/>
                        </a:rPr>
                        <a:t>05-Nov-25</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 Wed </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All Day</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Holiday</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India - Guru Nanak Jayanti</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318770">
                <a:tc>
                  <a:txBody>
                    <a:bodyPr/>
                    <a:p>
                      <a:pPr algn="ctr" fontAlgn="ctr"/>
                      <a:r>
                        <a:rPr sz="1000" b="0" i="0">
                          <a:solidFill>
                            <a:schemeClr val="tx1">
                              <a:lumMod val="65000"/>
                              <a:lumOff val="35000"/>
                            </a:schemeClr>
                          </a:solidFill>
                          <a:latin typeface="Century Gothic" panose="020B0702020202020204"/>
                          <a:ea typeface="Century Gothic" panose="020B0702020202020204"/>
                        </a:rPr>
                        <a:t>05-Nov-25</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 Wed </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18:45</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USD</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3</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ADP Nonfarm Employment Change (Oct)</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318770">
                <a:tc>
                  <a:txBody>
                    <a:bodyPr/>
                    <a:p>
                      <a:pPr algn="ctr" fontAlgn="ctr"/>
                      <a:r>
                        <a:rPr sz="1000" b="0" i="0">
                          <a:solidFill>
                            <a:schemeClr val="tx1">
                              <a:lumMod val="65000"/>
                              <a:lumOff val="35000"/>
                            </a:schemeClr>
                          </a:solidFill>
                          <a:latin typeface="Century Gothic" panose="020B0702020202020204"/>
                          <a:ea typeface="Century Gothic" panose="020B0702020202020204"/>
                        </a:rPr>
                        <a:t>05-Nov-25</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 Wed </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19:30</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USD</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3</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ISM Non-Manufacturing PMI (Oct)</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318770">
                <a:tc>
                  <a:txBody>
                    <a:bodyPr/>
                    <a:p>
                      <a:pPr algn="ctr" fontAlgn="ctr"/>
                      <a:r>
                        <a:rPr sz="1000" b="0" i="0">
                          <a:solidFill>
                            <a:schemeClr val="tx1">
                              <a:lumMod val="65000"/>
                              <a:lumOff val="35000"/>
                            </a:schemeClr>
                          </a:solidFill>
                          <a:latin typeface="Century Gothic" panose="020B0702020202020204"/>
                          <a:ea typeface="Century Gothic" panose="020B0702020202020204"/>
                        </a:rPr>
                        <a:t>05-Nov-25</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 Wed </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19:30</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USD</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3</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ISM Non-Manufacturing Prices (Oct)</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318770">
                <a:tc>
                  <a:txBody>
                    <a:bodyPr/>
                    <a:p>
                      <a:pPr algn="ctr" fontAlgn="ctr"/>
                      <a:r>
                        <a:rPr sz="1000" b="0" i="0">
                          <a:solidFill>
                            <a:schemeClr val="tx1">
                              <a:lumMod val="65000"/>
                              <a:lumOff val="35000"/>
                            </a:schemeClr>
                          </a:solidFill>
                          <a:latin typeface="Century Gothic" panose="020B0702020202020204"/>
                          <a:ea typeface="Century Gothic" panose="020B0702020202020204"/>
                        </a:rPr>
                        <a:t>05-Nov-25</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 Wed </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20:15</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USD</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3</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S&amp;P Global Services PMI (Oct)</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318770">
                <a:tc>
                  <a:txBody>
                    <a:bodyPr/>
                    <a:p>
                      <a:pPr algn="ctr" fontAlgn="ctr"/>
                      <a:r>
                        <a:rPr sz="1000" b="0" i="0">
                          <a:solidFill>
                            <a:schemeClr val="tx1">
                              <a:lumMod val="65000"/>
                              <a:lumOff val="35000"/>
                            </a:schemeClr>
                          </a:solidFill>
                          <a:latin typeface="Century Gothic" panose="020B0702020202020204"/>
                          <a:ea typeface="Century Gothic" panose="020B0702020202020204"/>
                        </a:rPr>
                        <a:t>05-Nov-25</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 Wed </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21:00</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USD</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3</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Crude Oil Inventories</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318770">
                <a:tc>
                  <a:txBody>
                    <a:bodyPr/>
                    <a:p>
                      <a:pPr algn="ctr" fontAlgn="ctr"/>
                      <a:r>
                        <a:rPr sz="1000" b="0" i="0">
                          <a:solidFill>
                            <a:schemeClr val="tx1">
                              <a:lumMod val="65000"/>
                              <a:lumOff val="35000"/>
                            </a:schemeClr>
                          </a:solidFill>
                          <a:latin typeface="Century Gothic" panose="020B0702020202020204"/>
                          <a:ea typeface="Century Gothic" panose="020B0702020202020204"/>
                        </a:rPr>
                        <a:t>06-Nov-25</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 Thu </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17:30</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GBP</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3</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p>
                      <a:pPr algn="ctr" fontAlgn="ctr"/>
                      <a:r>
                        <a:rPr sz="1000" b="0" i="0">
                          <a:solidFill>
                            <a:schemeClr val="tx1">
                              <a:lumMod val="65000"/>
                              <a:lumOff val="35000"/>
                            </a:schemeClr>
                          </a:solidFill>
                          <a:latin typeface="Century Gothic" panose="020B0702020202020204"/>
                          <a:ea typeface="Century Gothic" panose="020B0702020202020204"/>
                        </a:rPr>
                        <a:t>BoE Interest Rate Decision (Nov)</a:t>
                      </a:r>
                      <a:endParaRPr sz="1000" b="0" i="0">
                        <a:solidFill>
                          <a:schemeClr val="tx1">
                            <a:lumMod val="65000"/>
                            <a:lumOff val="35000"/>
                          </a:schemeClr>
                        </a:solidFill>
                        <a:latin typeface="Century Gothic" panose="020B0702020202020204"/>
                        <a:ea typeface="Century Gothic" panose="020B0702020202020204"/>
                      </a:endParaRPr>
                    </a:p>
                  </a:txBody>
                  <a:tcPr marL="13017" marR="13017" marT="13017" marB="0"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318770">
                <a:tc gridSpan="6">
                  <a:txBody>
                    <a:bodyPr/>
                    <a:p>
                      <a:pPr algn="ctr" fontAlgn="ctr">
                        <a:buNone/>
                      </a:pPr>
                      <a:r>
                        <a:rPr lang="en-US" sz="1000" b="1" dirty="0">
                          <a:solidFill>
                            <a:srgbClr val="002060"/>
                          </a:solidFill>
                          <a:effectLst/>
                          <a:highlight>
                            <a:srgbClr val="000000">
                              <a:alpha val="0"/>
                            </a:srgbClr>
                          </a:highlight>
                          <a:latin typeface="Century Gothic" panose="020B0702020202020204" pitchFamily="34" charset="0"/>
                          <a:cs typeface="Century Gothic" panose="020B0702020202020204" pitchFamily="34" charset="0"/>
                          <a:sym typeface="+mn-ea"/>
                        </a:rPr>
                        <a:t>Annexure: Key Terms &amp; Links</a:t>
                      </a:r>
                      <a:endParaRPr lang="en-US" sz="1000" b="1" i="0" dirty="0">
                        <a:solidFill>
                          <a:srgbClr val="002060"/>
                        </a:solidFill>
                        <a:effectLst/>
                        <a:highlight>
                          <a:srgbClr val="000000">
                            <a:alpha val="0"/>
                          </a:srgbClr>
                        </a:highlight>
                        <a:latin typeface="Century Gothic" panose="020B0702020202020204" pitchFamily="34" charset="0"/>
                        <a:ea typeface="Century Gothic" panose="020B0702020202020204"/>
                        <a:cs typeface="Century Gothic" panose="020B0702020202020204" pitchFamily="34" charset="0"/>
                        <a:sym typeface="+mn-ea"/>
                      </a:endParaRPr>
                    </a:p>
                  </a:txBody>
                  <a:tcPr anchor="ctr" anchorCtr="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S&amp;P Global Manufacturing PMI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25450" y="6483350"/>
            <a:ext cx="3750310" cy="366395"/>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2400" b="1" dirty="0">
                <a:solidFill>
                  <a:srgbClr val="002060"/>
                </a:solidFill>
                <a:latin typeface="Century Gothic" panose="020B0702020202020204" pitchFamily="34" charset="0"/>
                <a:cs typeface="Century Gothic" panose="020B0702020202020204" pitchFamily="34" charset="0"/>
              </a:rPr>
              <a:t>S&amp;P Global Manufacturing PMI (Oct)</a:t>
            </a:r>
            <a:endParaRPr lang="en-US" alt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graphicFrame>
        <p:nvGraphicFramePr>
          <p:cNvPr id="15" name="Table 14"/>
          <p:cNvGraphicFramePr>
            <a:graphicFrameLocks noGrp="1"/>
          </p:cNvGraphicFramePr>
          <p:nvPr/>
        </p:nvGraphicFramePr>
        <p:xfrm>
          <a:off x="450215" y="889635"/>
          <a:ext cx="11475085" cy="5376545"/>
        </p:xfrm>
        <a:graphic>
          <a:graphicData uri="http://schemas.openxmlformats.org/drawingml/2006/table">
            <a:tbl>
              <a:tblPr/>
              <a:tblGrid>
                <a:gridCol w="1275080"/>
                <a:gridCol w="1275080"/>
                <a:gridCol w="1275080"/>
                <a:gridCol w="1275080"/>
                <a:gridCol w="6374765"/>
              </a:tblGrid>
              <a:tr h="445770">
                <a:tc>
                  <a:txBody>
                    <a:bodyPr/>
                    <a:p>
                      <a:pPr algn="l" fontAlgn="ctr"/>
                      <a:r>
                        <a:rPr sz="1200" b="1" i="0">
                          <a:solidFill>
                            <a:schemeClr val="bg1">
                              <a:lumMod val="50000"/>
                            </a:schemeClr>
                          </a:solidFill>
                          <a:latin typeface="Century Gothic" panose="020B0702020202020204"/>
                          <a:ea typeface="Century Gothic" panose="020B0702020202020204"/>
                        </a:rPr>
                        <a:t>Event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gridSpan="3">
                  <a:txBody>
                    <a:bodyPr/>
                    <a:p>
                      <a:pPr algn="r" fontAlgn="ctr"/>
                      <a:r>
                        <a:rPr sz="1200" b="1" i="0">
                          <a:solidFill>
                            <a:schemeClr val="bg1">
                              <a:lumMod val="50000"/>
                            </a:schemeClr>
                          </a:solidFill>
                          <a:latin typeface="Century Gothic" panose="020B0702020202020204"/>
                          <a:ea typeface="Century Gothic" panose="020B0702020202020204"/>
                        </a:rPr>
                        <a:t>S&amp;P Global Manufacturing PMI (Oct)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hMerge="1">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hMerge="1">
                  <a:tcPr marL="0" marR="0" marT="0" marB="0" anchor="ctr">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a:txBody>
                    <a:bodyPr/>
                    <a:p>
                      <a:pPr algn="ctr" fontAlgn="ctr"/>
                      <a:r>
                        <a:rPr sz="1200" b="1" i="0">
                          <a:solidFill>
                            <a:schemeClr val="bg1">
                              <a:lumMod val="50000"/>
                            </a:schemeClr>
                          </a:solidFill>
                          <a:latin typeface="Century Gothic" panose="020B0702020202020204"/>
                          <a:ea typeface="Century Gothic" panose="020B0702020202020204"/>
                        </a:rPr>
                        <a:t>Description</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r>
              <a:tr h="473075">
                <a:tc>
                  <a:txBody>
                    <a:bodyPr/>
                    <a:p>
                      <a:pPr algn="l"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marL="13017" marR="13017" marT="13017" marB="0"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marL="13017" marR="13017" marT="13017" marB="0"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rowSpan="11">
                  <a:txBody>
                    <a:bodyPr/>
                    <a:p>
                      <a:pPr algn="ctr" fontAlgn="ctr"/>
                      <a:r>
                        <a:rPr sz="1200" b="0" i="0">
                          <a:solidFill>
                            <a:schemeClr val="bg1">
                              <a:lumMod val="50000"/>
                            </a:schemeClr>
                          </a:solidFill>
                          <a:latin typeface="Century Gothic" panose="020B0702020202020204"/>
                          <a:ea typeface="Century Gothic" panose="020B0702020202020204"/>
                        </a:rPr>
                        <a:t>Measures activity level of purchasing managers in manufacturing; above 50 = expansion,  below 50 = contraction. Stronger than forecast is bullish for USD,  weaker is bearish. </a:t>
                      </a:r>
                      <a:br>
                        <a:rPr sz="1200" b="0" i="0">
                          <a:solidFill>
                            <a:schemeClr val="bg1">
                              <a:lumMod val="50000"/>
                            </a:schemeClr>
                          </a:solidFill>
                          <a:latin typeface="Century Gothic" panose="020B0702020202020204"/>
                          <a:ea typeface="Century Gothic" panose="020B0702020202020204"/>
                        </a:rPr>
                      </a:br>
                      <a:br>
                        <a:rPr sz="1200" b="0" i="0">
                          <a:solidFill>
                            <a:schemeClr val="bg1">
                              <a:lumMod val="50000"/>
                            </a:schemeClr>
                          </a:solidFill>
                          <a:latin typeface="Century Gothic" panose="020B0702020202020204"/>
                          <a:ea typeface="Century Gothic" panose="020B0702020202020204"/>
                        </a:rPr>
                      </a:br>
                      <a:r>
                        <a:rPr sz="1200" b="0" i="0">
                          <a:solidFill>
                            <a:schemeClr val="bg1">
                              <a:lumMod val="50000"/>
                            </a:schemeClr>
                          </a:solidFill>
                          <a:latin typeface="Century Gothic" panose="020B0702020202020204"/>
                          <a:ea typeface="Century Gothic" panose="020B0702020202020204"/>
                        </a:rPr>
                        <a:t>Learn More: USDJPY | EURUSD</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marL="13017" marR="13017" marT="13017" marB="0"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marL="13017" marR="13017" marT="13017" marB="0"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marL="13017" marR="13017" marT="13017" marB="0"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 52.20 </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Time (GMT):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14:45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Release Date</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23-Sep-25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52.20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51.80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52.00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a:solidFill>
                        <a:schemeClr val="bg1">
                          <a:lumMod val="75000"/>
                        </a:schemeClr>
                      </a:solidFill>
                      <a:prstDash val="solid"/>
                    </a:lnB>
                    <a:noFill/>
                  </a:tcPr>
                </a:tc>
              </a:tr>
            </a:tbl>
          </a:graphicData>
        </a:graphic>
      </p:graphicFrame>
      <p:cxnSp>
        <p:nvCxnSpPr>
          <p:cNvPr id="3" name="Straight Connector 2"/>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S&amp;P Global Manufacturing PMI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rPr>
              <a:t>USDJPY</a:t>
            </a:r>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23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S&amp;P Global Manufacturing PMI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rPr>
              <a:t>EURUSD</a:t>
            </a:r>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23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ISM Manufacturing PMI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25450" y="6483350"/>
            <a:ext cx="3750310" cy="366395"/>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2400" b="1" dirty="0">
                <a:solidFill>
                  <a:srgbClr val="002060"/>
                </a:solidFill>
                <a:latin typeface="Century Gothic" panose="020B0702020202020204" pitchFamily="34" charset="0"/>
                <a:cs typeface="Century Gothic" panose="020B0702020202020204" pitchFamily="34" charset="0"/>
              </a:rPr>
              <a:t>ISM Manufacturing PMI (Oct)</a:t>
            </a:r>
            <a:endParaRPr lang="en-US" alt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graphicFrame>
        <p:nvGraphicFramePr>
          <p:cNvPr id="15" name="Table 14"/>
          <p:cNvGraphicFramePr>
            <a:graphicFrameLocks noGrp="1"/>
          </p:cNvGraphicFramePr>
          <p:nvPr/>
        </p:nvGraphicFramePr>
        <p:xfrm>
          <a:off x="450215" y="889635"/>
          <a:ext cx="11475085" cy="5376545"/>
        </p:xfrm>
        <a:graphic>
          <a:graphicData uri="http://schemas.openxmlformats.org/drawingml/2006/table">
            <a:tbl>
              <a:tblPr/>
              <a:tblGrid>
                <a:gridCol w="1275080"/>
                <a:gridCol w="1275080"/>
                <a:gridCol w="1275080"/>
                <a:gridCol w="1275080"/>
                <a:gridCol w="6374765"/>
              </a:tblGrid>
              <a:tr h="445770">
                <a:tc>
                  <a:txBody>
                    <a:bodyPr/>
                    <a:p>
                      <a:pPr algn="l" fontAlgn="ctr"/>
                      <a:r>
                        <a:rPr sz="1200" b="1" i="0">
                          <a:solidFill>
                            <a:schemeClr val="bg1">
                              <a:lumMod val="50000"/>
                            </a:schemeClr>
                          </a:solidFill>
                          <a:latin typeface="Century Gothic" panose="020B0702020202020204"/>
                          <a:ea typeface="Century Gothic" panose="020B0702020202020204"/>
                        </a:rPr>
                        <a:t>Event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gridSpan="3">
                  <a:txBody>
                    <a:bodyPr/>
                    <a:p>
                      <a:pPr algn="r" fontAlgn="ctr"/>
                      <a:r>
                        <a:rPr sz="1200" b="1" i="0">
                          <a:solidFill>
                            <a:schemeClr val="bg1">
                              <a:lumMod val="50000"/>
                            </a:schemeClr>
                          </a:solidFill>
                          <a:latin typeface="Century Gothic" panose="020B0702020202020204"/>
                          <a:ea typeface="Century Gothic" panose="020B0702020202020204"/>
                        </a:rPr>
                        <a:t>ISM Manufacturing PMI (Oct)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hMerge="1">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hMerge="1">
                  <a:tcPr anchor="ctr">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a:txBody>
                    <a:bodyPr/>
                    <a:p>
                      <a:pPr algn="ctr" fontAlgn="ctr"/>
                      <a:r>
                        <a:rPr sz="1200" b="1" i="0">
                          <a:solidFill>
                            <a:schemeClr val="bg1">
                              <a:lumMod val="50000"/>
                            </a:schemeClr>
                          </a:solidFill>
                          <a:latin typeface="Century Gothic" panose="020B0702020202020204"/>
                          <a:ea typeface="Century Gothic" panose="020B0702020202020204"/>
                        </a:rPr>
                        <a:t>Description</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r>
              <a:tr h="473075">
                <a:tc>
                  <a:txBody>
                    <a:bodyPr/>
                    <a:p>
                      <a:pPr algn="l"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rowSpan="11">
                  <a:txBody>
                    <a:bodyPr/>
                    <a:p>
                      <a:pPr algn="ctr" fontAlgn="ctr"/>
                      <a:r>
                        <a:rPr sz="1200" b="0" i="0">
                          <a:solidFill>
                            <a:schemeClr val="bg1">
                              <a:lumMod val="50000"/>
                            </a:schemeClr>
                          </a:solidFill>
                          <a:latin typeface="Century Gothic" panose="020B0702020202020204"/>
                          <a:ea typeface="Century Gothic" panose="020B0702020202020204"/>
                        </a:rPr>
                        <a:t>Composite index tracking manufacturing health (New Orders,  Production, Employment, Supplier Deliveries, Inventories). Above 50 = expansion. Bullish if stronger than forecast for USD. </a:t>
                      </a:r>
                      <a:br>
                        <a:rPr sz="1200" b="0" i="0">
                          <a:solidFill>
                            <a:schemeClr val="bg1">
                              <a:lumMod val="50000"/>
                            </a:schemeClr>
                          </a:solidFill>
                          <a:latin typeface="Century Gothic" panose="020B0702020202020204"/>
                          <a:ea typeface="Century Gothic" panose="020B0702020202020204"/>
                        </a:rPr>
                      </a:br>
                      <a:br>
                        <a:rPr sz="1200" b="0" i="0">
                          <a:solidFill>
                            <a:schemeClr val="bg1">
                              <a:lumMod val="50000"/>
                            </a:schemeClr>
                          </a:solidFill>
                          <a:latin typeface="Century Gothic" panose="020B0702020202020204"/>
                          <a:ea typeface="Century Gothic" panose="020B0702020202020204"/>
                        </a:rPr>
                      </a:br>
                      <a:r>
                        <a:rPr sz="1200" b="0" i="0">
                          <a:solidFill>
                            <a:schemeClr val="bg1">
                              <a:lumMod val="50000"/>
                            </a:schemeClr>
                          </a:solidFill>
                          <a:latin typeface="Century Gothic" panose="020B0702020202020204"/>
                          <a:ea typeface="Century Gothic" panose="020B0702020202020204"/>
                        </a:rPr>
                        <a:t>Learn More: USDJPY | EURUSD</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 49.10 </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Time (GMT):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15:00</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Release Date</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01-Oct-25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49.10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49.00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48.70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02-Sep-25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48.70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49.00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48.00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01-Aug-25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48.00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49.50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49.00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01-Jul-25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49.00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48.80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48.50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02-Jun-25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48.50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49.30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48.70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01-May-25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48.70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49.10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49.20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a:solidFill>
                        <a:schemeClr val="bg1">
                          <a:lumMod val="75000"/>
                        </a:schemeClr>
                      </a:solidFill>
                      <a:prstDash val="solid"/>
                    </a:lnB>
                    <a:noFill/>
                  </a:tcPr>
                </a:tc>
              </a:tr>
            </a:tbl>
          </a:graphicData>
        </a:graphic>
      </p:graphicFrame>
      <p:cxnSp>
        <p:nvCxnSpPr>
          <p:cNvPr id="3" name="Straight Connector 2"/>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ISM Manufacturing PMI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rPr>
              <a:t>USDJPY</a:t>
            </a:r>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01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02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01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01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02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1001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ISM Manufacturing PMI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sym typeface="+mn-ea"/>
              </a:rPr>
              <a:t>EURUSD</a:t>
            </a:r>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501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02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01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01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02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1001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ISM Manufacturing Prices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25450" y="6483350"/>
            <a:ext cx="3750310" cy="366395"/>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2400" b="1" dirty="0">
                <a:solidFill>
                  <a:srgbClr val="002060"/>
                </a:solidFill>
                <a:latin typeface="Century Gothic" panose="020B0702020202020204" pitchFamily="34" charset="0"/>
                <a:cs typeface="Century Gothic" panose="020B0702020202020204" pitchFamily="34" charset="0"/>
              </a:rPr>
              <a:t>ISM Manufacturing Prices (Oct)</a:t>
            </a:r>
            <a:endParaRPr lang="en-US" alt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graphicFrame>
        <p:nvGraphicFramePr>
          <p:cNvPr id="15" name="Table 14"/>
          <p:cNvGraphicFramePr>
            <a:graphicFrameLocks noGrp="1"/>
          </p:cNvGraphicFramePr>
          <p:nvPr/>
        </p:nvGraphicFramePr>
        <p:xfrm>
          <a:off x="450215" y="889635"/>
          <a:ext cx="11475085" cy="5376545"/>
        </p:xfrm>
        <a:graphic>
          <a:graphicData uri="http://schemas.openxmlformats.org/drawingml/2006/table">
            <a:tbl>
              <a:tblPr/>
              <a:tblGrid>
                <a:gridCol w="1275080"/>
                <a:gridCol w="1275080"/>
                <a:gridCol w="1275080"/>
                <a:gridCol w="1275080"/>
                <a:gridCol w="6374765"/>
              </a:tblGrid>
              <a:tr h="445770">
                <a:tc>
                  <a:txBody>
                    <a:bodyPr/>
                    <a:p>
                      <a:pPr algn="l" fontAlgn="ctr"/>
                      <a:r>
                        <a:rPr sz="1200" b="1" i="0">
                          <a:solidFill>
                            <a:schemeClr val="bg1">
                              <a:lumMod val="50000"/>
                            </a:schemeClr>
                          </a:solidFill>
                          <a:latin typeface="Century Gothic" panose="020B0702020202020204"/>
                          <a:ea typeface="Century Gothic" panose="020B0702020202020204"/>
                        </a:rPr>
                        <a:t>Event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gridSpan="3">
                  <a:txBody>
                    <a:bodyPr/>
                    <a:p>
                      <a:pPr algn="r" fontAlgn="ctr"/>
                      <a:r>
                        <a:rPr sz="1200" b="1" i="0">
                          <a:solidFill>
                            <a:schemeClr val="bg1">
                              <a:lumMod val="50000"/>
                            </a:schemeClr>
                          </a:solidFill>
                          <a:latin typeface="Century Gothic" panose="020B0702020202020204"/>
                          <a:ea typeface="Century Gothic" panose="020B0702020202020204"/>
                        </a:rPr>
                        <a:t>ISM Manufacturing Prices (Oct)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hMerge="1">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hMerge="1">
                  <a:tcPr anchor="ctr">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a:txBody>
                    <a:bodyPr/>
                    <a:p>
                      <a:pPr algn="ctr" fontAlgn="ctr"/>
                      <a:r>
                        <a:rPr sz="1200" b="1" i="0">
                          <a:solidFill>
                            <a:schemeClr val="bg1">
                              <a:lumMod val="50000"/>
                            </a:schemeClr>
                          </a:solidFill>
                          <a:latin typeface="Century Gothic" panose="020B0702020202020204"/>
                          <a:ea typeface="Century Gothic" panose="020B0702020202020204"/>
                        </a:rPr>
                        <a:t>Description</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r>
              <a:tr h="473075">
                <a:tc>
                  <a:txBody>
                    <a:bodyPr/>
                    <a:p>
                      <a:pPr algn="l"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rowSpan="11">
                  <a:txBody>
                    <a:bodyPr/>
                    <a:p>
                      <a:pPr algn="ctr" fontAlgn="ctr"/>
                      <a:r>
                        <a:rPr sz="1200" b="0" i="0">
                          <a:solidFill>
                            <a:schemeClr val="bg1">
                              <a:lumMod val="50000"/>
                            </a:schemeClr>
                          </a:solidFill>
                          <a:latin typeface="Century Gothic" panose="020B0702020202020204"/>
                          <a:ea typeface="Century Gothic" panose="020B0702020202020204"/>
                        </a:rPr>
                        <a:t>Measures input price pressures for manufacturers, monitors inflation risk. Higher than forecast is bullish for USD. </a:t>
                      </a:r>
                      <a:br>
                        <a:rPr sz="1200" b="0" i="0">
                          <a:solidFill>
                            <a:schemeClr val="bg1">
                              <a:lumMod val="50000"/>
                            </a:schemeClr>
                          </a:solidFill>
                          <a:latin typeface="Century Gothic" panose="020B0702020202020204"/>
                          <a:ea typeface="Century Gothic" panose="020B0702020202020204"/>
                        </a:rPr>
                      </a:br>
                      <a:br>
                        <a:rPr sz="1200" b="0" i="0">
                          <a:solidFill>
                            <a:schemeClr val="bg1">
                              <a:lumMod val="50000"/>
                            </a:schemeClr>
                          </a:solidFill>
                          <a:latin typeface="Century Gothic" panose="020B0702020202020204"/>
                          <a:ea typeface="Century Gothic" panose="020B0702020202020204"/>
                        </a:rPr>
                      </a:br>
                      <a:r>
                        <a:rPr sz="1200" b="0" i="0">
                          <a:solidFill>
                            <a:schemeClr val="bg1">
                              <a:lumMod val="50000"/>
                            </a:schemeClr>
                          </a:solidFill>
                          <a:latin typeface="Century Gothic" panose="020B0702020202020204"/>
                          <a:ea typeface="Century Gothic" panose="020B0702020202020204"/>
                        </a:rPr>
                        <a:t>Learn More: USDJPY | EURUSD</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 61.90 </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Time (GMT):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15:00</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Release Date</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01-Oct-25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61.90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62.70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63.70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02-Sep-25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63.70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65.10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64.80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01-Aug-25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64.80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69.90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69.70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01-Jul-25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69.70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69.60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69.40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02-Jun-25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69.40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70.20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69.80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01-May-25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69.80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68.90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69.70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a:solidFill>
                        <a:schemeClr val="bg1">
                          <a:lumMod val="75000"/>
                        </a:schemeClr>
                      </a:solidFill>
                      <a:prstDash val="solid"/>
                    </a:lnB>
                    <a:noFill/>
                  </a:tcPr>
                </a:tc>
              </a:tr>
            </a:tbl>
          </a:graphicData>
        </a:graphic>
      </p:graphicFrame>
      <p:cxnSp>
        <p:nvCxnSpPr>
          <p:cNvPr id="3" name="Straight Connector 2"/>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ISM Manufacturing Prices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rPr>
              <a:t>USDJPY</a:t>
            </a:r>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01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02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01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01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02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1001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ISM Manufacturing Prices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sym typeface="+mn-ea"/>
              </a:rPr>
              <a:t>EURUSD</a:t>
            </a:r>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501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02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01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01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02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1001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RBA Interest Rate Decision (Nov)</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25450" y="6483350"/>
            <a:ext cx="3750310" cy="366395"/>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2400" b="1" dirty="0">
                <a:solidFill>
                  <a:srgbClr val="002060"/>
                </a:solidFill>
                <a:latin typeface="Century Gothic" panose="020B0702020202020204" pitchFamily="34" charset="0"/>
                <a:cs typeface="Century Gothic" panose="020B0702020202020204" pitchFamily="34" charset="0"/>
              </a:rPr>
              <a:t>RBA Interest Rate Decision (Nov)</a:t>
            </a:r>
            <a:endParaRPr lang="en-US" alt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graphicFrame>
        <p:nvGraphicFramePr>
          <p:cNvPr id="15" name="Table 14"/>
          <p:cNvGraphicFramePr>
            <a:graphicFrameLocks noGrp="1"/>
          </p:cNvGraphicFramePr>
          <p:nvPr/>
        </p:nvGraphicFramePr>
        <p:xfrm>
          <a:off x="450215" y="889635"/>
          <a:ext cx="11475085" cy="5376545"/>
        </p:xfrm>
        <a:graphic>
          <a:graphicData uri="http://schemas.openxmlformats.org/drawingml/2006/table">
            <a:tbl>
              <a:tblPr/>
              <a:tblGrid>
                <a:gridCol w="1275080"/>
                <a:gridCol w="1275080"/>
                <a:gridCol w="1275080"/>
                <a:gridCol w="1275080"/>
                <a:gridCol w="6374765"/>
              </a:tblGrid>
              <a:tr h="445770">
                <a:tc>
                  <a:txBody>
                    <a:bodyPr/>
                    <a:p>
                      <a:pPr algn="l" fontAlgn="ctr"/>
                      <a:r>
                        <a:rPr sz="1200" b="1" i="0">
                          <a:solidFill>
                            <a:schemeClr val="bg1">
                              <a:lumMod val="50000"/>
                            </a:schemeClr>
                          </a:solidFill>
                          <a:latin typeface="Century Gothic" panose="020B0702020202020204"/>
                          <a:ea typeface="Century Gothic" panose="020B0702020202020204"/>
                        </a:rPr>
                        <a:t>Event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gridSpan="3">
                  <a:txBody>
                    <a:bodyPr/>
                    <a:p>
                      <a:pPr algn="r" fontAlgn="ctr"/>
                      <a:r>
                        <a:rPr sz="1200" b="1" i="0">
                          <a:solidFill>
                            <a:schemeClr val="bg1">
                              <a:lumMod val="50000"/>
                            </a:schemeClr>
                          </a:solidFill>
                          <a:latin typeface="Century Gothic" panose="020B0702020202020204"/>
                          <a:ea typeface="Century Gothic" panose="020B0702020202020204"/>
                        </a:rPr>
                        <a:t>RBA Interest Rate Decision (Nov)</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hMerge="1">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hMerge="1">
                  <a:tcPr anchor="ctr">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a:txBody>
                    <a:bodyPr/>
                    <a:p>
                      <a:pPr algn="ctr" fontAlgn="ctr"/>
                      <a:r>
                        <a:rPr sz="1200" b="1" i="0">
                          <a:solidFill>
                            <a:schemeClr val="bg1">
                              <a:lumMod val="50000"/>
                            </a:schemeClr>
                          </a:solidFill>
                          <a:latin typeface="Century Gothic" panose="020B0702020202020204"/>
                          <a:ea typeface="Century Gothic" panose="020B0702020202020204"/>
                        </a:rPr>
                        <a:t>Description</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r>
              <a:tr h="473075">
                <a:tc>
                  <a:txBody>
                    <a:bodyPr/>
                    <a:p>
                      <a:pPr algn="l"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rowSpan="11">
                  <a:txBody>
                    <a:bodyPr/>
                    <a:p>
                      <a:pPr algn="ctr" fontAlgn="ctr"/>
                      <a:r>
                        <a:rPr sz="1200" b="0" i="0">
                          <a:solidFill>
                            <a:schemeClr val="bg1">
                              <a:lumMod val="50000"/>
                            </a:schemeClr>
                          </a:solidFill>
                          <a:latin typeface="Century Gothic" panose="020B0702020202020204"/>
                          <a:ea typeface="Century Gothic" panose="020B0702020202020204"/>
                        </a:rPr>
                        <a:t>Policy rate decided by Reserve Bank of Australia, key for currency value. Higher than forecast is bullish for AUD. </a:t>
                      </a:r>
                      <a:br>
                        <a:rPr sz="1200" b="0" i="0">
                          <a:solidFill>
                            <a:schemeClr val="bg1">
                              <a:lumMod val="50000"/>
                            </a:schemeClr>
                          </a:solidFill>
                          <a:latin typeface="Century Gothic" panose="020B0702020202020204"/>
                          <a:ea typeface="Century Gothic" panose="020B0702020202020204"/>
                        </a:rPr>
                      </a:br>
                      <a:br>
                        <a:rPr sz="1200" b="0" i="0">
                          <a:solidFill>
                            <a:schemeClr val="bg1">
                              <a:lumMod val="50000"/>
                            </a:schemeClr>
                          </a:solidFill>
                          <a:latin typeface="Century Gothic" panose="020B0702020202020204"/>
                          <a:ea typeface="Century Gothic" panose="020B0702020202020204"/>
                        </a:rPr>
                      </a:br>
                      <a:r>
                        <a:rPr sz="1200" b="0" i="0">
                          <a:solidFill>
                            <a:schemeClr val="bg1">
                              <a:lumMod val="50000"/>
                            </a:schemeClr>
                          </a:solidFill>
                          <a:latin typeface="Century Gothic" panose="020B0702020202020204"/>
                          <a:ea typeface="Century Gothic" panose="020B0702020202020204"/>
                        </a:rPr>
                        <a:t>Learn More: AUDUSD | AUDCHF | AUDJPY</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3.60%</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Time (GMT):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03:30</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Release Date</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30-Sep-25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3.60%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3.60%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3.60%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12-Aug-25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3.60%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3.60%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3.85%</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08-Jul-25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3.85%</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3.60%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3.85%</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20-May-25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3.85%</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3.85%</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4.10%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01-Apr-25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4.10%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4.10%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4.10%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18-Feb-25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4.10%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4.10%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4.35%</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a:solidFill>
                        <a:schemeClr val="bg1">
                          <a:lumMod val="75000"/>
                        </a:schemeClr>
                      </a:solidFill>
                      <a:prstDash val="solid"/>
                    </a:lnB>
                    <a:noFill/>
                  </a:tcPr>
                </a:tc>
              </a:tr>
            </a:tbl>
          </a:graphicData>
        </a:graphic>
      </p:graphicFrame>
      <p:cxnSp>
        <p:nvCxnSpPr>
          <p:cNvPr id="3" name="Straight Connector 2"/>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RBA Interest Rate Decision (Nov)</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rPr>
              <a:t>AUDJPY</a:t>
            </a:r>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AUDJPY_20250218_03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AUDJPY_20250401_03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AUDJPY_20250520_04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AUDJPY_20250708_04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AUDJPY_20250812_04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AUDJPY_20250930_04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RBA Interest Rate Decision (Nov)</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sym typeface="+mn-ea"/>
              </a:rPr>
              <a:t>AUDUSD</a:t>
            </a:r>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AUDUSD_20250218_03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AUDUSD_20250401_03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AUDUSD_20250520_04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AUDUSD_20250708_04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AUDUSD_20250812_04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AUDUSD_20250930_04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JOLTS Job Openings (Sep)</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25450" y="6483350"/>
            <a:ext cx="3750310" cy="366395"/>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2400" b="1" dirty="0">
                <a:solidFill>
                  <a:srgbClr val="002060"/>
                </a:solidFill>
                <a:latin typeface="Century Gothic" panose="020B0702020202020204" pitchFamily="34" charset="0"/>
                <a:cs typeface="Century Gothic" panose="020B0702020202020204" pitchFamily="34" charset="0"/>
              </a:rPr>
              <a:t>JOLTS Job Openings (Sep)</a:t>
            </a:r>
            <a:endParaRPr lang="en-US" alt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graphicFrame>
        <p:nvGraphicFramePr>
          <p:cNvPr id="15" name="Table 14"/>
          <p:cNvGraphicFramePr>
            <a:graphicFrameLocks noGrp="1"/>
          </p:cNvGraphicFramePr>
          <p:nvPr/>
        </p:nvGraphicFramePr>
        <p:xfrm>
          <a:off x="450215" y="889635"/>
          <a:ext cx="11475085" cy="5376545"/>
        </p:xfrm>
        <a:graphic>
          <a:graphicData uri="http://schemas.openxmlformats.org/drawingml/2006/table">
            <a:tbl>
              <a:tblPr/>
              <a:tblGrid>
                <a:gridCol w="1275080"/>
                <a:gridCol w="1275080"/>
                <a:gridCol w="1275080"/>
                <a:gridCol w="1275080"/>
                <a:gridCol w="6374765"/>
              </a:tblGrid>
              <a:tr h="445770">
                <a:tc>
                  <a:txBody>
                    <a:bodyPr/>
                    <a:p>
                      <a:pPr algn="l" fontAlgn="ctr"/>
                      <a:r>
                        <a:rPr sz="1200" b="1" i="0">
                          <a:solidFill>
                            <a:schemeClr val="bg1">
                              <a:lumMod val="50000"/>
                            </a:schemeClr>
                          </a:solidFill>
                          <a:latin typeface="Century Gothic" panose="020B0702020202020204"/>
                          <a:ea typeface="Century Gothic" panose="020B0702020202020204"/>
                        </a:rPr>
                        <a:t>Event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gridSpan="3">
                  <a:txBody>
                    <a:bodyPr/>
                    <a:p>
                      <a:pPr algn="r" fontAlgn="ctr"/>
                      <a:r>
                        <a:rPr sz="1200" b="1" i="0">
                          <a:solidFill>
                            <a:schemeClr val="bg1">
                              <a:lumMod val="50000"/>
                            </a:schemeClr>
                          </a:solidFill>
                          <a:latin typeface="Century Gothic" panose="020B0702020202020204"/>
                          <a:ea typeface="Century Gothic" panose="020B0702020202020204"/>
                        </a:rPr>
                        <a:t>JOLTS Job Openings (Sep)</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hMerge="1">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hMerge="1">
                  <a:tcPr anchor="ctr">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a:txBody>
                    <a:bodyPr/>
                    <a:p>
                      <a:pPr algn="ctr" fontAlgn="ctr"/>
                      <a:r>
                        <a:rPr sz="1200" b="1" i="0">
                          <a:solidFill>
                            <a:schemeClr val="bg1">
                              <a:lumMod val="50000"/>
                            </a:schemeClr>
                          </a:solidFill>
                          <a:latin typeface="Century Gothic" panose="020B0702020202020204"/>
                          <a:ea typeface="Century Gothic" panose="020B0702020202020204"/>
                        </a:rPr>
                        <a:t>Description</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r>
              <a:tr h="473075">
                <a:tc>
                  <a:txBody>
                    <a:bodyPr/>
                    <a:p>
                      <a:pPr algn="l"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rowSpan="11">
                  <a:txBody>
                    <a:bodyPr/>
                    <a:p>
                      <a:pPr algn="ctr" fontAlgn="ctr"/>
                      <a:r>
                        <a:rPr sz="1200" b="0" i="0">
                          <a:solidFill>
                            <a:schemeClr val="bg1">
                              <a:lumMod val="50000"/>
                            </a:schemeClr>
                          </a:solidFill>
                          <a:latin typeface="Century Gothic" panose="020B0702020202020204"/>
                          <a:ea typeface="Century Gothic" panose="020B0702020202020204"/>
                        </a:rPr>
                        <a:t>Measures US job vacancy levels, leading labor market indicator. Stronger than forecast is bullish for USD. </a:t>
                      </a:r>
                      <a:br>
                        <a:rPr sz="1200" b="0" i="0">
                          <a:solidFill>
                            <a:schemeClr val="bg1">
                              <a:lumMod val="50000"/>
                            </a:schemeClr>
                          </a:solidFill>
                          <a:latin typeface="Century Gothic" panose="020B0702020202020204"/>
                          <a:ea typeface="Century Gothic" panose="020B0702020202020204"/>
                        </a:rPr>
                      </a:br>
                      <a:br>
                        <a:rPr sz="1200" b="0" i="0">
                          <a:solidFill>
                            <a:schemeClr val="bg1">
                              <a:lumMod val="50000"/>
                            </a:schemeClr>
                          </a:solidFill>
                          <a:latin typeface="Century Gothic" panose="020B0702020202020204"/>
                          <a:ea typeface="Century Gothic" panose="020B0702020202020204"/>
                        </a:rPr>
                      </a:br>
                      <a:r>
                        <a:rPr sz="1200" b="0" i="0">
                          <a:solidFill>
                            <a:schemeClr val="bg1">
                              <a:lumMod val="50000"/>
                            </a:schemeClr>
                          </a:solidFill>
                          <a:latin typeface="Century Gothic" panose="020B0702020202020204"/>
                          <a:ea typeface="Century Gothic" panose="020B0702020202020204"/>
                        </a:rPr>
                        <a:t>Learn More: USDJPY | EURUSD</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Time (GMT):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15:00</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Release Date</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30-Sep-25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7.22</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7.19</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7.20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03-Sep-25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7.18</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7.38</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7.35</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29-Jul-25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7.43</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7.51</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7.71</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01-Jul-25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7.76</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7.32</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7.39</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03-Jun-25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7.39</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7.11</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7.20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29-Apr-25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7.20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7.69</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7.49</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a:solidFill>
                        <a:schemeClr val="bg1">
                          <a:lumMod val="75000"/>
                        </a:schemeClr>
                      </a:solidFill>
                      <a:prstDash val="solid"/>
                    </a:lnB>
                    <a:noFill/>
                  </a:tcPr>
                </a:tc>
              </a:tr>
            </a:tbl>
          </a:graphicData>
        </a:graphic>
      </p:graphicFrame>
      <p:cxnSp>
        <p:nvCxnSpPr>
          <p:cNvPr id="3" name="Straight Connector 2"/>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JOLTS Job Openings (Sep)</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rPr>
              <a:t>USDJPY</a:t>
            </a:r>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29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03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01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29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03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30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JOLTS Job Openings (Sep)</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sym typeface="+mn-ea"/>
              </a:rPr>
              <a:t>EURUSD</a:t>
            </a:r>
            <a:endParaRPr 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29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03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01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29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03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30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ADP Nonfarm Employment Change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25450" y="6483350"/>
            <a:ext cx="3750310" cy="366395"/>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2400" b="1" dirty="0">
                <a:solidFill>
                  <a:srgbClr val="002060"/>
                </a:solidFill>
                <a:latin typeface="Century Gothic" panose="020B0702020202020204" pitchFamily="34" charset="0"/>
                <a:cs typeface="Century Gothic" panose="020B0702020202020204" pitchFamily="34" charset="0"/>
              </a:rPr>
              <a:t>ADP Nonfarm Employment Change (Oct)</a:t>
            </a:r>
            <a:endParaRPr lang="en-US" alt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graphicFrame>
        <p:nvGraphicFramePr>
          <p:cNvPr id="15" name="Table 14"/>
          <p:cNvGraphicFramePr>
            <a:graphicFrameLocks noGrp="1"/>
          </p:cNvGraphicFramePr>
          <p:nvPr/>
        </p:nvGraphicFramePr>
        <p:xfrm>
          <a:off x="450215" y="889635"/>
          <a:ext cx="11475085" cy="5376545"/>
        </p:xfrm>
        <a:graphic>
          <a:graphicData uri="http://schemas.openxmlformats.org/drawingml/2006/table">
            <a:tbl>
              <a:tblPr/>
              <a:tblGrid>
                <a:gridCol w="1275080"/>
                <a:gridCol w="1275080"/>
                <a:gridCol w="1275080"/>
                <a:gridCol w="1275080"/>
                <a:gridCol w="6374765"/>
              </a:tblGrid>
              <a:tr h="445770">
                <a:tc>
                  <a:txBody>
                    <a:bodyPr/>
                    <a:p>
                      <a:pPr algn="l" fontAlgn="ctr"/>
                      <a:r>
                        <a:rPr sz="1200" b="1" i="0">
                          <a:solidFill>
                            <a:schemeClr val="bg1">
                              <a:lumMod val="50000"/>
                            </a:schemeClr>
                          </a:solidFill>
                          <a:latin typeface="Century Gothic" panose="020B0702020202020204"/>
                          <a:ea typeface="Century Gothic" panose="020B0702020202020204"/>
                        </a:rPr>
                        <a:t>Event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gridSpan="3">
                  <a:txBody>
                    <a:bodyPr/>
                    <a:p>
                      <a:pPr algn="r" fontAlgn="ctr"/>
                      <a:r>
                        <a:rPr sz="1200" b="1" i="0">
                          <a:solidFill>
                            <a:schemeClr val="bg1">
                              <a:lumMod val="50000"/>
                            </a:schemeClr>
                          </a:solidFill>
                          <a:latin typeface="Century Gothic" panose="020B0702020202020204"/>
                          <a:ea typeface="Century Gothic" panose="020B0702020202020204"/>
                        </a:rPr>
                        <a:t>ADP Nonfarm Employment Change (Oct)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hMerge="1">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hMerge="1">
                  <a:tcPr anchor="ctr">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a:txBody>
                    <a:bodyPr/>
                    <a:p>
                      <a:pPr algn="ctr" fontAlgn="ctr"/>
                      <a:r>
                        <a:rPr sz="1200" b="1" i="0">
                          <a:solidFill>
                            <a:schemeClr val="bg1">
                              <a:lumMod val="50000"/>
                            </a:schemeClr>
                          </a:solidFill>
                          <a:latin typeface="Century Gothic" panose="020B0702020202020204"/>
                          <a:ea typeface="Century Gothic" panose="020B0702020202020204"/>
                        </a:rPr>
                        <a:t>Description</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r>
              <a:tr h="473075">
                <a:tc>
                  <a:txBody>
                    <a:bodyPr/>
                    <a:p>
                      <a:pPr algn="l"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rowSpan="11">
                  <a:txBody>
                    <a:bodyPr/>
                    <a:p>
                      <a:pPr algn="ctr" fontAlgn="ctr"/>
                      <a:r>
                        <a:rPr sz="1200" b="0" i="0">
                          <a:solidFill>
                            <a:schemeClr val="bg1">
                              <a:lumMod val="50000"/>
                            </a:schemeClr>
                          </a:solidFill>
                          <a:latin typeface="Century Gothic" panose="020B0702020202020204"/>
                          <a:ea typeface="Century Gothic" panose="020B0702020202020204"/>
                        </a:rPr>
                        <a:t>Tracks monthly change in US nonfarm private employment, predictive for Nonfarm Payrolls. Bullish for USD if higher than forecast. </a:t>
                      </a:r>
                      <a:br>
                        <a:rPr sz="1200" b="0" i="0">
                          <a:solidFill>
                            <a:schemeClr val="bg1">
                              <a:lumMod val="50000"/>
                            </a:schemeClr>
                          </a:solidFill>
                          <a:latin typeface="Century Gothic" panose="020B0702020202020204"/>
                          <a:ea typeface="Century Gothic" panose="020B0702020202020204"/>
                        </a:rPr>
                      </a:br>
                      <a:br>
                        <a:rPr sz="1200" b="0" i="0">
                          <a:solidFill>
                            <a:schemeClr val="bg1">
                              <a:lumMod val="50000"/>
                            </a:schemeClr>
                          </a:solidFill>
                          <a:latin typeface="Century Gothic" panose="020B0702020202020204"/>
                          <a:ea typeface="Century Gothic" panose="020B0702020202020204"/>
                        </a:rPr>
                      </a:br>
                      <a:r>
                        <a:rPr sz="1200" b="0" i="0">
                          <a:solidFill>
                            <a:schemeClr val="bg1">
                              <a:lumMod val="50000"/>
                            </a:schemeClr>
                          </a:solidFill>
                          <a:latin typeface="Century Gothic" panose="020B0702020202020204"/>
                          <a:ea typeface="Century Gothic" panose="020B0702020202020204"/>
                        </a:rPr>
                        <a:t>Learn More: USDJPY | EURUSD</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-32K</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Time (GMT):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13:15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Release Date</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01-Oct-25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-32</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52</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-3</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04-Sep-25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54</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73</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106</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30-Jul-25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104</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77</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-23</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02-Jul-25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-33</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99</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29</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04-Jun-25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37</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111</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60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30-Apr-25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62</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114</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147</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a:solidFill>
                        <a:schemeClr val="bg1">
                          <a:lumMod val="75000"/>
                        </a:schemeClr>
                      </a:solidFill>
                      <a:prstDash val="solid"/>
                    </a:lnB>
                    <a:noFill/>
                  </a:tcPr>
                </a:tc>
              </a:tr>
            </a:tbl>
          </a:graphicData>
        </a:graphic>
      </p:graphicFrame>
      <p:cxnSp>
        <p:nvCxnSpPr>
          <p:cNvPr id="3" name="Straight Connector 2"/>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ADP Nonfarm Employment Change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rPr>
              <a:t>USDJPY</a:t>
            </a:r>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30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04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02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30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04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1001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ADP Nonfarm Employment Change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sym typeface="+mn-ea"/>
              </a:rPr>
              <a:t>EURUSD</a:t>
            </a:r>
            <a:endParaRPr 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30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04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02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30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04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1001_121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ISM Non-Manufacturing PMI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25450" y="6483350"/>
            <a:ext cx="3750310" cy="366395"/>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2400" b="1" dirty="0">
                <a:solidFill>
                  <a:srgbClr val="002060"/>
                </a:solidFill>
                <a:latin typeface="Century Gothic" panose="020B0702020202020204" pitchFamily="34" charset="0"/>
                <a:cs typeface="Century Gothic" panose="020B0702020202020204" pitchFamily="34" charset="0"/>
              </a:rPr>
              <a:t>ISM Non-Manufacturing PMI (Oct)</a:t>
            </a:r>
            <a:endParaRPr lang="en-US" alt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graphicFrame>
        <p:nvGraphicFramePr>
          <p:cNvPr id="15" name="Table 14"/>
          <p:cNvGraphicFramePr>
            <a:graphicFrameLocks noGrp="1"/>
          </p:cNvGraphicFramePr>
          <p:nvPr/>
        </p:nvGraphicFramePr>
        <p:xfrm>
          <a:off x="450215" y="889635"/>
          <a:ext cx="11475085" cy="5376545"/>
        </p:xfrm>
        <a:graphic>
          <a:graphicData uri="http://schemas.openxmlformats.org/drawingml/2006/table">
            <a:tbl>
              <a:tblPr/>
              <a:tblGrid>
                <a:gridCol w="1275080"/>
                <a:gridCol w="1275080"/>
                <a:gridCol w="1275080"/>
                <a:gridCol w="1275080"/>
                <a:gridCol w="6374765"/>
              </a:tblGrid>
              <a:tr h="445770">
                <a:tc>
                  <a:txBody>
                    <a:bodyPr/>
                    <a:p>
                      <a:pPr algn="l" fontAlgn="ctr"/>
                      <a:r>
                        <a:rPr sz="1200" b="1" i="0">
                          <a:solidFill>
                            <a:schemeClr val="bg1">
                              <a:lumMod val="50000"/>
                            </a:schemeClr>
                          </a:solidFill>
                          <a:latin typeface="Century Gothic" panose="020B0702020202020204"/>
                          <a:ea typeface="Century Gothic" panose="020B0702020202020204"/>
                        </a:rPr>
                        <a:t>Event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gridSpan="3">
                  <a:txBody>
                    <a:bodyPr/>
                    <a:p>
                      <a:pPr algn="r" fontAlgn="ctr"/>
                      <a:r>
                        <a:rPr sz="1200" b="1" i="0">
                          <a:solidFill>
                            <a:schemeClr val="bg1">
                              <a:lumMod val="50000"/>
                            </a:schemeClr>
                          </a:solidFill>
                          <a:latin typeface="Century Gothic" panose="020B0702020202020204"/>
                          <a:ea typeface="Century Gothic" panose="020B0702020202020204"/>
                        </a:rPr>
                        <a:t>ISM Non-Manufacturing PMI (Oct)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hMerge="1">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hMerge="1">
                  <a:tcPr anchor="ctr">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a:txBody>
                    <a:bodyPr/>
                    <a:p>
                      <a:pPr algn="ctr" fontAlgn="ctr"/>
                      <a:r>
                        <a:rPr sz="1200" b="1" i="0">
                          <a:solidFill>
                            <a:schemeClr val="bg1">
                              <a:lumMod val="50000"/>
                            </a:schemeClr>
                          </a:solidFill>
                          <a:latin typeface="Century Gothic" panose="020B0702020202020204"/>
                          <a:ea typeface="Century Gothic" panose="020B0702020202020204"/>
                        </a:rPr>
                        <a:t>Description</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r>
              <a:tr h="473075">
                <a:tc>
                  <a:txBody>
                    <a:bodyPr/>
                    <a:p>
                      <a:pPr algn="l"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rowSpan="11">
                  <a:txBody>
                    <a:bodyPr/>
                    <a:p>
                      <a:pPr algn="ctr" fontAlgn="ctr"/>
                      <a:r>
                        <a:rPr sz="1200" b="0" i="0">
                          <a:solidFill>
                            <a:schemeClr val="bg1">
                              <a:lumMod val="50000"/>
                            </a:schemeClr>
                          </a:solidFill>
                          <a:latin typeface="Century Gothic" panose="020B0702020202020204"/>
                          <a:ea typeface="Century Gothic" panose="020B0702020202020204"/>
                        </a:rPr>
                        <a:t>Composite index of US non-manufacturing sector health (services). Above 50 = expansion; bullish for USD if stronger than expected. </a:t>
                      </a:r>
                      <a:br>
                        <a:rPr sz="1200" b="0" i="0">
                          <a:solidFill>
                            <a:schemeClr val="bg1">
                              <a:lumMod val="50000"/>
                            </a:schemeClr>
                          </a:solidFill>
                          <a:latin typeface="Century Gothic" panose="020B0702020202020204"/>
                          <a:ea typeface="Century Gothic" panose="020B0702020202020204"/>
                        </a:rPr>
                      </a:br>
                      <a:br>
                        <a:rPr sz="1200" b="0" i="0">
                          <a:solidFill>
                            <a:schemeClr val="bg1">
                              <a:lumMod val="50000"/>
                            </a:schemeClr>
                          </a:solidFill>
                          <a:latin typeface="Century Gothic" panose="020B0702020202020204"/>
                          <a:ea typeface="Century Gothic" panose="020B0702020202020204"/>
                        </a:rPr>
                      </a:br>
                      <a:r>
                        <a:rPr sz="1200" b="0" i="0">
                          <a:solidFill>
                            <a:schemeClr val="bg1">
                              <a:lumMod val="50000"/>
                            </a:schemeClr>
                          </a:solidFill>
                          <a:latin typeface="Century Gothic" panose="020B0702020202020204"/>
                          <a:ea typeface="Century Gothic" panose="020B0702020202020204"/>
                        </a:rPr>
                        <a:t>Learn More: USDJPY | EURUSD</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 50.00 </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Time (GMT):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14:00</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Release Date</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03-Oct-25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50.00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51.80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52.00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04-Sep-25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52.00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50.90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50.10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05-Aug-25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50.10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51.50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50.80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03-Jul-25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50.80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50.80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49.90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04-Jun-25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49.90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52.00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51.60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05-May-25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51.60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50.20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50.80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a:solidFill>
                        <a:schemeClr val="bg1">
                          <a:lumMod val="75000"/>
                        </a:schemeClr>
                      </a:solidFill>
                      <a:prstDash val="solid"/>
                    </a:lnB>
                    <a:noFill/>
                  </a:tcPr>
                </a:tc>
              </a:tr>
            </a:tbl>
          </a:graphicData>
        </a:graphic>
      </p:graphicFrame>
      <p:cxnSp>
        <p:nvCxnSpPr>
          <p:cNvPr id="3" name="Straight Connector 2"/>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ISM Non-Manufacturing PMI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rPr>
              <a:t>USDJPY</a:t>
            </a:r>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05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04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03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05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04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1003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ISM Non-Manufacturing PMI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sym typeface="+mn-ea"/>
              </a:rPr>
              <a:t>EURUSD</a:t>
            </a:r>
            <a:endParaRPr 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505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04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03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05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04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1003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ISM Non-Manufacturing Prices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25450" y="6483350"/>
            <a:ext cx="3750310" cy="366395"/>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2400" b="1" dirty="0">
                <a:solidFill>
                  <a:srgbClr val="002060"/>
                </a:solidFill>
                <a:latin typeface="Century Gothic" panose="020B0702020202020204" pitchFamily="34" charset="0"/>
                <a:cs typeface="Century Gothic" panose="020B0702020202020204" pitchFamily="34" charset="0"/>
              </a:rPr>
              <a:t>ISM Non-Manufacturing Prices (Oct)</a:t>
            </a:r>
            <a:endParaRPr lang="en-US" alt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graphicFrame>
        <p:nvGraphicFramePr>
          <p:cNvPr id="15" name="Table 14"/>
          <p:cNvGraphicFramePr>
            <a:graphicFrameLocks noGrp="1"/>
          </p:cNvGraphicFramePr>
          <p:nvPr/>
        </p:nvGraphicFramePr>
        <p:xfrm>
          <a:off x="450215" y="889635"/>
          <a:ext cx="11475085" cy="5309235"/>
        </p:xfrm>
        <a:graphic>
          <a:graphicData uri="http://schemas.openxmlformats.org/drawingml/2006/table">
            <a:tbl>
              <a:tblPr/>
              <a:tblGrid>
                <a:gridCol w="1275080"/>
                <a:gridCol w="1275080"/>
                <a:gridCol w="1275080"/>
                <a:gridCol w="1275080"/>
                <a:gridCol w="6374765"/>
              </a:tblGrid>
              <a:tr h="445770">
                <a:tc>
                  <a:txBody>
                    <a:bodyPr/>
                    <a:p>
                      <a:pPr algn="l" fontAlgn="ctr"/>
                      <a:r>
                        <a:rPr sz="1200" b="1" i="0">
                          <a:solidFill>
                            <a:schemeClr val="bg1">
                              <a:lumMod val="50000"/>
                            </a:schemeClr>
                          </a:solidFill>
                          <a:latin typeface="Century Gothic" panose="020B0702020202020204"/>
                          <a:ea typeface="Century Gothic" panose="020B0702020202020204"/>
                        </a:rPr>
                        <a:t>Event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gridSpan="3">
                  <a:txBody>
                    <a:bodyPr/>
                    <a:p>
                      <a:pPr algn="r" fontAlgn="ctr"/>
                      <a:r>
                        <a:rPr sz="1200" b="1" i="0">
                          <a:solidFill>
                            <a:schemeClr val="bg1">
                              <a:lumMod val="50000"/>
                            </a:schemeClr>
                          </a:solidFill>
                          <a:latin typeface="Century Gothic" panose="020B0702020202020204"/>
                          <a:ea typeface="Century Gothic" panose="020B0702020202020204"/>
                        </a:rPr>
                        <a:t>ISM Non-Manufacturing Prices (Oct)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hMerge="1">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hMerge="1">
                  <a:tcPr anchor="ctr">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a:txBody>
                    <a:bodyPr/>
                    <a:p>
                      <a:pPr algn="ctr" fontAlgn="ctr"/>
                      <a:r>
                        <a:rPr sz="1200" b="1" i="0">
                          <a:solidFill>
                            <a:schemeClr val="bg1">
                              <a:lumMod val="50000"/>
                            </a:schemeClr>
                          </a:solidFill>
                          <a:latin typeface="Century Gothic" panose="020B0702020202020204"/>
                          <a:ea typeface="Century Gothic" panose="020B0702020202020204"/>
                        </a:rPr>
                        <a:t>Description</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r>
              <a:tr h="473075">
                <a:tc>
                  <a:txBody>
                    <a:bodyPr/>
                    <a:p>
                      <a:pPr algn="l"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rowSpan="11">
                  <a:txBody>
                    <a:bodyPr/>
                    <a:p>
                      <a:pPr algn="ctr" fontAlgn="ctr"/>
                      <a:r>
                        <a:rPr sz="1200" b="0" i="0">
                          <a:solidFill>
                            <a:schemeClr val="bg1">
                              <a:lumMod val="50000"/>
                            </a:schemeClr>
                          </a:solidFill>
                          <a:latin typeface="Century Gothic" panose="020B0702020202020204"/>
                          <a:ea typeface="Century Gothic" panose="020B0702020202020204"/>
                        </a:rPr>
                        <a:t>Measures prices paid in US services sector, indicates inflation trends. Bullish for USD if higher than forecast. </a:t>
                      </a:r>
                      <a:br>
                        <a:rPr sz="1200" b="0" i="0">
                          <a:solidFill>
                            <a:schemeClr val="bg1">
                              <a:lumMod val="50000"/>
                            </a:schemeClr>
                          </a:solidFill>
                          <a:latin typeface="Century Gothic" panose="020B0702020202020204"/>
                          <a:ea typeface="Century Gothic" panose="020B0702020202020204"/>
                        </a:rPr>
                      </a:br>
                      <a:br>
                        <a:rPr sz="1200" b="0" i="0">
                          <a:solidFill>
                            <a:schemeClr val="bg1">
                              <a:lumMod val="50000"/>
                            </a:schemeClr>
                          </a:solidFill>
                          <a:latin typeface="Century Gothic" panose="020B0702020202020204"/>
                          <a:ea typeface="Century Gothic" panose="020B0702020202020204"/>
                        </a:rPr>
                      </a:br>
                      <a:r>
                        <a:rPr sz="1200" b="0" i="0">
                          <a:solidFill>
                            <a:schemeClr val="bg1">
                              <a:lumMod val="50000"/>
                            </a:schemeClr>
                          </a:solidFill>
                          <a:latin typeface="Century Gothic" panose="020B0702020202020204"/>
                          <a:ea typeface="Century Gothic" panose="020B0702020202020204"/>
                        </a:rPr>
                        <a:t>Learn More: USDJPY | EURUSD</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 69.40 </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Time (GMT):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14:00</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Release Date</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Oct 03, 2025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69.40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68.00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69.20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Sep 04, 2025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69.20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69.50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69.90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Aug 05, 2025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69.90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66.50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67.50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378460">
                <a:tc>
                  <a:txBody>
                    <a:bodyPr/>
                    <a:p>
                      <a:pPr algn="l" fontAlgn="ctr"/>
                      <a:r>
                        <a:rPr sz="1200" b="1" i="0">
                          <a:solidFill>
                            <a:schemeClr val="bg1">
                              <a:lumMod val="50000"/>
                            </a:schemeClr>
                          </a:solidFill>
                          <a:latin typeface="Century Gothic" panose="020B0702020202020204"/>
                          <a:ea typeface="Century Gothic" panose="020B0702020202020204"/>
                        </a:rPr>
                        <a:t>Jul 03, 2025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67.50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68.90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68.70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Jun 04, 2025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68.70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65.10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65.10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May 05, 2025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65.10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61.20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60.90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a:solidFill>
                        <a:schemeClr val="bg1">
                          <a:lumMod val="75000"/>
                        </a:schemeClr>
                      </a:solidFill>
                      <a:prstDash val="solid"/>
                    </a:lnB>
                    <a:noFill/>
                  </a:tcPr>
                </a:tc>
              </a:tr>
            </a:tbl>
          </a:graphicData>
        </a:graphic>
      </p:graphicFrame>
      <p:cxnSp>
        <p:nvCxnSpPr>
          <p:cNvPr id="3" name="Straight Connector 2"/>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ISM Non-Manufacturing Prices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rPr>
              <a:t>USDJPY</a:t>
            </a:r>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05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04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03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05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04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1003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ISM Non-Manufacturing Prices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sym typeface="+mn-ea"/>
              </a:rPr>
              <a:t>EURUSD</a:t>
            </a:r>
            <a:endParaRPr 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505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04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03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05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04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1003_14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S&amp;P Global Services PMI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25450" y="6483350"/>
            <a:ext cx="3750310" cy="366395"/>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2400" b="1" dirty="0">
                <a:solidFill>
                  <a:srgbClr val="002060"/>
                </a:solidFill>
                <a:latin typeface="Century Gothic" panose="020B0702020202020204" pitchFamily="34" charset="0"/>
                <a:cs typeface="Century Gothic" panose="020B0702020202020204" pitchFamily="34" charset="0"/>
              </a:rPr>
              <a:t>S&amp;P Global Services PMI (Oct)</a:t>
            </a:r>
            <a:endParaRPr lang="en-US" alt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graphicFrame>
        <p:nvGraphicFramePr>
          <p:cNvPr id="15" name="Table 14"/>
          <p:cNvGraphicFramePr>
            <a:graphicFrameLocks noGrp="1"/>
          </p:cNvGraphicFramePr>
          <p:nvPr/>
        </p:nvGraphicFramePr>
        <p:xfrm>
          <a:off x="450215" y="889635"/>
          <a:ext cx="11475085" cy="5376545"/>
        </p:xfrm>
        <a:graphic>
          <a:graphicData uri="http://schemas.openxmlformats.org/drawingml/2006/table">
            <a:tbl>
              <a:tblPr/>
              <a:tblGrid>
                <a:gridCol w="1275080"/>
                <a:gridCol w="1275080"/>
                <a:gridCol w="1275080"/>
                <a:gridCol w="1275080"/>
                <a:gridCol w="6374765"/>
              </a:tblGrid>
              <a:tr h="445770">
                <a:tc>
                  <a:txBody>
                    <a:bodyPr/>
                    <a:p>
                      <a:pPr algn="l" fontAlgn="ctr"/>
                      <a:r>
                        <a:rPr sz="1200" b="1" i="0">
                          <a:solidFill>
                            <a:schemeClr val="bg1">
                              <a:lumMod val="50000"/>
                            </a:schemeClr>
                          </a:solidFill>
                          <a:latin typeface="Century Gothic" panose="020B0702020202020204"/>
                          <a:ea typeface="Century Gothic" panose="020B0702020202020204"/>
                        </a:rPr>
                        <a:t>Event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gridSpan="3">
                  <a:txBody>
                    <a:bodyPr/>
                    <a:p>
                      <a:pPr algn="r" fontAlgn="ctr"/>
                      <a:r>
                        <a:rPr sz="1200" b="1" i="0">
                          <a:solidFill>
                            <a:schemeClr val="bg1">
                              <a:lumMod val="50000"/>
                            </a:schemeClr>
                          </a:solidFill>
                          <a:latin typeface="Century Gothic" panose="020B0702020202020204"/>
                          <a:ea typeface="Century Gothic" panose="020B0702020202020204"/>
                        </a:rPr>
                        <a:t>S&amp;P Global Services PMI (Oct)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hMerge="1">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hMerge="1">
                  <a:tcPr anchor="ctr">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a:txBody>
                    <a:bodyPr/>
                    <a:p>
                      <a:pPr algn="ctr" fontAlgn="ctr"/>
                      <a:r>
                        <a:rPr sz="1200" b="1" i="0">
                          <a:solidFill>
                            <a:schemeClr val="bg1">
                              <a:lumMod val="50000"/>
                            </a:schemeClr>
                          </a:solidFill>
                          <a:latin typeface="Century Gothic" panose="020B0702020202020204"/>
                          <a:ea typeface="Century Gothic" panose="020B0702020202020204"/>
                        </a:rPr>
                        <a:t>Description</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r>
              <a:tr h="473075">
                <a:tc>
                  <a:txBody>
                    <a:bodyPr/>
                    <a:p>
                      <a:pPr algn="l"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rowSpan="11">
                  <a:txBody>
                    <a:bodyPr/>
                    <a:p>
                      <a:pPr algn="ctr" fontAlgn="ctr"/>
                      <a:r>
                        <a:rPr sz="1200" b="0" i="0">
                          <a:solidFill>
                            <a:schemeClr val="bg1">
                              <a:lumMod val="50000"/>
                            </a:schemeClr>
                          </a:solidFill>
                          <a:latin typeface="Century Gothic" panose="020B0702020202020204"/>
                          <a:ea typeface="Century Gothic" panose="020B0702020202020204"/>
                        </a:rPr>
                        <a:t>Tracks service sector activity, above 50 = growth. Bullish for USD if stronger than forecast. </a:t>
                      </a:r>
                      <a:br>
                        <a:rPr sz="1200" b="0" i="0">
                          <a:solidFill>
                            <a:schemeClr val="bg1">
                              <a:lumMod val="50000"/>
                            </a:schemeClr>
                          </a:solidFill>
                          <a:latin typeface="Century Gothic" panose="020B0702020202020204"/>
                          <a:ea typeface="Century Gothic" panose="020B0702020202020204"/>
                        </a:rPr>
                      </a:br>
                      <a:br>
                        <a:rPr sz="1200" b="0" i="0">
                          <a:solidFill>
                            <a:schemeClr val="bg1">
                              <a:lumMod val="50000"/>
                            </a:schemeClr>
                          </a:solidFill>
                          <a:latin typeface="Century Gothic" panose="020B0702020202020204"/>
                          <a:ea typeface="Century Gothic" panose="020B0702020202020204"/>
                        </a:rPr>
                      </a:br>
                      <a:br>
                        <a:rPr sz="1200" b="0" i="0">
                          <a:solidFill>
                            <a:schemeClr val="bg1">
                              <a:lumMod val="50000"/>
                            </a:schemeClr>
                          </a:solidFill>
                          <a:latin typeface="Century Gothic" panose="020B0702020202020204"/>
                          <a:ea typeface="Century Gothic" panose="020B0702020202020204"/>
                        </a:rPr>
                      </a:br>
                      <a:r>
                        <a:rPr sz="1200" b="0" i="0">
                          <a:solidFill>
                            <a:schemeClr val="bg1">
                              <a:lumMod val="50000"/>
                            </a:schemeClr>
                          </a:solidFill>
                          <a:latin typeface="Century Gothic" panose="020B0702020202020204"/>
                          <a:ea typeface="Century Gothic" panose="020B0702020202020204"/>
                        </a:rPr>
                        <a:t>Learn More: USDJPY | EURUSD</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 55.20 </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Time (GMT):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14:45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Release Date</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24-Oct-25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55.20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53.50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54.20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a:solidFill>
                        <a:schemeClr val="bg1">
                          <a:lumMod val="75000"/>
                        </a:schemeClr>
                      </a:solidFill>
                      <a:prstDash val="solid"/>
                    </a:lnB>
                    <a:noFill/>
                  </a:tcPr>
                </a:tc>
              </a:tr>
            </a:tbl>
          </a:graphicData>
        </a:graphic>
      </p:graphicFrame>
      <p:cxnSp>
        <p:nvCxnSpPr>
          <p:cNvPr id="3" name="Straight Connector 2"/>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S&amp;P Global Services PMI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rPr>
              <a:t>USDJPY</a:t>
            </a:r>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1024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S&amp;P Global Services PMI (Oct)</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sym typeface="+mn-ea"/>
              </a:rPr>
              <a:t>EURUSD</a:t>
            </a:r>
            <a:endParaRPr 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1024_1345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Crude Oil Inventories</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25450" y="6483350"/>
            <a:ext cx="3750310" cy="366395"/>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2400" b="1" dirty="0">
                <a:solidFill>
                  <a:srgbClr val="002060"/>
                </a:solidFill>
                <a:latin typeface="Century Gothic" panose="020B0702020202020204" pitchFamily="34" charset="0"/>
                <a:cs typeface="Century Gothic" panose="020B0702020202020204" pitchFamily="34" charset="0"/>
              </a:rPr>
              <a:t>Crude Oil Inventories</a:t>
            </a:r>
            <a:endParaRPr lang="en-US" alt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graphicFrame>
        <p:nvGraphicFramePr>
          <p:cNvPr id="15" name="Table 14"/>
          <p:cNvGraphicFramePr>
            <a:graphicFrameLocks noGrp="1"/>
          </p:cNvGraphicFramePr>
          <p:nvPr/>
        </p:nvGraphicFramePr>
        <p:xfrm>
          <a:off x="450215" y="889635"/>
          <a:ext cx="11475085" cy="5376545"/>
        </p:xfrm>
        <a:graphic>
          <a:graphicData uri="http://schemas.openxmlformats.org/drawingml/2006/table">
            <a:tbl>
              <a:tblPr/>
              <a:tblGrid>
                <a:gridCol w="1275080"/>
                <a:gridCol w="1275080"/>
                <a:gridCol w="1275080"/>
                <a:gridCol w="1275080"/>
                <a:gridCol w="6374765"/>
              </a:tblGrid>
              <a:tr h="445770">
                <a:tc>
                  <a:txBody>
                    <a:bodyPr/>
                    <a:p>
                      <a:pPr algn="l" fontAlgn="ctr"/>
                      <a:r>
                        <a:rPr sz="1200" b="1" i="0">
                          <a:solidFill>
                            <a:schemeClr val="bg1">
                              <a:lumMod val="50000"/>
                            </a:schemeClr>
                          </a:solidFill>
                          <a:latin typeface="Century Gothic" panose="020B0702020202020204"/>
                          <a:ea typeface="Century Gothic" panose="020B0702020202020204"/>
                        </a:rPr>
                        <a:t>Event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gridSpan="3">
                  <a:txBody>
                    <a:bodyPr/>
                    <a:p>
                      <a:pPr algn="r" fontAlgn="ctr"/>
                      <a:r>
                        <a:rPr sz="1200" b="1" i="0">
                          <a:solidFill>
                            <a:schemeClr val="bg1">
                              <a:lumMod val="50000"/>
                            </a:schemeClr>
                          </a:solidFill>
                          <a:latin typeface="Century Gothic" panose="020B0702020202020204"/>
                          <a:ea typeface="Century Gothic" panose="020B0702020202020204"/>
                        </a:rPr>
                        <a:t>Crude Oil Inventories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hMerge="1">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hMerge="1">
                  <a:tcPr anchor="ctr">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a:txBody>
                    <a:bodyPr/>
                    <a:p>
                      <a:pPr algn="ctr" fontAlgn="ctr"/>
                      <a:r>
                        <a:rPr sz="1200" b="1" i="0">
                          <a:solidFill>
                            <a:schemeClr val="bg1">
                              <a:lumMod val="50000"/>
                            </a:schemeClr>
                          </a:solidFill>
                          <a:latin typeface="Century Gothic" panose="020B0702020202020204"/>
                          <a:ea typeface="Century Gothic" panose="020B0702020202020204"/>
                        </a:rPr>
                        <a:t>Description</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r>
              <a:tr h="473075">
                <a:tc>
                  <a:txBody>
                    <a:bodyPr/>
                    <a:p>
                      <a:pPr algn="l"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rowSpan="11">
                  <a:txBody>
                    <a:bodyPr/>
                    <a:p>
                      <a:pPr algn="ctr" fontAlgn="ctr"/>
                      <a:r>
                        <a:rPr sz="1200" b="0" i="0">
                          <a:solidFill>
                            <a:schemeClr val="bg1">
                              <a:lumMod val="50000"/>
                            </a:schemeClr>
                          </a:solidFill>
                          <a:latin typeface="Century Gothic" panose="020B0702020202020204"/>
                          <a:ea typeface="Century Gothic" panose="020B0702020202020204"/>
                        </a:rPr>
                        <a:t>The Energy Information Administration's (EIA) Crude Oil Inventories measures the weekly change in the number of barrels of commercial crude oil held by US firms. The level of inventories influences the price of petroleum products, which can have an impact on inflation.</a:t>
                      </a:r>
                      <a:br>
                        <a:rPr sz="1200" b="0" i="0">
                          <a:solidFill>
                            <a:schemeClr val="bg1">
                              <a:lumMod val="50000"/>
                            </a:schemeClr>
                          </a:solidFill>
                          <a:latin typeface="Century Gothic" panose="020B0702020202020204"/>
                          <a:ea typeface="Century Gothic" panose="020B0702020202020204"/>
                        </a:rPr>
                      </a:br>
                      <a:br>
                        <a:rPr sz="1200" b="0" i="0">
                          <a:solidFill>
                            <a:schemeClr val="bg1">
                              <a:lumMod val="50000"/>
                            </a:schemeClr>
                          </a:solidFill>
                          <a:latin typeface="Century Gothic" panose="020B0702020202020204"/>
                          <a:ea typeface="Century Gothic" panose="020B0702020202020204"/>
                        </a:rPr>
                      </a:br>
                      <a:r>
                        <a:rPr sz="1200" b="0" i="0">
                          <a:solidFill>
                            <a:schemeClr val="bg1">
                              <a:lumMod val="50000"/>
                            </a:schemeClr>
                          </a:solidFill>
                          <a:latin typeface="Century Gothic" panose="020B0702020202020204"/>
                          <a:ea typeface="Century Gothic" panose="020B0702020202020204"/>
                        </a:rPr>
                        <a:t>If the increase in crude inventories is more than expected, it implies weaker demand and is bearish for crude prices. The same can be said if a decline in inventories is less than expected.</a:t>
                      </a:r>
                      <a:br>
                        <a:rPr sz="1200" b="0" i="0">
                          <a:solidFill>
                            <a:schemeClr val="bg1">
                              <a:lumMod val="50000"/>
                            </a:schemeClr>
                          </a:solidFill>
                          <a:latin typeface="Century Gothic" panose="020B0702020202020204"/>
                          <a:ea typeface="Century Gothic" panose="020B0702020202020204"/>
                        </a:rPr>
                      </a:br>
                      <a:r>
                        <a:rPr sz="1200" b="0" i="0">
                          <a:solidFill>
                            <a:schemeClr val="bg1">
                              <a:lumMod val="50000"/>
                            </a:schemeClr>
                          </a:solidFill>
                          <a:latin typeface="Century Gothic" panose="020B0702020202020204"/>
                          <a:ea typeface="Century Gothic" panose="020B0702020202020204"/>
                        </a:rPr>
                        <a:t>If the increase in crude is less than expected, it implies greater demand and is bullish for crude prices. The same can be said if a decline in inventories is more than expected.</a:t>
                      </a:r>
                      <a:br>
                        <a:rPr sz="1200" b="0" i="0">
                          <a:solidFill>
                            <a:schemeClr val="bg1">
                              <a:lumMod val="50000"/>
                            </a:schemeClr>
                          </a:solidFill>
                          <a:latin typeface="Century Gothic" panose="020B0702020202020204"/>
                          <a:ea typeface="Century Gothic" panose="020B0702020202020204"/>
                        </a:rPr>
                      </a:br>
                      <a:br>
                        <a:rPr sz="1200" b="0" i="0">
                          <a:solidFill>
                            <a:schemeClr val="bg1">
                              <a:lumMod val="50000"/>
                            </a:schemeClr>
                          </a:solidFill>
                          <a:latin typeface="Century Gothic" panose="020B0702020202020204"/>
                          <a:ea typeface="Century Gothic" panose="020B0702020202020204"/>
                        </a:rPr>
                      </a:br>
                      <a:r>
                        <a:rPr sz="1200" b="0" i="0">
                          <a:solidFill>
                            <a:schemeClr val="bg1">
                              <a:lumMod val="50000"/>
                            </a:schemeClr>
                          </a:solidFill>
                          <a:latin typeface="Century Gothic" panose="020B0702020202020204"/>
                          <a:ea typeface="Century Gothic" panose="020B0702020202020204"/>
                        </a:rPr>
                        <a:t>Learn More: USOILRoll</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 -6.858M </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Time (GMT):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15:30</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Release Date</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29-Oct-25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-6.85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-0.90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-0.96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22-Oct-25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-0.96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2.200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3.524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16-Oct-25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3.524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0.300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3.715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08-Oct-25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3.715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2.250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1.792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01-Oct-25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1.792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1.500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-0.60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24-Sep-25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-0.60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0.800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 -9.28 </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a:solidFill>
                        <a:schemeClr val="bg1">
                          <a:lumMod val="75000"/>
                        </a:schemeClr>
                      </a:solidFill>
                      <a:prstDash val="solid"/>
                    </a:lnB>
                    <a:noFill/>
                  </a:tcPr>
                </a:tc>
              </a:tr>
            </a:tbl>
          </a:graphicData>
        </a:graphic>
      </p:graphicFrame>
      <p:cxnSp>
        <p:nvCxnSpPr>
          <p:cNvPr id="3" name="Straight Connector 2"/>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Crude Oil Inventories</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rPr>
              <a:t>USOILRoll</a:t>
            </a:r>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OILRoll_20250924_11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OILRoll_20251001_11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OILRoll_20251008_11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OILRoll_20251016_13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OILRoll_20251022_11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OILRoll_20251029_11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BoE Interest Rate Decision (Nov)</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25450" y="6483350"/>
            <a:ext cx="3750310" cy="366395"/>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2400" b="1" dirty="0">
                <a:solidFill>
                  <a:srgbClr val="002060"/>
                </a:solidFill>
                <a:latin typeface="Century Gothic" panose="020B0702020202020204" pitchFamily="34" charset="0"/>
                <a:cs typeface="Century Gothic" panose="020B0702020202020204" pitchFamily="34" charset="0"/>
              </a:rPr>
              <a:t>BoE Interest Rate Decision (Nov)</a:t>
            </a:r>
            <a:endParaRPr lang="en-US" alt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graphicFrame>
        <p:nvGraphicFramePr>
          <p:cNvPr id="15" name="Table 14"/>
          <p:cNvGraphicFramePr>
            <a:graphicFrameLocks noGrp="1"/>
          </p:cNvGraphicFramePr>
          <p:nvPr/>
        </p:nvGraphicFramePr>
        <p:xfrm>
          <a:off x="450215" y="889635"/>
          <a:ext cx="11475085" cy="5376545"/>
        </p:xfrm>
        <a:graphic>
          <a:graphicData uri="http://schemas.openxmlformats.org/drawingml/2006/table">
            <a:tbl>
              <a:tblPr/>
              <a:tblGrid>
                <a:gridCol w="1275080"/>
                <a:gridCol w="1275080"/>
                <a:gridCol w="1275080"/>
                <a:gridCol w="1275080"/>
                <a:gridCol w="6374765"/>
              </a:tblGrid>
              <a:tr h="445770">
                <a:tc>
                  <a:txBody>
                    <a:bodyPr/>
                    <a:p>
                      <a:pPr algn="l" fontAlgn="ctr"/>
                      <a:r>
                        <a:rPr sz="1200" b="1" i="0">
                          <a:solidFill>
                            <a:schemeClr val="bg1">
                              <a:lumMod val="50000"/>
                            </a:schemeClr>
                          </a:solidFill>
                          <a:latin typeface="Century Gothic" panose="020B0702020202020204"/>
                          <a:ea typeface="Century Gothic" panose="020B0702020202020204"/>
                        </a:rPr>
                        <a:t>Event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gridSpan="3">
                  <a:txBody>
                    <a:bodyPr/>
                    <a:p>
                      <a:pPr algn="r" fontAlgn="ctr"/>
                      <a:r>
                        <a:rPr sz="1200" b="1" i="0">
                          <a:solidFill>
                            <a:schemeClr val="bg1">
                              <a:lumMod val="50000"/>
                            </a:schemeClr>
                          </a:solidFill>
                          <a:latin typeface="Century Gothic" panose="020B0702020202020204"/>
                          <a:ea typeface="Century Gothic" panose="020B0702020202020204"/>
                        </a:rPr>
                        <a:t>BoE Interest Rate Decision (Nov)</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c hMerge="1">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hMerge="1">
                  <a:tcPr anchor="ctr">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65000"/>
                      </a:schemeClr>
                    </a:solidFill>
                  </a:tcPr>
                </a:tc>
                <a:tc>
                  <a:txBody>
                    <a:bodyPr/>
                    <a:p>
                      <a:pPr algn="ctr" fontAlgn="ctr"/>
                      <a:r>
                        <a:rPr sz="1200" b="1" i="0">
                          <a:solidFill>
                            <a:schemeClr val="bg1">
                              <a:lumMod val="50000"/>
                            </a:schemeClr>
                          </a:solidFill>
                          <a:latin typeface="Century Gothic" panose="020B0702020202020204"/>
                          <a:ea typeface="Century Gothic" panose="020B0702020202020204"/>
                        </a:rPr>
                        <a:t>Description</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lumMod val="95000"/>
                      </a:schemeClr>
                    </a:solidFill>
                  </a:tcPr>
                </a:tc>
              </a:tr>
              <a:tr h="473075">
                <a:tc>
                  <a:txBody>
                    <a:bodyPr/>
                    <a:p>
                      <a:pPr algn="l"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rowSpan="11">
                  <a:txBody>
                    <a:bodyPr/>
                    <a:p>
                      <a:pPr algn="ctr" fontAlgn="ctr"/>
                      <a:r>
                        <a:rPr sz="1200" b="0" i="0">
                          <a:solidFill>
                            <a:schemeClr val="bg1">
                              <a:lumMod val="50000"/>
                            </a:schemeClr>
                          </a:solidFill>
                          <a:latin typeface="Century Gothic" panose="020B0702020202020204"/>
                          <a:ea typeface="Century Gothic" panose="020B0702020202020204"/>
                        </a:rPr>
                        <a:t>UK central bank sets interest rate, impacts GBP currency value. Higher than forecast is bullish for GBP. </a:t>
                      </a:r>
                      <a:br>
                        <a:rPr sz="1200" b="0" i="0">
                          <a:solidFill>
                            <a:schemeClr val="bg1">
                              <a:lumMod val="50000"/>
                            </a:schemeClr>
                          </a:solidFill>
                          <a:latin typeface="Century Gothic" panose="020B0702020202020204"/>
                          <a:ea typeface="Century Gothic" panose="020B0702020202020204"/>
                        </a:rPr>
                      </a:br>
                      <a:br>
                        <a:rPr sz="1200" b="0" i="0">
                          <a:solidFill>
                            <a:schemeClr val="bg1">
                              <a:lumMod val="50000"/>
                            </a:schemeClr>
                          </a:solidFill>
                          <a:latin typeface="Century Gothic" panose="020B0702020202020204"/>
                          <a:ea typeface="Century Gothic" panose="020B0702020202020204"/>
                        </a:rPr>
                      </a:br>
                      <a:r>
                        <a:rPr sz="1200" b="0" i="0">
                          <a:solidFill>
                            <a:schemeClr val="bg1">
                              <a:lumMod val="50000"/>
                            </a:schemeClr>
                          </a:solidFill>
                          <a:latin typeface="Century Gothic" panose="020B0702020202020204"/>
                          <a:ea typeface="Century Gothic" panose="020B0702020202020204"/>
                        </a:rPr>
                        <a:t>Learn More: GBPUSD | GBPCHF | EURGBP</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4.00%</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Time (GMT):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gridSpan="3">
                  <a:txBody>
                    <a:bodyPr/>
                    <a:p>
                      <a:pPr algn="r" fontAlgn="ctr"/>
                      <a:r>
                        <a:rPr sz="1200" b="1" i="0">
                          <a:solidFill>
                            <a:schemeClr val="bg1">
                              <a:lumMod val="50000"/>
                            </a:schemeClr>
                          </a:solidFill>
                          <a:latin typeface="Century Gothic" panose="020B0702020202020204"/>
                          <a:ea typeface="Century Gothic" panose="020B0702020202020204"/>
                        </a:rPr>
                        <a:t>12:00</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a:solidFill>
                        <a:schemeClr val="bg1">
                          <a:lumMod val="75000"/>
                        </a:schemeClr>
                      </a:solidFill>
                      <a:prstDash val="solid"/>
                    </a:lnT>
                    <a:lnB w="12700">
                      <a:solidFill>
                        <a:schemeClr val="bg1">
                          <a:lumMod val="75000"/>
                        </a:schemeClr>
                      </a:solidFill>
                      <a:prstDash val="solid"/>
                    </a:lnB>
                    <a:noFill/>
                  </a:tcPr>
                </a:tc>
                <a:tc hMerge="1">
                  <a:tcPr anchor="ctr" anchorCtr="0">
                    <a:lnL w="12700" cap="flat" cmpd="sng" algn="ctr">
                      <a:solidFill>
                        <a:schemeClr val="bg1">
                          <a:lumMod val="50000"/>
                        </a:schemeClr>
                      </a:solidFill>
                      <a:prstDash val="solid"/>
                      <a:round/>
                      <a:headEnd type="none" w="med" len="med"/>
                      <a:tailEnd type="none" w="med" len="me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Release Date</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Actual</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Forecast</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1" i="0">
                          <a:solidFill>
                            <a:schemeClr val="bg1">
                              <a:lumMod val="50000"/>
                            </a:schemeClr>
                          </a:solidFill>
                          <a:latin typeface="Century Gothic" panose="020B0702020202020204"/>
                          <a:ea typeface="Century Gothic" panose="020B0702020202020204"/>
                        </a:rPr>
                        <a:t>Previous</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18-Sep-25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4.00%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4.00%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4.00%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07-Aug-25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4.00%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4.00%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4.25%</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19-Jun-25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4.25%</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4.25%</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4.25%</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08-May-25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4.25%</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4.25%</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4.50%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20-Mar-25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4.50%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4.50%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4.50%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r>
              <a:tr h="445770">
                <a:tc>
                  <a:txBody>
                    <a:bodyPr/>
                    <a:p>
                      <a:pPr algn="l" fontAlgn="ctr"/>
                      <a:r>
                        <a:rPr sz="1200" b="1" i="0">
                          <a:solidFill>
                            <a:schemeClr val="bg1">
                              <a:lumMod val="50000"/>
                            </a:schemeClr>
                          </a:solidFill>
                          <a:latin typeface="Century Gothic" panose="020B0702020202020204"/>
                          <a:ea typeface="Century Gothic" panose="020B0702020202020204"/>
                        </a:rPr>
                        <a:t>06-Feb-25</a:t>
                      </a:r>
                      <a:endParaRPr sz="1200" b="1"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4.50%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4.50%</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a:txBody>
                    <a:bodyPr/>
                    <a:p>
                      <a:pPr algn="r" fontAlgn="ctr"/>
                      <a:r>
                        <a:rPr sz="1200" b="0" i="0">
                          <a:solidFill>
                            <a:schemeClr val="bg1">
                              <a:lumMod val="50000"/>
                            </a:schemeClr>
                          </a:solidFill>
                          <a:latin typeface="Century Gothic" panose="020B0702020202020204"/>
                          <a:ea typeface="Century Gothic" panose="020B0702020202020204"/>
                        </a:rPr>
                        <a:t>4.75%</a:t>
                      </a:r>
                      <a:endParaRPr sz="1200" b="0" i="0">
                        <a:solidFill>
                          <a:schemeClr val="bg1">
                            <a:lumMod val="50000"/>
                          </a:schemeClr>
                        </a:solidFill>
                        <a:latin typeface="Century Gothic" panose="020B0702020202020204"/>
                        <a:ea typeface="Century Gothic" panose="020B0702020202020204"/>
                      </a:endParaRPr>
                    </a:p>
                  </a:txBody>
                  <a:tcPr anchor="ctr" anchorCtr="0">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noFill/>
                  </a:tcPr>
                </a:tc>
                <a:tc vMerge="1">
                  <a:tcPr anchor="ctr" anchorCtr="0">
                    <a:lnL w="12700">
                      <a:solidFill>
                        <a:schemeClr val="bg1">
                          <a:lumMod val="75000"/>
                        </a:schemeClr>
                      </a:solidFill>
                      <a:prstDash val="solid"/>
                    </a:lnL>
                    <a:lnR w="12700">
                      <a:solidFill>
                        <a:schemeClr val="bg1">
                          <a:lumMod val="75000"/>
                        </a:schemeClr>
                      </a:solidFill>
                      <a:prstDash val="solid"/>
                    </a:lnR>
                    <a:lnT w="12700" cap="flat" cmpd="sng" algn="ctr">
                      <a:solidFill>
                        <a:schemeClr val="bg1">
                          <a:lumMod val="50000"/>
                        </a:schemeClr>
                      </a:solidFill>
                      <a:prstDash val="solid"/>
                      <a:round/>
                      <a:headEnd type="none" w="med" len="med"/>
                      <a:tailEnd type="none" w="med" len="med"/>
                    </a:lnT>
                    <a:lnB w="12700">
                      <a:solidFill>
                        <a:schemeClr val="bg1">
                          <a:lumMod val="75000"/>
                        </a:schemeClr>
                      </a:solidFill>
                      <a:prstDash val="solid"/>
                    </a:lnB>
                    <a:noFill/>
                  </a:tcPr>
                </a:tc>
              </a:tr>
            </a:tbl>
          </a:graphicData>
        </a:graphic>
      </p:graphicFrame>
      <p:cxnSp>
        <p:nvCxnSpPr>
          <p:cNvPr id="3" name="Straight Connector 2"/>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BoE Interest Rate Decision (Nov)</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rPr>
              <a:t>GBPJPY</a:t>
            </a:r>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206_12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320_12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508_1102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619_11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807_11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918_11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
        <p:nvSpPr>
          <p:cNvPr id="6" name="Rectangle 4"/>
          <p:cNvSpPr/>
          <p:nvPr/>
        </p:nvSpPr>
        <p:spPr>
          <a:xfrm>
            <a:off x="335915" y="923290"/>
            <a:ext cx="11407140" cy="1283970"/>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r>
              <a:rPr lang="en-US" altLang="en-US" sz="2400" b="1" dirty="0">
                <a:solidFill>
                  <a:srgbClr val="002060"/>
                </a:solidFill>
                <a:latin typeface="Century Gothic" panose="020B0702020202020204" pitchFamily="34" charset="0"/>
                <a:cs typeface="Century Gothic" panose="020B0702020202020204" pitchFamily="34" charset="0"/>
                <a:sym typeface="+mn-ea"/>
              </a:rPr>
              <a:t>BoE Interest Rate Decision (Nov)</a:t>
            </a:r>
            <a:endParaRPr lang="en-US" altLang="en-US" sz="2400" b="1" dirty="0">
              <a:solidFill>
                <a:srgbClr val="002060"/>
              </a:solidFill>
              <a:latin typeface="Century Gothic" panose="020B0702020202020204" pitchFamily="34" charset="0"/>
              <a:cs typeface="Century Gothic" panose="020B0702020202020204" pitchFamily="34" charset="0"/>
              <a:sym typeface="+mn-ea"/>
            </a:endParaRPr>
          </a:p>
          <a:p>
            <a:r>
              <a:rPr lang="en-US" sz="2400" b="1" dirty="0">
                <a:solidFill>
                  <a:srgbClr val="002060"/>
                </a:solidFill>
                <a:latin typeface="Century Gothic" panose="020B0702020202020204" pitchFamily="34" charset="0"/>
                <a:cs typeface="Century Gothic" panose="020B0702020202020204" pitchFamily="34" charset="0"/>
                <a:sym typeface="+mn-ea"/>
              </a:rPr>
              <a:t>GBPUSD</a:t>
            </a:r>
            <a:endParaRPr lang="en-US" sz="2400" b="1" dirty="0">
              <a:solidFill>
                <a:srgbClr val="002060"/>
              </a:solidFill>
              <a:latin typeface="Century Gothic" panose="020B0702020202020204" pitchFamily="34" charset="0"/>
              <a:cs typeface="Century Gothic" panose="020B0702020202020204" pitchFamily="34" charset="0"/>
              <a:sym typeface="+mn-ea"/>
            </a:endParaRPr>
          </a:p>
          <a:p>
            <a:endParaRPr lang="en-US" sz="2400" b="1" dirty="0">
              <a:solidFill>
                <a:srgbClr val="002060"/>
              </a:solidFill>
              <a:latin typeface="Century Gothic" panose="020B0702020202020204" pitchFamily="34" charset="0"/>
              <a:cs typeface="Century Gothic" panose="020B0702020202020204" pitchFamily="34" charset="0"/>
            </a:endParaRPr>
          </a:p>
          <a:p>
            <a:endParaRPr lang="en-US" sz="2400" b="1" dirty="0">
              <a:solidFill>
                <a:srgbClr val="002060"/>
              </a:solidFill>
              <a:latin typeface="Century Gothic" panose="020B0702020202020204" pitchFamily="34" charset="0"/>
              <a:cs typeface="Century Gothic" panose="020B0702020202020204" pitchFamily="34" charset="0"/>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USD_20250206_12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USD_20250320_12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USD_20250508_1102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USD_20250619_11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USD_20250807_11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USD_20250918_11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highlight>
                  <a:srgbClr val="FFFF00"/>
                </a:highlight>
                <a:latin typeface="Century Gothic" panose="020B0702020202020204" pitchFamily="34" charset="0"/>
                <a:cs typeface="Century Gothic" panose="020B0702020202020204" pitchFamily="34" charset="0"/>
              </a:rPr>
              <a:t> </a:t>
            </a:r>
            <a:endParaRPr lang="en-US" sz="600" i="1" dirty="0">
              <a:solidFill>
                <a:srgbClr val="002060"/>
              </a:solidFill>
              <a:highlight>
                <a:srgbClr val="FFFF00"/>
              </a:highlight>
              <a:latin typeface="Century Gothic" panose="020B0702020202020204" pitchFamily="34" charset="0"/>
              <a:cs typeface="Century Gothic" panose="020B0702020202020204" pitchFamily="34" charset="0"/>
            </a:endParaRPr>
          </a:p>
        </p:txBody>
      </p:sp>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rgbClr val="002060"/>
                </a:solidFill>
                <a:latin typeface="Century Gothic" panose="020B0702020202020204" pitchFamily="34" charset="0"/>
                <a:sym typeface="+mn-ea"/>
              </a:rPr>
              <a:t>Important Information</a:t>
            </a:r>
            <a:endParaRPr 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cxnSp>
        <p:nvCxnSpPr>
          <p:cNvPr id="2" name="Straight Connector 1"/>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graphicFrame>
        <p:nvGraphicFramePr>
          <p:cNvPr id="15" name="Table 14"/>
          <p:cNvGraphicFramePr>
            <a:graphicFrameLocks noGrp="1"/>
          </p:cNvGraphicFramePr>
          <p:nvPr/>
        </p:nvGraphicFramePr>
        <p:xfrm>
          <a:off x="450215" y="889635"/>
          <a:ext cx="11475085" cy="5602605"/>
        </p:xfrm>
        <a:graphic>
          <a:graphicData uri="http://schemas.openxmlformats.org/drawingml/2006/table">
            <a:tbl>
              <a:tblPr/>
              <a:tblGrid>
                <a:gridCol w="11475085"/>
              </a:tblGrid>
              <a:tr h="5602605">
                <a:tc>
                  <a:txBody>
                    <a:bodyPr/>
                    <a:p>
                      <a:pPr algn="l" fontAlgn="ctr">
                        <a:lnSpc>
                          <a:spcPct val="100000"/>
                        </a:lnSpc>
                      </a:pP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r>
                        <a:rPr lang="en-US" altLang="en-US" sz="1600" b="1"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Quantwater Tech Investments</a:t>
                      </a:r>
                      <a:endParaRPr lang="en-US" altLang="en-US" sz="1600" b="1"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r>
                        <a:rPr lang="en-US" altLang="en-US" sz="1600" b="1"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Data Release Deck – 2nd November 2025</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This document is for informational purposes only and does not constitute investment advice, an offer, or a solicitation to buy or sell any securities or financial instruments.</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b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b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Past performance is not indicative of future results. Investments involve inherent risks, including the possible loss of principal. No representation or warranty, express or implied, is made regarding the accuracy, completeness, or reliability of the information contained herein.</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b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b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The information in this presentation is derived from publicly available sources and internal analysis as of the date indicated and is subject to change without notice. Quantwater Tech Investments and its affiliates do not undertake any obligation to update or revise this material.</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b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b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Neither Quantwater Tech Investments nor any of its affiliates, officers, or employees shall be liable for any direct or indirect losses arising from the use of this information. Any misrepresentation is strictly prohibited.</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p>
                      <a:pPr algn="l" fontAlgn="ctr">
                        <a:lnSpc>
                          <a:spcPct val="100000"/>
                        </a:lnSpc>
                      </a:pP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txBody>
                  <a:tcPr marL="0" marR="0" marT="0" marB="0" anchor="ctr">
                    <a:lnL>
                      <a:noFill/>
                    </a:lnL>
                    <a:lnR>
                      <a:noFill/>
                    </a:lnR>
                    <a:lnT>
                      <a:noFill/>
                    </a:lnT>
                    <a:lnB>
                      <a:noFill/>
                    </a:lnB>
                    <a:lnTlToBr>
                      <a:noFill/>
                    </a:lnTlToBr>
                    <a:lnBlToTr>
                      <a:noFill/>
                    </a:lnBlToTr>
                    <a:noFill/>
                  </a:tcPr>
                </a:tc>
              </a:tr>
            </a:tbl>
          </a:graphicData>
        </a:graphic>
      </p:graphicFrame>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64680" y="134110"/>
            <a:ext cx="11407299" cy="366084"/>
          </a:xfrm>
          <a:prstGeom prst="rect">
            <a:avLst/>
          </a:prstGeom>
          <a:noFill/>
          <a:ln>
            <a:noFill/>
          </a:ln>
          <a:scene3d>
            <a:camera prst="orthographicFront"/>
            <a:lightRig rig="threePt" dir="t"/>
          </a:scene3d>
          <a:sp3d>
            <a:contourClr>
              <a:srgbClr val="000000"/>
            </a:contourClr>
          </a:sp3d>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rgbClr val="002060"/>
                </a:solidFill>
                <a:latin typeface="Century Gothic" panose="020B0702020202020204" pitchFamily="34" charset="0"/>
                <a:sym typeface="+mn-ea"/>
              </a:rPr>
              <a:t>Key Economic &amp; Analytical Concepts</a:t>
            </a:r>
            <a:endParaRPr lang="en-US" sz="2400" b="1" dirty="0">
              <a:solidFill>
                <a:srgbClr val="002060"/>
              </a:solidFill>
              <a:latin typeface="Century Gothic" panose="020B0702020202020204" pitchFamily="34" charset="0"/>
              <a:cs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br>
              <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rPr>
            </a:br>
            <a:endParaRPr kumimoji="0" lang="en-US" altLang="en-US" sz="1800" b="0" i="0" u="none" strike="noStrike" cap="none" normalizeH="0" baseline="0">
              <a:ln>
                <a:noFill/>
              </a:ln>
              <a:solidFill>
                <a:schemeClr val="tx1"/>
              </a:solidFill>
              <a:effectLst/>
              <a:highlight>
                <a:srgbClr val="FFFF00"/>
              </a:highlight>
              <a:latin typeface="Century Gothic" panose="020B0702020202020204" pitchFamily="34" charset="0"/>
              <a:cs typeface="Century Gothic" panose="020B0702020202020204" pitchFamily="34" charset="0"/>
            </a:endParaRPr>
          </a:p>
        </p:txBody>
      </p:sp>
      <p:cxnSp>
        <p:nvCxnSpPr>
          <p:cNvPr id="2" name="Straight Connector 1"/>
          <p:cNvCxnSpPr/>
          <p:nvPr/>
        </p:nvCxnSpPr>
        <p:spPr>
          <a:xfrm>
            <a:off x="368300" y="689610"/>
            <a:ext cx="11920220" cy="25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graphicFrame>
        <p:nvGraphicFramePr>
          <p:cNvPr id="15" name="Table 14"/>
          <p:cNvGraphicFramePr>
            <a:graphicFrameLocks noGrp="1"/>
          </p:cNvGraphicFramePr>
          <p:nvPr/>
        </p:nvGraphicFramePr>
        <p:xfrm>
          <a:off x="450215" y="873125"/>
          <a:ext cx="5340985" cy="508635"/>
        </p:xfrm>
        <a:graphic>
          <a:graphicData uri="http://schemas.openxmlformats.org/drawingml/2006/table">
            <a:tbl>
              <a:tblPr/>
              <a:tblGrid>
                <a:gridCol w="5303520"/>
              </a:tblGrid>
              <a:tr h="508635">
                <a:tc>
                  <a:txBody>
                    <a:bodyPr/>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  Economic Data Interpretation</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txBody>
                  <a:tcPr marL="0" marR="0" marT="0" marB="0"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
        <p:nvSpPr>
          <p:cNvPr id="4" name="Rectangle 1"/>
          <p:cNvSpPr/>
          <p:nvPr/>
        </p:nvSpPr>
        <p:spPr>
          <a:xfrm>
            <a:off x="439940" y="1538605"/>
            <a:ext cx="5340375" cy="513080"/>
          </a:xfrm>
          <a:prstGeom prst="rect">
            <a:avLst/>
          </a:prstGeom>
          <a:solidFill>
            <a:schemeClr val="bg1">
              <a:lumMod val="95000"/>
            </a:schemeClr>
          </a:solidFill>
          <a:ln>
            <a:solidFill>
              <a:schemeClr val="bg1">
                <a:lumMod val="95000"/>
              </a:schemeClr>
            </a:solid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p>
            <a:pPr marL="171450" indent="-171450">
              <a:buFont typeface="Arial" panose="020B0704020202020204" pitchFamily="34" charset="0"/>
              <a:buChar char="•"/>
            </a:pPr>
            <a:r>
              <a:rPr lang="en-US" sz="800" b="1" i="0" u="none" strike="noStrike" dirty="0">
                <a:solidFill>
                  <a:srgbClr val="002060"/>
                </a:solidFill>
                <a:effectLst/>
                <a:latin typeface="Century Gothic" panose="020B0702020202020204" pitchFamily="34" charset="0"/>
              </a:rPr>
              <a:t>Forecast Vs. Actual</a:t>
            </a:r>
            <a:r>
              <a:rPr lang="en-US" sz="800" b="0" i="0" u="none" strike="noStrike" dirty="0">
                <a:solidFill>
                  <a:srgbClr val="002060"/>
                </a:solidFill>
                <a:effectLst/>
                <a:latin typeface="Century Gothic" panose="020B0702020202020204" pitchFamily="34" charset="0"/>
              </a:rPr>
              <a:t>: Comparing predicted values with released data</a:t>
            </a:r>
            <a:endParaRPr lang="en-US" sz="800" b="0" i="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r>
              <a:rPr lang="en-US" sz="800" b="1" dirty="0">
                <a:solidFill>
                  <a:srgbClr val="002060"/>
                </a:solidFill>
                <a:latin typeface="Century Gothic" panose="020B0702020202020204" pitchFamily="34" charset="0"/>
              </a:rPr>
              <a:t>Previous Reading: </a:t>
            </a:r>
            <a:r>
              <a:rPr lang="en-US" sz="800" dirty="0">
                <a:solidFill>
                  <a:srgbClr val="002060"/>
                </a:solidFill>
                <a:latin typeface="Century Gothic" panose="020B0702020202020204" pitchFamily="34" charset="0"/>
              </a:rPr>
              <a:t>Last reported value</a:t>
            </a:r>
            <a:endParaRPr lang="en-US" sz="800" dirty="0">
              <a:solidFill>
                <a:srgbClr val="002060"/>
              </a:solidFill>
              <a:latin typeface="Century Gothic" panose="020B0702020202020204" pitchFamily="34" charset="0"/>
            </a:endParaRPr>
          </a:p>
          <a:p>
            <a:pPr marL="171450" indent="-171450">
              <a:buFont typeface="Arial" panose="020B0704020202020204" pitchFamily="34" charset="0"/>
              <a:buChar char="•"/>
            </a:pPr>
            <a:r>
              <a:rPr lang="en-US" sz="800" b="1" dirty="0">
                <a:solidFill>
                  <a:srgbClr val="002060"/>
                </a:solidFill>
                <a:latin typeface="Century Gothic" panose="020B0702020202020204" pitchFamily="34" charset="0"/>
              </a:rPr>
              <a:t>Market Impact</a:t>
            </a:r>
            <a:r>
              <a:rPr lang="en-US" sz="800" dirty="0">
                <a:solidFill>
                  <a:srgbClr val="002060"/>
                </a:solidFill>
                <a:latin typeface="Century Gothic" panose="020B0702020202020204" pitchFamily="34" charset="0"/>
              </a:rPr>
              <a:t>: How releases affect financial markets </a:t>
            </a:r>
            <a:endParaRPr lang="en-US" sz="800" b="1" i="0" u="none" strike="noStrike" dirty="0">
              <a:solidFill>
                <a:srgbClr val="002060"/>
              </a:solidFill>
              <a:effectLst/>
              <a:latin typeface="Century Gothic" panose="020B0702020202020204" pitchFamily="34" charset="0"/>
            </a:endParaRPr>
          </a:p>
        </p:txBody>
      </p:sp>
      <p:graphicFrame>
        <p:nvGraphicFramePr>
          <p:cNvPr id="6" name="Table 5"/>
          <p:cNvGraphicFramePr>
            <a:graphicFrameLocks noGrp="1"/>
          </p:cNvGraphicFramePr>
          <p:nvPr/>
        </p:nvGraphicFramePr>
        <p:xfrm>
          <a:off x="439420" y="2208530"/>
          <a:ext cx="5296535" cy="518160"/>
        </p:xfrm>
        <a:graphic>
          <a:graphicData uri="http://schemas.openxmlformats.org/drawingml/2006/table">
            <a:tbl>
              <a:tblPr/>
              <a:tblGrid>
                <a:gridCol w="5296535"/>
              </a:tblGrid>
              <a:tr h="518160">
                <a:tc>
                  <a:txBody>
                    <a:bodyPr/>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  Average True Range (ATR)</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txBody>
                  <a:tcPr marL="0" marR="0" marT="0" marB="0" anchor="ctr" anchorCtr="0">
                    <a:lnL>
                      <a:noFill/>
                    </a:lnL>
                    <a:lnR>
                      <a:noFill/>
                    </a:lnR>
                    <a:lnT>
                      <a:noFill/>
                    </a:lnT>
                    <a:lnB>
                      <a:noFill/>
                    </a:lnB>
                    <a:lnTlToBr>
                      <a:noFill/>
                    </a:lnTlToBr>
                    <a:lnBlToTr>
                      <a:noFill/>
                    </a:lnBlToTr>
                    <a:solidFill>
                      <a:schemeClr val="bg1">
                        <a:lumMod val="95000"/>
                      </a:schemeClr>
                    </a:solidFill>
                  </a:tcPr>
                </a:tc>
              </a:tr>
            </a:tbl>
          </a:graphicData>
        </a:graphic>
      </p:graphicFrame>
      <p:sp>
        <p:nvSpPr>
          <p:cNvPr id="8" name="Rectangle 1"/>
          <p:cNvSpPr/>
          <p:nvPr/>
        </p:nvSpPr>
        <p:spPr>
          <a:xfrm>
            <a:off x="429260" y="2894330"/>
            <a:ext cx="5340350" cy="2225675"/>
          </a:xfrm>
          <a:prstGeom prst="rect">
            <a:avLst/>
          </a:prstGeom>
          <a:solidFill>
            <a:schemeClr val="bg1">
              <a:lumMod val="95000"/>
            </a:schemeClr>
          </a:solidFill>
          <a:ln>
            <a:solidFill>
              <a:schemeClr val="bg1">
                <a:lumMod val="95000"/>
              </a:schemeClr>
            </a:solid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p>
            <a:pPr marL="171450" indent="-171450">
              <a:buFont typeface="Arial" panose="020B0704020202020204" pitchFamily="34" charset="0"/>
              <a:buChar char="•"/>
            </a:pPr>
            <a:r>
              <a:rPr lang="en-US" sz="800" b="1" dirty="0">
                <a:solidFill>
                  <a:srgbClr val="002060"/>
                </a:solidFill>
                <a:effectLst/>
                <a:latin typeface="Century Gothic" panose="020B0702020202020204" pitchFamily="34" charset="0"/>
                <a:sym typeface="+mn-ea"/>
              </a:rPr>
              <a:t>Definition</a:t>
            </a:r>
            <a:r>
              <a:rPr lang="en-US" sz="800" dirty="0">
                <a:solidFill>
                  <a:srgbClr val="002060"/>
                </a:solidFill>
                <a:effectLst/>
                <a:latin typeface="Century Gothic" panose="020B0702020202020204" pitchFamily="34" charset="0"/>
                <a:sym typeface="+mn-ea"/>
              </a:rPr>
              <a:t>: A technical indicator that measures market volatility</a:t>
            </a:r>
            <a:endParaRPr lang="en-US" sz="800" i="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endParaRPr lang="en-US" sz="800" i="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r>
              <a:rPr lang="en-US" sz="800" b="1" dirty="0">
                <a:solidFill>
                  <a:srgbClr val="002060"/>
                </a:solidFill>
                <a:latin typeface="Century Gothic" panose="020B0702020202020204" pitchFamily="34" charset="0"/>
                <a:sym typeface="+mn-ea"/>
              </a:rPr>
              <a:t>Calculations</a:t>
            </a:r>
            <a:r>
              <a:rPr lang="en-US" sz="800" dirty="0">
                <a:solidFill>
                  <a:srgbClr val="002060"/>
                </a:solidFill>
                <a:latin typeface="Century Gothic" panose="020B0702020202020204" pitchFamily="34" charset="0"/>
                <a:sym typeface="+mn-ea"/>
              </a:rPr>
              <a:t>:</a:t>
            </a:r>
            <a:endParaRPr lang="en-US" sz="800" dirty="0">
              <a:solidFill>
                <a:srgbClr val="002060"/>
              </a:solidFill>
              <a:latin typeface="Century Gothic" panose="020B0702020202020204" pitchFamily="34" charset="0"/>
            </a:endParaRPr>
          </a:p>
          <a:p>
            <a:pPr marL="628650" lvl="1" indent="-171450">
              <a:buFont typeface="Arial" panose="020B0704020202020204" pitchFamily="34" charset="0"/>
              <a:buChar char="•"/>
            </a:pPr>
            <a:r>
              <a:rPr lang="en-US" sz="800" dirty="0">
                <a:solidFill>
                  <a:srgbClr val="002060"/>
                </a:solidFill>
                <a:effectLst/>
                <a:latin typeface="Century Gothic" panose="020B0702020202020204" pitchFamily="34" charset="0"/>
                <a:sym typeface="+mn-ea"/>
              </a:rPr>
              <a:t>Calculate True Range (TR) for each period:</a:t>
            </a:r>
            <a:endParaRPr lang="en-US" sz="800" i="0" u="none" strike="noStrike" dirty="0">
              <a:solidFill>
                <a:srgbClr val="002060"/>
              </a:solidFill>
              <a:effectLst/>
              <a:latin typeface="Century Gothic" panose="020B0702020202020204" pitchFamily="34" charset="0"/>
            </a:endParaRPr>
          </a:p>
          <a:p>
            <a:pPr marL="1085850" lvl="2" indent="-171450">
              <a:buFont typeface="Arial" panose="020B0704020202020204" pitchFamily="34" charset="0"/>
              <a:buChar char="•"/>
            </a:pPr>
            <a:r>
              <a:rPr lang="en-US" sz="800" dirty="0">
                <a:solidFill>
                  <a:srgbClr val="002060"/>
                </a:solidFill>
                <a:latin typeface="Century Gothic" panose="020B0702020202020204" pitchFamily="34" charset="0"/>
                <a:sym typeface="+mn-ea"/>
              </a:rPr>
              <a:t>TR = max [(high - low), abs(high – previous close), abs(low – previous close)]</a:t>
            </a:r>
            <a:endParaRPr lang="en-US" sz="800" dirty="0">
              <a:solidFill>
                <a:srgbClr val="002060"/>
              </a:solidFill>
              <a:latin typeface="Century Gothic" panose="020B0702020202020204" pitchFamily="34" charset="0"/>
            </a:endParaRPr>
          </a:p>
          <a:p>
            <a:pPr marL="628650" lvl="1" indent="-171450">
              <a:buFont typeface="Arial" panose="020B0704020202020204" pitchFamily="34" charset="0"/>
              <a:buChar char="•"/>
            </a:pPr>
            <a:r>
              <a:rPr lang="en-US" sz="800" dirty="0">
                <a:solidFill>
                  <a:srgbClr val="002060"/>
                </a:solidFill>
                <a:effectLst/>
                <a:latin typeface="Century Gothic" panose="020B0702020202020204" pitchFamily="34" charset="0"/>
                <a:sym typeface="+mn-ea"/>
              </a:rPr>
              <a:t>ATR = Simple moving average of TR over N periods (typically 14)</a:t>
            </a:r>
            <a:endParaRPr lang="en-US" sz="800" i="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r>
              <a:rPr lang="en-US" sz="800" b="1" dirty="0">
                <a:solidFill>
                  <a:srgbClr val="002060"/>
                </a:solidFill>
                <a:effectLst/>
                <a:latin typeface="Century Gothic" panose="020B0702020202020204" pitchFamily="34" charset="0"/>
                <a:sym typeface="+mn-ea"/>
              </a:rPr>
              <a:t>Interpretation</a:t>
            </a:r>
            <a:r>
              <a:rPr lang="en-US" sz="800" dirty="0">
                <a:solidFill>
                  <a:srgbClr val="002060"/>
                </a:solidFill>
                <a:effectLst/>
                <a:latin typeface="Century Gothic" panose="020B0702020202020204" pitchFamily="34" charset="0"/>
                <a:sym typeface="+mn-ea"/>
              </a:rPr>
              <a:t>:</a:t>
            </a:r>
            <a:endParaRPr lang="en-US" sz="800" i="0" u="none" strike="noStrike" dirty="0">
              <a:solidFill>
                <a:srgbClr val="002060"/>
              </a:solidFill>
              <a:effectLst/>
              <a:latin typeface="Century Gothic" panose="020B0702020202020204" pitchFamily="34" charset="0"/>
            </a:endParaRPr>
          </a:p>
          <a:p>
            <a:pPr marL="628650" lvl="1" indent="-171450">
              <a:buFont typeface="Arial" panose="020B0704020202020204" pitchFamily="34" charset="0"/>
              <a:buChar char="•"/>
            </a:pPr>
            <a:r>
              <a:rPr lang="en-US" sz="800" dirty="0">
                <a:solidFill>
                  <a:srgbClr val="002060"/>
                </a:solidFill>
                <a:latin typeface="Century Gothic" panose="020B0702020202020204" pitchFamily="34" charset="0"/>
                <a:sym typeface="+mn-ea"/>
              </a:rPr>
              <a:t>Higher ATR = Higher Volatility </a:t>
            </a:r>
            <a:endParaRPr lang="en-US" sz="800" dirty="0">
              <a:solidFill>
                <a:srgbClr val="002060"/>
              </a:solidFill>
              <a:latin typeface="Century Gothic" panose="020B0702020202020204" pitchFamily="34" charset="0"/>
            </a:endParaRPr>
          </a:p>
          <a:p>
            <a:pPr marL="628650" lvl="1" indent="-171450">
              <a:buFont typeface="Arial" panose="020B0704020202020204" pitchFamily="34" charset="0"/>
              <a:buChar char="•"/>
            </a:pPr>
            <a:r>
              <a:rPr lang="en-US" sz="800" dirty="0">
                <a:solidFill>
                  <a:srgbClr val="002060"/>
                </a:solidFill>
                <a:effectLst/>
                <a:latin typeface="Century Gothic" panose="020B0702020202020204" pitchFamily="34" charset="0"/>
                <a:sym typeface="+mn-ea"/>
              </a:rPr>
              <a:t>Lower ATR = Lower Volatility </a:t>
            </a:r>
            <a:endParaRPr lang="en-US" sz="800" i="0" u="none" strike="noStrike" dirty="0">
              <a:solidFill>
                <a:srgbClr val="002060"/>
              </a:solidFill>
              <a:effectLst/>
              <a:latin typeface="Century Gothic" panose="020B0702020202020204" pitchFamily="34" charset="0"/>
            </a:endParaRPr>
          </a:p>
          <a:p>
            <a:pPr marL="628650" lvl="1" indent="-171450">
              <a:buFont typeface="Arial" panose="020B0704020202020204" pitchFamily="34" charset="0"/>
              <a:buChar char="•"/>
            </a:pPr>
            <a:endParaRPr lang="en-US" sz="800" i="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r>
              <a:rPr lang="en-US" sz="800" b="1" dirty="0">
                <a:solidFill>
                  <a:srgbClr val="002060"/>
                </a:solidFill>
                <a:effectLst/>
                <a:latin typeface="Century Gothic" panose="020B0702020202020204" pitchFamily="34" charset="0"/>
                <a:sym typeface="+mn-ea"/>
              </a:rPr>
              <a:t>Usage in Our Analysis</a:t>
            </a:r>
            <a:r>
              <a:rPr lang="en-US" sz="800" dirty="0">
                <a:solidFill>
                  <a:srgbClr val="002060"/>
                </a:solidFill>
                <a:effectLst/>
                <a:latin typeface="Century Gothic" panose="020B0702020202020204" pitchFamily="34" charset="0"/>
                <a:sym typeface="+mn-ea"/>
              </a:rPr>
              <a:t>:</a:t>
            </a:r>
            <a:endParaRPr lang="en-US" sz="800" i="0" u="none" strike="noStrike" dirty="0">
              <a:solidFill>
                <a:srgbClr val="002060"/>
              </a:solidFill>
              <a:effectLst/>
              <a:latin typeface="Century Gothic" panose="020B0702020202020204" pitchFamily="34" charset="0"/>
            </a:endParaRPr>
          </a:p>
          <a:p>
            <a:pPr marL="628650" lvl="1" indent="-171450">
              <a:buFont typeface="Arial" panose="020B0704020202020204" pitchFamily="34" charset="0"/>
              <a:buChar char="•"/>
            </a:pPr>
            <a:r>
              <a:rPr lang="en-US" sz="800" dirty="0">
                <a:solidFill>
                  <a:srgbClr val="002060"/>
                </a:solidFill>
                <a:latin typeface="Century Gothic" panose="020B0702020202020204" pitchFamily="34" charset="0"/>
                <a:sym typeface="+mn-ea"/>
              </a:rPr>
              <a:t>Helps standardize price movements across different market conditions</a:t>
            </a:r>
            <a:endParaRPr lang="en-US" sz="800" dirty="0">
              <a:solidFill>
                <a:srgbClr val="002060"/>
              </a:solidFill>
              <a:latin typeface="Century Gothic" panose="020B0702020202020204" pitchFamily="34" charset="0"/>
            </a:endParaRPr>
          </a:p>
          <a:p>
            <a:pPr marL="628650" lvl="1" indent="-171450">
              <a:buFont typeface="Arial" panose="020B0704020202020204" pitchFamily="34" charset="0"/>
              <a:buChar char="•"/>
            </a:pPr>
            <a:r>
              <a:rPr lang="en-US" sz="800" dirty="0">
                <a:solidFill>
                  <a:srgbClr val="002060"/>
                </a:solidFill>
                <a:latin typeface="Century Gothic" panose="020B0702020202020204" pitchFamily="34" charset="0"/>
                <a:sym typeface="+mn-ea"/>
              </a:rPr>
              <a:t>Forms the basis of our Volatility Unit Calculations</a:t>
            </a:r>
            <a:endParaRPr lang="en-US" sz="800" b="1" i="0" u="none" strike="noStrike" dirty="0">
              <a:solidFill>
                <a:srgbClr val="002060"/>
              </a:solidFill>
              <a:effectLst/>
              <a:latin typeface="Century Gothic" panose="020B0702020202020204" pitchFamily="34" charset="0"/>
            </a:endParaRPr>
          </a:p>
        </p:txBody>
      </p:sp>
      <p:graphicFrame>
        <p:nvGraphicFramePr>
          <p:cNvPr id="9" name="Table 8"/>
          <p:cNvGraphicFramePr>
            <a:graphicFrameLocks noGrp="1"/>
          </p:cNvGraphicFramePr>
          <p:nvPr/>
        </p:nvGraphicFramePr>
        <p:xfrm>
          <a:off x="450215" y="5256530"/>
          <a:ext cx="5285105" cy="508635"/>
        </p:xfrm>
        <a:graphic>
          <a:graphicData uri="http://schemas.openxmlformats.org/drawingml/2006/table">
            <a:tbl>
              <a:tblPr/>
              <a:tblGrid>
                <a:gridCol w="5285105"/>
              </a:tblGrid>
              <a:tr h="508635">
                <a:tc>
                  <a:txBody>
                    <a:bodyPr/>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  Volatility Unit</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txBody>
                  <a:tcPr marL="0" marR="0" marT="0" marB="0"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
        <p:nvSpPr>
          <p:cNvPr id="10" name="Rectangle 1"/>
          <p:cNvSpPr/>
          <p:nvPr/>
        </p:nvSpPr>
        <p:spPr>
          <a:xfrm>
            <a:off x="439940" y="5922010"/>
            <a:ext cx="5340375" cy="513080"/>
          </a:xfrm>
          <a:prstGeom prst="rect">
            <a:avLst/>
          </a:prstGeom>
          <a:solidFill>
            <a:schemeClr val="bg1">
              <a:lumMod val="95000"/>
            </a:schemeClr>
          </a:solidFill>
          <a:ln>
            <a:solidFill>
              <a:schemeClr val="bg1">
                <a:lumMod val="95000"/>
              </a:schemeClr>
            </a:solid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p>
            <a:pPr marL="171450" indent="-171450">
              <a:buFont typeface="Arial" panose="020B0704020202020204" pitchFamily="34" charset="0"/>
              <a:buChar char="•"/>
            </a:pPr>
            <a:r>
              <a:rPr lang="en-US" sz="800" b="1" dirty="0">
                <a:solidFill>
                  <a:srgbClr val="002060"/>
                </a:solidFill>
                <a:effectLst/>
                <a:latin typeface="Century Gothic" panose="020B0702020202020204" pitchFamily="34" charset="0"/>
                <a:sym typeface="+mn-ea"/>
              </a:rPr>
              <a:t>Formula</a:t>
            </a:r>
            <a:r>
              <a:rPr lang="en-US" sz="800" dirty="0">
                <a:solidFill>
                  <a:srgbClr val="002060"/>
                </a:solidFill>
                <a:effectLst/>
                <a:latin typeface="Century Gothic" panose="020B0702020202020204" pitchFamily="34" charset="0"/>
                <a:sym typeface="+mn-ea"/>
              </a:rPr>
              <a:t>: (ATR * </a:t>
            </a:r>
            <a:r>
              <a:rPr lang="en-US" sz="800" i="1" dirty="0">
                <a:solidFill>
                  <a:srgbClr val="002060"/>
                </a:solidFill>
                <a:effectLst/>
                <a:latin typeface="Century Gothic" panose="020B0702020202020204" pitchFamily="34" charset="0"/>
                <a:sym typeface="+mn-ea"/>
              </a:rPr>
              <a:t>multiple</a:t>
            </a:r>
            <a:r>
              <a:rPr lang="en-US" sz="800" dirty="0">
                <a:solidFill>
                  <a:srgbClr val="002060"/>
                </a:solidFill>
                <a:effectLst/>
                <a:latin typeface="Century Gothic" panose="020B0702020202020204" pitchFamily="34" charset="0"/>
                <a:sym typeface="+mn-ea"/>
              </a:rPr>
              <a:t>) + Spread (</a:t>
            </a:r>
            <a:r>
              <a:rPr lang="en-US" sz="800" i="1" dirty="0">
                <a:solidFill>
                  <a:srgbClr val="002060"/>
                </a:solidFill>
                <a:effectLst/>
                <a:latin typeface="Century Gothic" panose="020B0702020202020204" pitchFamily="34" charset="0"/>
                <a:sym typeface="+mn-ea"/>
              </a:rPr>
              <a:t>multiple is typically 1.5</a:t>
            </a:r>
            <a:r>
              <a:rPr lang="en-US" sz="800" dirty="0">
                <a:solidFill>
                  <a:srgbClr val="002060"/>
                </a:solidFill>
                <a:effectLst/>
                <a:latin typeface="Century Gothic" panose="020B0702020202020204" pitchFamily="34" charset="0"/>
                <a:sym typeface="+mn-ea"/>
              </a:rPr>
              <a:t>)</a:t>
            </a:r>
            <a:endParaRPr lang="en-US" sz="800" b="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r>
              <a:rPr lang="en-US" sz="800" b="1" dirty="0">
                <a:solidFill>
                  <a:srgbClr val="002060"/>
                </a:solidFill>
                <a:latin typeface="Century Gothic" panose="020B0702020202020204" pitchFamily="34" charset="0"/>
                <a:sym typeface="+mn-ea"/>
              </a:rPr>
              <a:t>Purpose</a:t>
            </a:r>
            <a:r>
              <a:rPr lang="en-US" sz="800" dirty="0">
                <a:solidFill>
                  <a:srgbClr val="002060"/>
                </a:solidFill>
                <a:latin typeface="Century Gothic" panose="020B0702020202020204" pitchFamily="34" charset="0"/>
                <a:sym typeface="+mn-ea"/>
              </a:rPr>
              <a:t>: Standardizes price movements</a:t>
            </a:r>
            <a:endParaRPr lang="en-US" sz="800" b="1" i="0" u="none" strike="noStrike" dirty="0">
              <a:solidFill>
                <a:srgbClr val="002060"/>
              </a:solidFill>
              <a:effectLst/>
              <a:latin typeface="Century Gothic" panose="020B0702020202020204" pitchFamily="34" charset="0"/>
            </a:endParaRPr>
          </a:p>
        </p:txBody>
      </p:sp>
      <p:graphicFrame>
        <p:nvGraphicFramePr>
          <p:cNvPr id="11" name="Table 10"/>
          <p:cNvGraphicFramePr>
            <a:graphicFrameLocks noGrp="1"/>
          </p:cNvGraphicFramePr>
          <p:nvPr/>
        </p:nvGraphicFramePr>
        <p:xfrm>
          <a:off x="6593840" y="873125"/>
          <a:ext cx="5340985" cy="508635"/>
        </p:xfrm>
        <a:graphic>
          <a:graphicData uri="http://schemas.openxmlformats.org/drawingml/2006/table">
            <a:tbl>
              <a:tblPr/>
              <a:tblGrid>
                <a:gridCol w="5340985"/>
              </a:tblGrid>
              <a:tr h="508635">
                <a:tc>
                  <a:txBody>
                    <a:bodyPr/>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  Price Movements</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txBody>
                  <a:tcPr marL="0" marR="0" marT="0" marB="0"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
        <p:nvSpPr>
          <p:cNvPr id="12" name="Rectangle 1"/>
          <p:cNvSpPr/>
          <p:nvPr/>
        </p:nvSpPr>
        <p:spPr>
          <a:xfrm>
            <a:off x="6583565" y="1538605"/>
            <a:ext cx="5340375" cy="513080"/>
          </a:xfrm>
          <a:prstGeom prst="rect">
            <a:avLst/>
          </a:prstGeom>
          <a:solidFill>
            <a:schemeClr val="bg1">
              <a:lumMod val="95000"/>
            </a:schemeClr>
          </a:solidFill>
          <a:ln>
            <a:solidFill>
              <a:schemeClr val="bg1">
                <a:lumMod val="95000"/>
              </a:schemeClr>
            </a:solid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p>
            <a:pPr marL="171450" indent="-171450">
              <a:buFont typeface="Arial" panose="020B0704020202020204" pitchFamily="34" charset="0"/>
              <a:buChar char="•"/>
            </a:pPr>
            <a:r>
              <a:rPr lang="en-US" sz="800" b="1" dirty="0">
                <a:solidFill>
                  <a:srgbClr val="002060"/>
                </a:solidFill>
                <a:effectLst/>
                <a:latin typeface="Century Gothic" panose="020B0702020202020204" pitchFamily="34" charset="0"/>
                <a:sym typeface="+mn-ea"/>
              </a:rPr>
              <a:t>Max Movement</a:t>
            </a:r>
            <a:r>
              <a:rPr lang="en-US" sz="800" dirty="0">
                <a:solidFill>
                  <a:srgbClr val="002060"/>
                </a:solidFill>
                <a:effectLst/>
                <a:latin typeface="Century Gothic" panose="020B0702020202020204" pitchFamily="34" charset="0"/>
                <a:sym typeface="+mn-ea"/>
              </a:rPr>
              <a:t>: Largest upward price move after event</a:t>
            </a:r>
            <a:endParaRPr lang="en-US" sz="800" i="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r>
              <a:rPr lang="en-US" sz="800" b="1" dirty="0">
                <a:solidFill>
                  <a:srgbClr val="002060"/>
                </a:solidFill>
                <a:latin typeface="Century Gothic" panose="020B0702020202020204" pitchFamily="34" charset="0"/>
                <a:sym typeface="+mn-ea"/>
              </a:rPr>
              <a:t>Min Movement</a:t>
            </a:r>
            <a:r>
              <a:rPr lang="en-US" sz="800" dirty="0">
                <a:solidFill>
                  <a:srgbClr val="002060"/>
                </a:solidFill>
                <a:latin typeface="Century Gothic" panose="020B0702020202020204" pitchFamily="34" charset="0"/>
                <a:sym typeface="+mn-ea"/>
              </a:rPr>
              <a:t>: Largest downward price move after event</a:t>
            </a:r>
            <a:endParaRPr lang="en-US" sz="800" dirty="0">
              <a:solidFill>
                <a:srgbClr val="002060"/>
              </a:solidFill>
              <a:latin typeface="Century Gothic" panose="020B0702020202020204" pitchFamily="34" charset="0"/>
            </a:endParaRPr>
          </a:p>
          <a:p>
            <a:pPr marL="171450" indent="-171450">
              <a:buFont typeface="Arial" panose="020B0704020202020204" pitchFamily="34" charset="0"/>
              <a:buChar char="•"/>
            </a:pPr>
            <a:r>
              <a:rPr lang="en-US" sz="800" dirty="0">
                <a:solidFill>
                  <a:srgbClr val="002060"/>
                </a:solidFill>
                <a:effectLst/>
                <a:latin typeface="Century Gothic" panose="020B0702020202020204" pitchFamily="34" charset="0"/>
                <a:sym typeface="+mn-ea"/>
              </a:rPr>
              <a:t>Both measured in Volatility Units</a:t>
            </a:r>
            <a:r>
              <a:rPr lang="en-US" sz="800" b="1" dirty="0">
                <a:solidFill>
                  <a:srgbClr val="002060"/>
                </a:solidFill>
                <a:effectLst/>
                <a:latin typeface="Century Gothic" panose="020B0702020202020204" pitchFamily="34" charset="0"/>
                <a:sym typeface="+mn-ea"/>
              </a:rPr>
              <a:t> </a:t>
            </a:r>
            <a:endParaRPr lang="en-US" sz="800" b="1" i="0" u="none" strike="noStrike" dirty="0">
              <a:solidFill>
                <a:srgbClr val="002060"/>
              </a:solidFill>
              <a:effectLst/>
              <a:latin typeface="Century Gothic" panose="020B0702020202020204" pitchFamily="34" charset="0"/>
            </a:endParaRPr>
          </a:p>
        </p:txBody>
      </p:sp>
      <p:graphicFrame>
        <p:nvGraphicFramePr>
          <p:cNvPr id="13" name="Table 12"/>
          <p:cNvGraphicFramePr>
            <a:graphicFrameLocks noGrp="1"/>
          </p:cNvGraphicFramePr>
          <p:nvPr/>
        </p:nvGraphicFramePr>
        <p:xfrm>
          <a:off x="6583045" y="2208530"/>
          <a:ext cx="5340985" cy="508635"/>
        </p:xfrm>
        <a:graphic>
          <a:graphicData uri="http://schemas.openxmlformats.org/drawingml/2006/table">
            <a:tbl>
              <a:tblPr/>
              <a:tblGrid>
                <a:gridCol w="5340985"/>
              </a:tblGrid>
              <a:tr h="508635">
                <a:tc>
                  <a:txBody>
                    <a:bodyPr/>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  Using This Analysis</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txBody>
                  <a:tcPr marL="0" marR="0" marT="0" marB="0"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
        <p:nvSpPr>
          <p:cNvPr id="14" name="Rectangle 1"/>
          <p:cNvSpPr/>
          <p:nvPr/>
        </p:nvSpPr>
        <p:spPr>
          <a:xfrm>
            <a:off x="6572885" y="2874010"/>
            <a:ext cx="5340350" cy="2225675"/>
          </a:xfrm>
          <a:prstGeom prst="rect">
            <a:avLst/>
          </a:prstGeom>
          <a:solidFill>
            <a:schemeClr val="bg1">
              <a:lumMod val="95000"/>
            </a:schemeClr>
          </a:solidFill>
          <a:ln>
            <a:solidFill>
              <a:schemeClr val="bg1">
                <a:lumMod val="95000"/>
              </a:schemeClr>
            </a:solid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p>
            <a:pPr marL="171450" indent="-171450" algn="just">
              <a:buFont typeface="Arial" panose="020B0704020202020204" pitchFamily="34" charset="0"/>
              <a:buChar char="•"/>
            </a:pPr>
            <a:r>
              <a:rPr lang="en-US" sz="615" dirty="0">
                <a:solidFill>
                  <a:srgbClr val="002060"/>
                </a:solidFill>
                <a:latin typeface="Century Gothic" panose="020B0702020202020204" pitchFamily="34" charset="0"/>
                <a:sym typeface="+mn-ea"/>
              </a:rPr>
              <a:t>Analyzing volatility across different economic releases helps identify patterns in market reactions.</a:t>
            </a:r>
            <a:endParaRPr lang="en-US" sz="615"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615" dirty="0">
                <a:solidFill>
                  <a:srgbClr val="002060"/>
                </a:solidFill>
                <a:latin typeface="Century Gothic" panose="020B0702020202020204" pitchFamily="34" charset="0"/>
                <a:sym typeface="+mn-ea"/>
              </a:rPr>
              <a:t>This approach allows for evaluating the significance of economic indicators based on their market impact.</a:t>
            </a:r>
            <a:endParaRPr lang="en-US" sz="615"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615" dirty="0">
                <a:solidFill>
                  <a:srgbClr val="002060"/>
                </a:solidFill>
                <a:latin typeface="Century Gothic" panose="020B0702020202020204" pitchFamily="34" charset="0"/>
                <a:sym typeface="+mn-ea"/>
              </a:rPr>
              <a:t>Adhering to standard trading guidelines, the risk amount should not exceed 5% of the trading balance, typically. A risk-reward ratio of 1:1.5x or greater, guided by the win ratio and historical data from this presentation or other estimates, can be used to determine the appropriate risk level, take-profit point, and position size.</a:t>
            </a:r>
            <a:endParaRPr lang="en-US" sz="615"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615" dirty="0">
                <a:solidFill>
                  <a:srgbClr val="002060"/>
                </a:solidFill>
                <a:latin typeface="Century Gothic" panose="020B0702020202020204" pitchFamily="34" charset="0"/>
                <a:sym typeface="+mn-ea"/>
              </a:rPr>
              <a:t>Trade automation on the MT5/MT4 platform can be implemented using the expert advisor linked below, which takes the specified parameters as input.</a:t>
            </a:r>
            <a:endParaRPr lang="en-US" sz="615"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615" dirty="0">
                <a:solidFill>
                  <a:srgbClr val="002060"/>
                </a:solidFill>
                <a:latin typeface="Century Gothic" panose="020B0702020202020204" pitchFamily="34" charset="0"/>
                <a:sym typeface="+mn-ea"/>
              </a:rPr>
              <a:t>An MT5/MT4 account can be accessed through a</a:t>
            </a:r>
            <a:r>
              <a:rPr lang="en-US" sz="615" b="1" dirty="0">
                <a:solidFill>
                  <a:srgbClr val="002060"/>
                </a:solidFill>
                <a:latin typeface="Century Gothic" panose="020B0702020202020204" pitchFamily="34" charset="0"/>
                <a:sym typeface="+mn-ea"/>
              </a:rPr>
              <a:t> </a:t>
            </a:r>
            <a:r>
              <a:rPr lang="en-US" sz="615" dirty="0">
                <a:solidFill>
                  <a:schemeClr val="bg1">
                    <a:lumMod val="65000"/>
                  </a:schemeClr>
                </a:solidFill>
                <a:latin typeface="Century Gothic" panose="020B0702020202020204" pitchFamily="34" charset="0"/>
                <a:sym typeface="+mn-ea"/>
                <a:hlinkClick r:id="rId1" action="ppaction://hlinkfile"/>
              </a:rPr>
              <a:t>brokerage/securities dealer firm</a:t>
            </a:r>
            <a:r>
              <a:rPr lang="en-US" sz="615" dirty="0">
                <a:solidFill>
                  <a:srgbClr val="002060"/>
                </a:solidFill>
                <a:latin typeface="Century Gothic" panose="020B0702020202020204" pitchFamily="34" charset="0"/>
                <a:sym typeface="+mn-ea"/>
              </a:rPr>
              <a:t> or by using a </a:t>
            </a:r>
            <a:r>
              <a:rPr lang="en-US" sz="615" dirty="0">
                <a:solidFill>
                  <a:schemeClr val="bg1">
                    <a:lumMod val="65000"/>
                  </a:schemeClr>
                </a:solidFill>
                <a:latin typeface="Century Gothic" panose="020B0702020202020204" pitchFamily="34" charset="0"/>
                <a:sym typeface="+mn-ea"/>
                <a:hlinkClick r:id="rId2" action="ppaction://hlinkfile"/>
              </a:rPr>
              <a:t>proprietary (prop) trading account</a:t>
            </a:r>
            <a:r>
              <a:rPr lang="en-US" sz="615" dirty="0">
                <a:solidFill>
                  <a:schemeClr val="bg1">
                    <a:lumMod val="65000"/>
                  </a:schemeClr>
                </a:solidFill>
                <a:latin typeface="Century Gothic" panose="020B0702020202020204" pitchFamily="34" charset="0"/>
                <a:sym typeface="+mn-ea"/>
              </a:rPr>
              <a:t>.</a:t>
            </a:r>
            <a:r>
              <a:rPr lang="en-US" sz="615" dirty="0">
                <a:solidFill>
                  <a:srgbClr val="002060"/>
                </a:solidFill>
                <a:latin typeface="Century Gothic" panose="020B0702020202020204" pitchFamily="34" charset="0"/>
                <a:sym typeface="+mn-ea"/>
              </a:rPr>
              <a:t>*</a:t>
            </a:r>
            <a:endParaRPr lang="en-US" sz="615" dirty="0">
              <a:solidFill>
                <a:srgbClr val="002060"/>
              </a:solidFill>
              <a:latin typeface="Century Gothic" panose="020B0702020202020204" pitchFamily="34" charset="0"/>
            </a:endParaRPr>
          </a:p>
          <a:p>
            <a:pPr algn="just"/>
            <a:endParaRPr lang="en-US" sz="615"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615" b="1" dirty="0">
                <a:solidFill>
                  <a:srgbClr val="002060"/>
                </a:solidFill>
                <a:latin typeface="Century Gothic" panose="020B0702020202020204" pitchFamily="34" charset="0"/>
                <a:sym typeface="+mn-ea"/>
              </a:rPr>
              <a:t>Example: </a:t>
            </a:r>
            <a:endParaRPr lang="en-US" sz="615" b="1" dirty="0">
              <a:solidFill>
                <a:srgbClr val="002060"/>
              </a:solidFill>
              <a:latin typeface="Century Gothic" panose="020B0702020202020204" pitchFamily="34" charset="0"/>
            </a:endParaRPr>
          </a:p>
          <a:p>
            <a:pPr marL="628650" lvl="1" indent="-171450" algn="just">
              <a:buFont typeface="Arial" panose="020B0704020202020204" pitchFamily="34" charset="0"/>
              <a:buChar char="•"/>
            </a:pPr>
            <a:r>
              <a:rPr lang="en-US" sz="615" dirty="0">
                <a:solidFill>
                  <a:srgbClr val="002060"/>
                </a:solidFill>
                <a:latin typeface="Century Gothic" panose="020B0702020202020204" pitchFamily="34" charset="0"/>
                <a:sym typeface="+mn-ea"/>
              </a:rPr>
              <a:t>Volatility analysis of economic releases, such as the CPI event, helps identify patterns in market reactions. For instance, if the CPI event typically results in a minimum movement of 0.5x and a maximum movement of 3x, a stop-loss of 1x and a take-profit of 3x can be strategically applied.</a:t>
            </a:r>
            <a:endParaRPr lang="en-US" sz="615" dirty="0">
              <a:solidFill>
                <a:srgbClr val="002060"/>
              </a:solidFill>
              <a:latin typeface="Century Gothic" panose="020B0702020202020204" pitchFamily="34" charset="0"/>
            </a:endParaRPr>
          </a:p>
          <a:p>
            <a:pPr marL="628650" lvl="1" indent="-171450" algn="just">
              <a:buFont typeface="Arial" panose="020B0704020202020204" pitchFamily="34" charset="0"/>
              <a:buChar char="•"/>
            </a:pPr>
            <a:r>
              <a:rPr lang="en-US" sz="615" dirty="0">
                <a:solidFill>
                  <a:srgbClr val="002060"/>
                </a:solidFill>
                <a:latin typeface="Century Gothic" panose="020B0702020202020204" pitchFamily="34" charset="0"/>
                <a:sym typeface="+mn-ea"/>
              </a:rPr>
              <a:t>Following prudent risk management, the risk per trade should not exceed 5% of the trading balance, typically. For a $100,000 trading account (max loss amount post which trading is halted), this translates to a $5,000 stop-loss and a $15,000 take-profit.</a:t>
            </a:r>
            <a:endParaRPr lang="en-US" sz="615" dirty="0">
              <a:solidFill>
                <a:srgbClr val="002060"/>
              </a:solidFill>
              <a:latin typeface="Century Gothic" panose="020B0702020202020204" pitchFamily="34" charset="0"/>
            </a:endParaRPr>
          </a:p>
          <a:p>
            <a:pPr marL="628650" lvl="1" indent="-171450" algn="just">
              <a:buFont typeface="Arial" panose="020B0704020202020204" pitchFamily="34" charset="0"/>
              <a:buChar char="•"/>
            </a:pPr>
            <a:r>
              <a:rPr lang="en-US" sz="615" dirty="0">
                <a:solidFill>
                  <a:srgbClr val="002060"/>
                </a:solidFill>
                <a:latin typeface="Century Gothic" panose="020B0702020202020204" pitchFamily="34" charset="0"/>
                <a:sym typeface="+mn-ea"/>
              </a:rPr>
              <a:t>The guiding principle is that a win ratio of at least 50% combined with a risk-reward ratio of over 1.5 ensures positive expected cash flow. By limiting risk to 5% of the account balance, potential drawdowns from consecutive losses are minimized, preserving capital and maintaining positive cash flow expectations.</a:t>
            </a:r>
            <a:endParaRPr lang="en-US" sz="615" dirty="0">
              <a:solidFill>
                <a:srgbClr val="002060"/>
              </a:solidFill>
              <a:latin typeface="Century Gothic" panose="020B0702020202020204" pitchFamily="34" charset="0"/>
            </a:endParaRPr>
          </a:p>
          <a:p>
            <a:pPr marL="171450" indent="-171450" algn="just">
              <a:buFont typeface="Arial" panose="020B0704020202020204" pitchFamily="34" charset="0"/>
              <a:buChar char="•"/>
            </a:pPr>
            <a:endParaRPr lang="en-US" sz="615"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615" dirty="0">
                <a:solidFill>
                  <a:srgbClr val="002060"/>
                </a:solidFill>
                <a:latin typeface="Century Gothic" panose="020B0702020202020204" pitchFamily="34" charset="0"/>
                <a:sym typeface="+mn-ea"/>
              </a:rPr>
              <a:t>If you need further assistance, please don’t hesitate to contact us.</a:t>
            </a:r>
            <a:endParaRPr lang="en-US" sz="615" dirty="0">
              <a:solidFill>
                <a:srgbClr val="002060"/>
              </a:solidFill>
              <a:latin typeface="Century Gothic" panose="020B0702020202020204" pitchFamily="34" charset="0"/>
              <a:sym typeface="+mn-ea"/>
            </a:endParaRPr>
          </a:p>
          <a:p>
            <a:pPr marL="171450" indent="-171450" algn="just">
              <a:buFont typeface="Arial" panose="020B0704020202020204" pitchFamily="34" charset="0"/>
              <a:buChar char="•"/>
            </a:pPr>
            <a:endParaRPr lang="en-US" sz="615"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615" i="1" dirty="0">
                <a:solidFill>
                  <a:srgbClr val="002060"/>
                </a:solidFill>
                <a:latin typeface="Century Gothic" panose="020B0702020202020204" pitchFamily="34" charset="0"/>
                <a:sym typeface="+mn-ea"/>
              </a:rPr>
              <a:t>*Disclaimer: The links are provided for informational purposes only and connect to third-party websites. We are not affiliated with, nor do we endorse, any of these external sites. Trading carries a significant risk of financial loss. Your risk is your own responsibility, and you should carefully consider your investment objectives and risk tolerance before trading.</a:t>
            </a:r>
            <a:endParaRPr lang="en-US" sz="615" b="1" i="1" u="none" strike="noStrike" dirty="0">
              <a:solidFill>
                <a:srgbClr val="002060"/>
              </a:solidFill>
              <a:effectLst/>
              <a:latin typeface="Century Gothic" panose="020B0702020202020204" pitchFamily="34" charset="0"/>
              <a:sym typeface="+mn-ea"/>
            </a:endParaRPr>
          </a:p>
        </p:txBody>
      </p:sp>
      <p:graphicFrame>
        <p:nvGraphicFramePr>
          <p:cNvPr id="16" name="Table 15"/>
          <p:cNvGraphicFramePr>
            <a:graphicFrameLocks noGrp="1"/>
          </p:cNvGraphicFramePr>
          <p:nvPr/>
        </p:nvGraphicFramePr>
        <p:xfrm>
          <a:off x="6593840" y="5256530"/>
          <a:ext cx="5340985" cy="508635"/>
        </p:xfrm>
        <a:graphic>
          <a:graphicData uri="http://schemas.openxmlformats.org/drawingml/2006/table">
            <a:tbl>
              <a:tblPr/>
              <a:tblGrid>
                <a:gridCol w="5340985"/>
              </a:tblGrid>
              <a:tr h="508635">
                <a:tc>
                  <a:txBody>
                    <a:bodyPr/>
                    <a:p>
                      <a:pPr algn="l" fontAlgn="ctr">
                        <a:lnSpc>
                          <a:spcPct val="100000"/>
                        </a:lnSpc>
                      </a:pPr>
                      <a:r>
                        <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rPr>
                        <a:t>  Resources</a:t>
                      </a:r>
                      <a:endParaRPr lang="en-US" altLang="en-US" sz="1600" b="0" dirty="0">
                        <a:solidFill>
                          <a:schemeClr val="bg1">
                            <a:lumMod val="65000"/>
                          </a:schemeClr>
                        </a:solidFill>
                        <a:effectLst/>
                        <a:highlight>
                          <a:srgbClr val="000000">
                            <a:alpha val="0"/>
                          </a:srgbClr>
                        </a:highlight>
                        <a:latin typeface="Century Gothic" panose="020B0702020202020204" pitchFamily="34" charset="0"/>
                        <a:cs typeface="Century Gothic" panose="020B0702020202020204" pitchFamily="34" charset="0"/>
                        <a:sym typeface="+mn-ea"/>
                      </a:endParaRPr>
                    </a:p>
                  </a:txBody>
                  <a:tcPr marL="0" marR="0" marT="0" marB="0"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
        <p:nvSpPr>
          <p:cNvPr id="17" name="Rectangle 1"/>
          <p:cNvSpPr/>
          <p:nvPr/>
        </p:nvSpPr>
        <p:spPr>
          <a:xfrm>
            <a:off x="6583565" y="5922010"/>
            <a:ext cx="5340375" cy="513080"/>
          </a:xfrm>
          <a:prstGeom prst="rect">
            <a:avLst/>
          </a:prstGeom>
          <a:solidFill>
            <a:schemeClr val="bg1">
              <a:lumMod val="95000"/>
            </a:schemeClr>
          </a:solidFill>
          <a:ln>
            <a:solidFill>
              <a:schemeClr val="bg1">
                <a:lumMod val="95000"/>
              </a:schemeClr>
            </a:solid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p>
            <a:pPr marL="171450" indent="-171450">
              <a:buFont typeface="Arial" panose="020B0704020202020204" pitchFamily="34" charset="0"/>
              <a:buChar char="•"/>
            </a:pPr>
            <a:r>
              <a:rPr lang="en-US" sz="800" u="sng" dirty="0">
                <a:solidFill>
                  <a:schemeClr val="bg1">
                    <a:lumMod val="65000"/>
                  </a:schemeClr>
                </a:solidFill>
                <a:effectLst/>
                <a:latin typeface="Century Gothic" panose="020B0702020202020204" pitchFamily="34" charset="0"/>
                <a:sym typeface="+mn-ea"/>
                <a:hlinkClick r:id="rId3" action="ppaction://hlinkfile"/>
              </a:rPr>
              <a:t>https://github.com/pawan-pro/quantwater-tech-investments/blob/main/QuantPulse</a:t>
            </a:r>
            <a:endParaRPr lang="en-US" sz="800" u="sng" strike="noStrike" dirty="0">
              <a:solidFill>
                <a:schemeClr val="bg1">
                  <a:lumMod val="65000"/>
                </a:schemeClr>
              </a:solidFill>
              <a:effectLst/>
              <a:latin typeface="Century Gothic" panose="020B0702020202020204" pitchFamily="34" charset="0"/>
            </a:endParaRPr>
          </a:p>
          <a:p>
            <a:pPr marL="171450" indent="-171450">
              <a:buFont typeface="Arial" panose="020B0704020202020204" pitchFamily="34" charset="0"/>
              <a:buChar char="•"/>
            </a:pPr>
            <a:r>
              <a:rPr lang="en-US" sz="800" u="sng" dirty="0">
                <a:solidFill>
                  <a:schemeClr val="bg1">
                    <a:lumMod val="65000"/>
                  </a:schemeClr>
                </a:solidFill>
                <a:latin typeface="Century Gothic" panose="020B0702020202020204" pitchFamily="34" charset="0"/>
                <a:sym typeface="+mn-ea"/>
                <a:hlinkClick r:id="rId4"/>
              </a:rPr>
              <a:t>https://quantwatertech.netlify.app/research</a:t>
            </a:r>
            <a:endParaRPr lang="en-US" sz="800" u="sng" dirty="0">
              <a:solidFill>
                <a:schemeClr val="bg1">
                  <a:lumMod val="65000"/>
                </a:schemeClr>
              </a:solidFill>
              <a:latin typeface="Century Gothic" panose="020B0702020202020204" pitchFamily="34" charset="0"/>
            </a:endParaRPr>
          </a:p>
          <a:p>
            <a:pPr marL="171450" indent="-171450">
              <a:buFont typeface="Arial" panose="020B0704020202020204" pitchFamily="34" charset="0"/>
              <a:buChar char="•"/>
            </a:pPr>
            <a:r>
              <a:rPr lang="en-US" sz="800" u="sng" dirty="0">
                <a:solidFill>
                  <a:schemeClr val="bg1">
                    <a:lumMod val="65000"/>
                  </a:schemeClr>
                </a:solidFill>
                <a:latin typeface="Century Gothic" panose="020B0702020202020204" pitchFamily="34" charset="0"/>
                <a:sym typeface="+mn-ea"/>
                <a:hlinkClick r:id="rId5"/>
              </a:rPr>
              <a:t>https://quantwater.tech/blog</a:t>
            </a:r>
            <a:endParaRPr lang="en-US" sz="800" b="1" i="0" u="sng" strike="noStrike" dirty="0">
              <a:solidFill>
                <a:schemeClr val="bg1">
                  <a:lumMod val="65000"/>
                </a:schemeClr>
              </a:solidFill>
              <a:effectLst/>
              <a:latin typeface="Century Gothic" panose="020B0702020202020204" pitchFamily="34" charset="0"/>
              <a:sym typeface="+mn-ea"/>
              <a:hlinkClick r:id="rId5"/>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8606" y="376150"/>
            <a:ext cx="5877454" cy="1765801"/>
          </a:xfrm>
        </p:spPr>
        <p:txBody>
          <a:bodyPr>
            <a:normAutofit/>
          </a:bodyPr>
          <a:lstStyle/>
          <a:p>
            <a:r>
              <a:rPr lang="en-US" dirty="0">
                <a:solidFill>
                  <a:schemeClr val="accent5">
                    <a:lumMod val="50000"/>
                  </a:schemeClr>
                </a:solidFill>
                <a:latin typeface="Century Gothic" panose="020B0702020202020204" pitchFamily="34" charset="0"/>
                <a:cs typeface="Century Gothic" panose="020B0702020202020204" pitchFamily="34" charset="0"/>
              </a:rPr>
              <a:t>Thank You!</a:t>
            </a:r>
            <a:endParaRPr lang="en-US" sz="1100" dirty="0">
              <a:solidFill>
                <a:schemeClr val="accent5">
                  <a:lumMod val="50000"/>
                </a:schemeClr>
              </a:solidFill>
              <a:latin typeface="Century Gothic" panose="020B0702020202020204" pitchFamily="34" charset="0"/>
              <a:cs typeface="Century Gothic" panose="020B0702020202020204" pitchFamily="34" charset="0"/>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704020202020204" pitchFamily="34" charset="0"/>
              <a:buNone/>
              <a:defRPr/>
            </a:pPr>
            <a:endParaRPr kumimoji="0" lang="en-US" sz="1800" b="1" i="0" u="none" strike="noStrike" kern="1200" cap="none" spc="0" normalizeH="0" baseline="0" noProof="0" dirty="0">
              <a:ln>
                <a:noFill/>
              </a:ln>
              <a:solidFill>
                <a:srgbClr val="111121"/>
              </a:solidFill>
              <a:effectLst/>
              <a:uLnTx/>
              <a:uFillTx/>
              <a:latin typeface="Century Gothic" panose="020B0702020202020204" pitchFamily="34" charset="0"/>
              <a:ea typeface="+mn-ea"/>
              <a:cs typeface="Century Gothic" panose="020B0702020202020204" pitchFamily="34" charset="0"/>
            </a:endParaRPr>
          </a:p>
        </p:txBody>
      </p:sp>
      <p:pic>
        <p:nvPicPr>
          <p:cNvPr id="7" name="Picture 6" descr="A line drawn on a white background&#10;&#10;Description automatically generated"/>
          <p:cNvPicPr>
            <a:picLocks noChangeAspect="1"/>
          </p:cNvPicPr>
          <p:nvPr/>
        </p:nvPicPr>
        <p:blipFill>
          <a:blip r:embed="rId1">
            <a:extLst>
              <a:ext uri="{BEBA8EAE-BF5A-486C-A8C5-ECC9F3942E4B}">
                <a14:imgProps xmlns:a14="http://schemas.microsoft.com/office/drawing/2010/main">
                  <a14:imgLayer r:embed="rId2">
                    <a14:imgEffect>
                      <a14:sharpenSoften amount="-60000"/>
                    </a14:imgEffect>
                  </a14:imgLayer>
                </a14:imgProps>
              </a:ext>
            </a:extLst>
          </a:blip>
          <a:srcRect b="15261"/>
          <a:stretch>
            <a:fillRect/>
          </a:stretch>
        </p:blipFill>
        <p:spPr>
          <a:xfrm>
            <a:off x="0" y="-24903"/>
            <a:ext cx="12192000" cy="5849438"/>
          </a:xfrm>
          <a:prstGeom prst="rect">
            <a:avLst/>
          </a:prstGeom>
        </p:spPr>
      </p:pic>
      <p:sp>
        <p:nvSpPr>
          <p:cNvPr id="10" name="Title 1"/>
          <p:cNvSpPr txBox="1"/>
          <p:nvPr/>
        </p:nvSpPr>
        <p:spPr>
          <a:xfrm>
            <a:off x="361586" y="376151"/>
            <a:ext cx="6046662" cy="18121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3300" dirty="0">
                <a:solidFill>
                  <a:schemeClr val="bg1">
                    <a:lumMod val="65000"/>
                  </a:schemeClr>
                </a:solidFill>
                <a:latin typeface="Century Gothic" panose="020B0702020202020204" pitchFamily="34" charset="0"/>
                <a:cs typeface="Century Gothic" panose="020B0702020202020204" pitchFamily="34" charset="0"/>
              </a:rPr>
              <a:t>Thank You!</a:t>
            </a:r>
            <a:endParaRPr lang="en-US" sz="3300" dirty="0">
              <a:solidFill>
                <a:schemeClr val="bg1">
                  <a:lumMod val="65000"/>
                </a:schemeClr>
              </a:solidFill>
              <a:latin typeface="Century Gothic" panose="020B0702020202020204" pitchFamily="34" charset="0"/>
              <a:cs typeface="Century Gothic" panose="020B0702020202020204" pitchFamily="34" charset="0"/>
            </a:endParaRPr>
          </a:p>
        </p:txBody>
      </p:sp>
      <p:sp>
        <p:nvSpPr>
          <p:cNvPr id="4" name="Title 1"/>
          <p:cNvSpPr txBox="1"/>
          <p:nvPr/>
        </p:nvSpPr>
        <p:spPr>
          <a:xfrm>
            <a:off x="1654446" y="6268547"/>
            <a:ext cx="8583248" cy="512781"/>
          </a:xfrm>
          <a:prstGeom prst="rect">
            <a:avLst/>
          </a:prstGeom>
          <a:solidFill>
            <a:schemeClr val="bg1"/>
          </a:solidFill>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pPr algn="ctr"/>
            <a:r>
              <a:rPr lang="en-US" sz="3300" dirty="0">
                <a:solidFill>
                  <a:schemeClr val="bg1">
                    <a:lumMod val="65000"/>
                  </a:schemeClr>
                </a:solidFill>
                <a:latin typeface="Century Gothic" panose="020B0702020202020204" pitchFamily="34" charset="0"/>
                <a:cs typeface="Century Gothic" panose="020B0702020202020204" pitchFamily="34" charset="0"/>
              </a:rPr>
              <a:t>Quantwater Tech Investments</a:t>
            </a:r>
            <a:endParaRPr lang="en-US" sz="3300" dirty="0">
              <a:solidFill>
                <a:schemeClr val="bg1">
                  <a:lumMod val="65000"/>
                </a:schemeClr>
              </a:solidFill>
              <a:latin typeface="Century Gothic" panose="020B0702020202020204" pitchFamily="34" charset="0"/>
              <a:cs typeface="Century Gothic" panose="020B0702020202020204" pitchFamily="34" charset="0"/>
            </a:endParaRPr>
          </a:p>
        </p:txBody>
      </p:sp>
      <p:sp>
        <p:nvSpPr>
          <p:cNvPr id="3" name="Title 1"/>
          <p:cNvSpPr txBox="1"/>
          <p:nvPr/>
        </p:nvSpPr>
        <p:spPr>
          <a:xfrm>
            <a:off x="373063" y="5575874"/>
            <a:ext cx="1653553" cy="666778"/>
          </a:xfrm>
          <a:prstGeom prst="rect">
            <a:avLst/>
          </a:prstGeom>
          <a:solidFill>
            <a:schemeClr val="bg1">
              <a:lumMod val="95000"/>
            </a:schemeClr>
          </a:solidFill>
          <a:effectLst>
            <a:outerShdw blurRad="50800" dist="38100" dir="2700000" algn="tl" rotWithShape="0">
              <a:prstClr val="black">
                <a:alpha val="40000"/>
              </a:prstClr>
            </a:outerShdw>
          </a:effectLst>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1500" dirty="0">
                <a:solidFill>
                  <a:schemeClr val="bg1">
                    <a:lumMod val="65000"/>
                  </a:schemeClr>
                </a:solidFill>
                <a:latin typeface="Century Gothic" panose="020B0702020202020204" pitchFamily="34" charset="0"/>
                <a:cs typeface="Century Gothic" panose="020B0702020202020204" pitchFamily="34" charset="0"/>
              </a:rPr>
              <a:t>Pawan Jatale</a:t>
            </a:r>
            <a:endParaRPr lang="en-US" sz="1500" dirty="0">
              <a:solidFill>
                <a:schemeClr val="bg1">
                  <a:lumMod val="65000"/>
                </a:schemeClr>
              </a:solidFill>
              <a:latin typeface="Century Gothic" panose="020B0702020202020204" pitchFamily="34" charset="0"/>
              <a:cs typeface="Century Gothic" panose="020B0702020202020204" pitchFamily="34" charset="0"/>
            </a:endParaRPr>
          </a:p>
          <a:p>
            <a:endParaRPr lang="en-US" sz="1500" dirty="0">
              <a:solidFill>
                <a:schemeClr val="bg1">
                  <a:lumMod val="65000"/>
                </a:schemeClr>
              </a:solidFill>
              <a:latin typeface="Century Gothic" panose="020B0702020202020204" pitchFamily="34" charset="0"/>
              <a:cs typeface="Century Gothic" panose="020B0702020202020204" pitchFamily="34" charset="0"/>
            </a:endParaRPr>
          </a:p>
          <a:p>
            <a:r>
              <a:rPr lang="en-US" sz="1500" dirty="0">
                <a:solidFill>
                  <a:schemeClr val="bg1">
                    <a:lumMod val="65000"/>
                  </a:schemeClr>
                </a:solidFill>
                <a:latin typeface="Century Gothic" panose="020B0702020202020204" pitchFamily="34" charset="0"/>
                <a:cs typeface="Century Gothic" panose="020B0702020202020204" pitchFamily="34" charset="0"/>
              </a:rPr>
              <a:t>pawan@quantwater.tech</a:t>
            </a:r>
            <a:endParaRPr lang="en-US" sz="1500" dirty="0">
              <a:solidFill>
                <a:schemeClr val="bg1">
                  <a:lumMod val="65000"/>
                </a:schemeClr>
              </a:solidFill>
              <a:latin typeface="Century Gothic" panose="020B0702020202020204" pitchFamily="34" charset="0"/>
              <a:cs typeface="Century Gothic" panose="020B0702020202020204" pitchFamily="34" charset="0"/>
            </a:endParaRPr>
          </a:p>
          <a:p>
            <a:endParaRPr lang="en-US" sz="1500" dirty="0">
              <a:solidFill>
                <a:schemeClr val="bg1">
                  <a:lumMod val="65000"/>
                </a:schemeClr>
              </a:solidFill>
              <a:latin typeface="Century Gothic" panose="020B0702020202020204" pitchFamily="34" charset="0"/>
              <a:cs typeface="Century Gothic" panose="020B0702020202020204" pitchFamily="34" charset="0"/>
            </a:endParaRPr>
          </a:p>
          <a:p>
            <a:r>
              <a:rPr lang="en-US" sz="1500" dirty="0">
                <a:solidFill>
                  <a:schemeClr val="bg1">
                    <a:lumMod val="65000"/>
                  </a:schemeClr>
                </a:solidFill>
                <a:latin typeface="Century Gothic" panose="020B0702020202020204" pitchFamily="34" charset="0"/>
                <a:cs typeface="Century Gothic" panose="020B0702020202020204" pitchFamily="34" charset="0"/>
              </a:rPr>
              <a:t>Founder</a:t>
            </a:r>
            <a:endParaRPr lang="en-US" sz="1500" dirty="0">
              <a:solidFill>
                <a:schemeClr val="bg1">
                  <a:lumMod val="65000"/>
                </a:schemeClr>
              </a:solidFill>
              <a:latin typeface="Century Gothic" panose="020B0702020202020204" pitchFamily="34" charset="0"/>
              <a:cs typeface="Century Gothic" panose="020B0702020202020204" pitchFamily="34" charset="0"/>
            </a:endParaRPr>
          </a:p>
        </p:txBody>
      </p:sp>
    </p:spTree>
  </p:cSld>
  <p:clrMapOvr>
    <a:masterClrMapping/>
  </p:clrMapOvr>
</p:sld>
</file>

<file path=ppt/theme/theme1.xml><?xml version="1.0" encoding="utf-8"?>
<a:theme xmlns:a="http://schemas.openxmlformats.org/drawingml/2006/main" name="TAQA Temp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10">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AQA Temp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10">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38701</Words>
  <Application>WPS Writer</Application>
  <PresentationFormat>Widescreen</PresentationFormat>
  <Paragraphs>1690</Paragraphs>
  <Slides>154</Slides>
  <Notes>1</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154</vt:i4>
      </vt:variant>
    </vt:vector>
  </HeadingPairs>
  <TitlesOfParts>
    <vt:vector size="170" baseType="lpstr">
      <vt:lpstr>Arial</vt:lpstr>
      <vt:lpstr>SimSun</vt:lpstr>
      <vt:lpstr>Wingdings</vt:lpstr>
      <vt:lpstr>Century Gothic</vt:lpstr>
      <vt:lpstr>Verdana</vt:lpstr>
      <vt:lpstr>Arial</vt:lpstr>
      <vt:lpstr>Century Gothic</vt:lpstr>
      <vt:lpstr>Microsoft YaHei</vt:lpstr>
      <vt:lpstr>汉仪旗黑</vt:lpstr>
      <vt:lpstr>Arial Unicode MS</vt:lpstr>
      <vt:lpstr>Aptos</vt:lpstr>
      <vt:lpstr>Helvetica Neue</vt:lpstr>
      <vt:lpstr>Calibri</vt:lpstr>
      <vt:lpstr>宋体-简</vt:lpstr>
      <vt:lpstr>TAQA Template</vt:lpstr>
      <vt:lpstr>1_TAQA Template</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Pawan J</dc:creator>
  <cp:lastModifiedBy>Pawan Jatale</cp:lastModifiedBy>
  <cp:revision>121</cp:revision>
  <dcterms:created xsi:type="dcterms:W3CDTF">2025-11-01T17:57:25Z</dcterms:created>
  <dcterms:modified xsi:type="dcterms:W3CDTF">2025-11-01T17:57:25Z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CF2A9F3112880662993D06696F60DB06_43</vt:lpwstr>
  </property>
  <property fmtid="{D5CDD505-2E9C-101B-9397-08002B2CF9AE}" pid="3" name="KSOProductBuildVer">
    <vt:lpwstr>1033-12.1.23143.23143</vt:lpwstr>
  </property>
</Properties>
</file>