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169"/>
  </p:handoutMasterIdLst>
  <p:sldIdLst>
    <p:sldId id="4102425" r:id="rId3"/>
    <p:sldId id="4102427" r:id="rId4"/>
    <p:sldId id="4102400" r:id="rId6"/>
    <p:sldId id="4102444" r:id="rId7"/>
    <p:sldId id="4102527" r:id="rId8"/>
    <p:sldId id="4102785" r:id="rId9"/>
    <p:sldId id="4102786" r:id="rId10"/>
    <p:sldId id="4102787" r:id="rId11"/>
    <p:sldId id="4102788" r:id="rId12"/>
    <p:sldId id="4102789" r:id="rId13"/>
    <p:sldId id="4102790" r:id="rId14"/>
    <p:sldId id="4102896" r:id="rId15"/>
    <p:sldId id="4102930" r:id="rId16"/>
    <p:sldId id="4102931" r:id="rId17"/>
    <p:sldId id="4102932" r:id="rId18"/>
    <p:sldId id="4102933" r:id="rId19"/>
    <p:sldId id="4102934" r:id="rId20"/>
    <p:sldId id="4102935" r:id="rId21"/>
    <p:sldId id="4102893" r:id="rId22"/>
    <p:sldId id="4102894" r:id="rId23"/>
    <p:sldId id="4102895" r:id="rId24"/>
    <p:sldId id="4102791" r:id="rId25"/>
    <p:sldId id="4102792" r:id="rId26"/>
    <p:sldId id="4102793" r:id="rId27"/>
    <p:sldId id="4102794" r:id="rId28"/>
    <p:sldId id="4102795" r:id="rId29"/>
    <p:sldId id="4102796" r:id="rId30"/>
    <p:sldId id="4102900" r:id="rId31"/>
    <p:sldId id="4102936" r:id="rId32"/>
    <p:sldId id="4102937" r:id="rId33"/>
    <p:sldId id="4102938" r:id="rId34"/>
    <p:sldId id="4102939" r:id="rId35"/>
    <p:sldId id="4102940" r:id="rId36"/>
    <p:sldId id="4102941" r:id="rId37"/>
    <p:sldId id="4102897" r:id="rId38"/>
    <p:sldId id="4102898" r:id="rId39"/>
    <p:sldId id="4102899" r:id="rId40"/>
    <p:sldId id="4103020" r:id="rId41"/>
    <p:sldId id="4103021" r:id="rId42"/>
    <p:sldId id="4103022" r:id="rId43"/>
    <p:sldId id="4103023" r:id="rId44"/>
    <p:sldId id="4103024" r:id="rId45"/>
    <p:sldId id="4103025" r:id="rId46"/>
    <p:sldId id="4102904" r:id="rId47"/>
    <p:sldId id="4103026" r:id="rId48"/>
    <p:sldId id="4103027" r:id="rId49"/>
    <p:sldId id="4103028" r:id="rId50"/>
    <p:sldId id="4103029" r:id="rId51"/>
    <p:sldId id="4103030" r:id="rId52"/>
    <p:sldId id="4103031" r:id="rId53"/>
    <p:sldId id="4102901" r:id="rId54"/>
    <p:sldId id="4102902" r:id="rId55"/>
    <p:sldId id="4102903" r:id="rId56"/>
    <p:sldId id="4102803" r:id="rId57"/>
    <p:sldId id="4102804" r:id="rId58"/>
    <p:sldId id="4102805" r:id="rId59"/>
    <p:sldId id="4102806" r:id="rId60"/>
    <p:sldId id="4102807" r:id="rId61"/>
    <p:sldId id="4102808" r:id="rId62"/>
    <p:sldId id="4102908" r:id="rId63"/>
    <p:sldId id="4102948" r:id="rId64"/>
    <p:sldId id="4102949" r:id="rId65"/>
    <p:sldId id="4102950" r:id="rId66"/>
    <p:sldId id="4102951" r:id="rId67"/>
    <p:sldId id="4102952" r:id="rId68"/>
    <p:sldId id="4102953" r:id="rId69"/>
    <p:sldId id="4102905" r:id="rId70"/>
    <p:sldId id="4102906" r:id="rId71"/>
    <p:sldId id="4102907" r:id="rId72"/>
    <p:sldId id="4103008" r:id="rId73"/>
    <p:sldId id="4103009" r:id="rId74"/>
    <p:sldId id="4103010" r:id="rId75"/>
    <p:sldId id="4103011" r:id="rId76"/>
    <p:sldId id="4103012" r:id="rId77"/>
    <p:sldId id="4103013" r:id="rId78"/>
    <p:sldId id="4102912" r:id="rId79"/>
    <p:sldId id="4103014" r:id="rId80"/>
    <p:sldId id="4103015" r:id="rId81"/>
    <p:sldId id="4103016" r:id="rId82"/>
    <p:sldId id="4103017" r:id="rId83"/>
    <p:sldId id="4103018" r:id="rId84"/>
    <p:sldId id="4103019" r:id="rId85"/>
    <p:sldId id="4102909" r:id="rId86"/>
    <p:sldId id="4102910" r:id="rId87"/>
    <p:sldId id="4102911" r:id="rId88"/>
    <p:sldId id="4102815" r:id="rId89"/>
    <p:sldId id="4102816" r:id="rId90"/>
    <p:sldId id="4102817" r:id="rId91"/>
    <p:sldId id="4102818" r:id="rId92"/>
    <p:sldId id="4102819" r:id="rId93"/>
    <p:sldId id="4102820" r:id="rId94"/>
    <p:sldId id="4102916" r:id="rId95"/>
    <p:sldId id="4102960" r:id="rId96"/>
    <p:sldId id="4102961" r:id="rId97"/>
    <p:sldId id="4102962" r:id="rId98"/>
    <p:sldId id="4102963" r:id="rId99"/>
    <p:sldId id="4102964" r:id="rId100"/>
    <p:sldId id="4102965" r:id="rId101"/>
    <p:sldId id="4102913" r:id="rId102"/>
    <p:sldId id="4102914" r:id="rId103"/>
    <p:sldId id="4102915" r:id="rId104"/>
    <p:sldId id="4102984" r:id="rId105"/>
    <p:sldId id="4102985" r:id="rId106"/>
    <p:sldId id="4102986" r:id="rId107"/>
    <p:sldId id="4102987" r:id="rId108"/>
    <p:sldId id="4102988" r:id="rId109"/>
    <p:sldId id="4102989" r:id="rId110"/>
    <p:sldId id="4102917" r:id="rId111"/>
    <p:sldId id="4102990" r:id="rId112"/>
    <p:sldId id="4102991" r:id="rId113"/>
    <p:sldId id="4102992" r:id="rId114"/>
    <p:sldId id="4102993" r:id="rId115"/>
    <p:sldId id="4102994" r:id="rId116"/>
    <p:sldId id="4102995" r:id="rId117"/>
    <p:sldId id="4102918" r:id="rId118"/>
    <p:sldId id="4102919" r:id="rId119"/>
    <p:sldId id="4102920" r:id="rId120"/>
    <p:sldId id="4102821" r:id="rId121"/>
    <p:sldId id="4102822" r:id="rId122"/>
    <p:sldId id="4102823" r:id="rId123"/>
    <p:sldId id="4102824" r:id="rId124"/>
    <p:sldId id="4102825" r:id="rId125"/>
    <p:sldId id="4102826" r:id="rId126"/>
    <p:sldId id="4102924" r:id="rId127"/>
    <p:sldId id="4102966" r:id="rId128"/>
    <p:sldId id="4102967" r:id="rId129"/>
    <p:sldId id="4102968" r:id="rId130"/>
    <p:sldId id="4102969" r:id="rId131"/>
    <p:sldId id="4102970" r:id="rId132"/>
    <p:sldId id="4102971" r:id="rId133"/>
    <p:sldId id="4102921" r:id="rId134"/>
    <p:sldId id="4102922" r:id="rId135"/>
    <p:sldId id="4102923" r:id="rId136"/>
    <p:sldId id="4102827" r:id="rId137"/>
    <p:sldId id="4102828" r:id="rId138"/>
    <p:sldId id="4102829" r:id="rId139"/>
    <p:sldId id="4102830" r:id="rId140"/>
    <p:sldId id="4102831" r:id="rId141"/>
    <p:sldId id="4102832" r:id="rId142"/>
    <p:sldId id="4102928" r:id="rId143"/>
    <p:sldId id="4102972" r:id="rId144"/>
    <p:sldId id="4102973" r:id="rId145"/>
    <p:sldId id="4102974" r:id="rId146"/>
    <p:sldId id="4102975" r:id="rId147"/>
    <p:sldId id="4102976" r:id="rId148"/>
    <p:sldId id="4102977" r:id="rId149"/>
    <p:sldId id="4102925" r:id="rId150"/>
    <p:sldId id="4102926" r:id="rId151"/>
    <p:sldId id="4102927" r:id="rId152"/>
    <p:sldId id="4103032" r:id="rId153"/>
    <p:sldId id="4103033" r:id="rId154"/>
    <p:sldId id="4103034" r:id="rId155"/>
    <p:sldId id="4103035" r:id="rId156"/>
    <p:sldId id="4103036" r:id="rId157"/>
    <p:sldId id="4103037" r:id="rId158"/>
    <p:sldId id="4102929" r:id="rId159"/>
    <p:sldId id="4103038" r:id="rId160"/>
    <p:sldId id="4103039" r:id="rId161"/>
    <p:sldId id="4103040" r:id="rId162"/>
    <p:sldId id="4103041" r:id="rId163"/>
    <p:sldId id="4103042" r:id="rId164"/>
    <p:sldId id="4103043" r:id="rId165"/>
    <p:sldId id="4102661" r:id="rId166"/>
    <p:sldId id="4102662" r:id="rId167"/>
    <p:sldId id="4102663" r:id="rId1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29"/>
    <p:restoredTop sz="94682"/>
  </p:normalViewPr>
  <p:slideViewPr>
    <p:cSldViewPr snapToGrid="0" showGuides="1">
      <p:cViewPr>
        <p:scale>
          <a:sx n="90" d="100"/>
          <a:sy n="90" d="100"/>
        </p:scale>
        <p:origin x="-32" y="816"/>
      </p:cViewPr>
      <p:guideLst>
        <p:guide orient="horz" pos="2156"/>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2" Type="http://schemas.openxmlformats.org/officeDocument/2006/relationships/tableStyles" Target="tableStyles.xml"/><Relationship Id="rId171" Type="http://schemas.openxmlformats.org/officeDocument/2006/relationships/viewProps" Target="viewProps.xml"/><Relationship Id="rId170" Type="http://schemas.openxmlformats.org/officeDocument/2006/relationships/presProps" Target="presProps.xml"/><Relationship Id="rId17" Type="http://schemas.openxmlformats.org/officeDocument/2006/relationships/slide" Target="slides/slide14.xml"/><Relationship Id="rId169" Type="http://schemas.openxmlformats.org/officeDocument/2006/relationships/handoutMaster" Target="handoutMasters/handoutMaster1.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406E5E-8587-7944-A611-EE9F859B850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A3D73E-6582-8C42-9592-FC2CEFA619E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F95B7C-AFC1-574C-80B2-E15C5CF966D6}"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image5.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image6.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bg1">
                    <a:lumMod val="50000"/>
                  </a:schemeClr>
                </a:solidFill>
              </a:rPr>
              <a:t>[Date]</a:t>
            </a:r>
            <a:endParaRPr lang="en-US" sz="3300" dirty="0">
              <a:solidFill>
                <a:schemeClr val="bg1">
                  <a:lumMod val="50000"/>
                </a:schemeClr>
              </a:solidFill>
            </a:endParaRPr>
          </a:p>
          <a:p>
            <a:endParaRPr lang="en-US" sz="3300" dirty="0">
              <a:solidFill>
                <a:schemeClr val="bg1">
                  <a:lumMod val="50000"/>
                </a:schemeClr>
              </a:solidFill>
            </a:endParaRPr>
          </a:p>
          <a:p>
            <a:r>
              <a:rPr lang="en-US" sz="3300" dirty="0">
                <a:solidFill>
                  <a:schemeClr val="bg1">
                    <a:lumMod val="50000"/>
                  </a:schemeClr>
                </a:solidFill>
              </a:rPr>
              <a:t>Economic Data Releases &amp; Their Historical Impact on Assets</a:t>
            </a:r>
            <a:endParaRPr lang="en-US" sz="3300" dirty="0">
              <a:solidFill>
                <a:schemeClr val="bg1">
                  <a:lumMod val="50000"/>
                </a:schemeClr>
              </a:solidFill>
            </a:endParaRPr>
          </a:p>
        </p:txBody>
      </p:sp>
      <p:sp>
        <p:nvSpPr>
          <p:cNvPr id="8" name="TextBox 7"/>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3" name="Rectangle 2"/>
          <p:cNvSpPr/>
          <p:nvPr userDrawn="1"/>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Brief</a:t>
            </a:r>
            <a:endParaRPr lang="en-US" b="1" dirty="0">
              <a:solidFill>
                <a:srgbClr val="002060"/>
              </a:solidFill>
              <a:latin typeface="Century Gothic" panose="020B0702020202020204" pitchFamily="34" charset="0"/>
            </a:endParaRPr>
          </a:p>
        </p:txBody>
      </p:sp>
      <p:graphicFrame>
        <p:nvGraphicFramePr>
          <p:cNvPr id="4" name="Table 3"/>
          <p:cNvGraphicFramePr>
            <a:graphicFrameLocks noGrp="1"/>
          </p:cNvGraphicFramePr>
          <p:nvPr userDrawn="1"/>
        </p:nvGraphicFramePr>
        <p:xfrm>
          <a:off x="439939" y="882757"/>
          <a:ext cx="11407299" cy="5810186"/>
        </p:xfrm>
        <a:graphic>
          <a:graphicData uri="http://schemas.openxmlformats.org/drawingml/2006/table">
            <a:tbl>
              <a:tblPr>
                <a:tableStyleId>{5C22544A-7EE6-4342-B048-85BDC9FD1C3A}</a:tableStyleId>
              </a:tblPr>
              <a:tblGrid>
                <a:gridCol w="1492493"/>
                <a:gridCol w="949772"/>
                <a:gridCol w="1283396"/>
                <a:gridCol w="927100"/>
                <a:gridCol w="723900"/>
                <a:gridCol w="6030638"/>
              </a:tblGrid>
              <a:tr h="276893">
                <a:tc>
                  <a:txBody>
                    <a:bodyPr/>
                    <a:lstStyle/>
                    <a:p>
                      <a:pPr algn="ctr" fontAlgn="ctr"/>
                      <a:r>
                        <a:rPr lang="en-US" sz="1050" b="1" i="0" u="none" strike="noStrike" dirty="0">
                          <a:solidFill>
                            <a:srgbClr val="002060"/>
                          </a:solidFill>
                          <a:effectLst/>
                          <a:latin typeface="Verdana" panose="020B0604030504040204" pitchFamily="34" charset="0"/>
                        </a:rPr>
                        <a:t>Date</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Day</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Time (IST)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Cur.</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Imp.</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50" b="1" i="0" u="none" strike="noStrike" dirty="0">
                          <a:solidFill>
                            <a:srgbClr val="002060"/>
                          </a:solidFill>
                          <a:effectLst/>
                          <a:latin typeface="Verdana" panose="020B0604030504040204" pitchFamily="34" charset="0"/>
                        </a:rPr>
                        <a:t>Event</a:t>
                      </a:r>
                      <a:endParaRPr lang="en-US" sz="1050" b="1" i="0" u="none" strike="noStrike" dirty="0">
                        <a:solidFill>
                          <a:srgbClr val="00206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3707">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Verdana" panose="020B0604030504040204" pitchFamily="34" charset="0"/>
                        </a:rPr>
                        <a:t>[]</a:t>
                      </a:r>
                      <a:endParaRPr lang="en-US" sz="10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59153">
                <a:tc gridSpan="6">
                  <a:txBody>
                    <a:bodyPr/>
                    <a:lstStyle/>
                    <a:p>
                      <a:pPr lvl="0" algn="ctr" fontAlgn="ctr"/>
                      <a:endParaRPr lang="en-US" sz="800" b="0" i="0" u="none" strike="noStrike" dirty="0">
                        <a:solidFill>
                          <a:srgbClr val="000000"/>
                        </a:solidFill>
                        <a:effectLst/>
                        <a:latin typeface="Verdana" panose="020B060403050404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7" name="Title 1"/>
          <p:cNvSpPr txBox="1"/>
          <p:nvPr userDrawn="1"/>
        </p:nvSpPr>
        <p:spPr>
          <a:xfrm>
            <a:off x="266700" y="875170"/>
            <a:ext cx="6062980" cy="6869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t>Click to edit Master title style</a:t>
            </a:r>
            <a:endParaRPr lang="en-US" dirty="0"/>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Main Title 02">
    <p:bg>
      <p:bgRef idx="1001">
        <a:schemeClr val="bg2"/>
      </p:bgRef>
    </p:bg>
    <p:spTree>
      <p:nvGrpSpPr>
        <p:cNvPr id="1" name=""/>
        <p:cNvGrpSpPr/>
        <p:nvPr/>
      </p:nvGrpSpPr>
      <p:grpSpPr>
        <a:xfrm>
          <a:off x="0" y="0"/>
          <a:ext cx="0" cy="0"/>
          <a:chOff x="0" y="0"/>
          <a:chExt cx="0" cy="0"/>
        </a:xfrm>
      </p:grpSpPr>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8" name="Rectangle 7"/>
          <p:cNvSpPr/>
          <p:nvPr userDrawn="1"/>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rgbClr val="002060"/>
                </a:solidFill>
                <a:latin typeface="Century Gothic" panose="020B0702020202020204" pitchFamily="34" charset="0"/>
              </a:rPr>
              <a:t>[Event Name]</a:t>
            </a:r>
            <a:endParaRPr lang="en-US" sz="1800" b="1" dirty="0">
              <a:solidFill>
                <a:srgbClr val="002060"/>
              </a:solidFill>
              <a:latin typeface="Century Gothic" panose="020B0702020202020204" pitchFamily="34" charset="0"/>
            </a:endParaRPr>
          </a:p>
        </p:txBody>
      </p:sp>
      <p:graphicFrame>
        <p:nvGraphicFramePr>
          <p:cNvPr id="9" name="Table 8"/>
          <p:cNvGraphicFramePr>
            <a:graphicFrameLocks noGrp="1"/>
          </p:cNvGraphicFramePr>
          <p:nvPr userDrawn="1"/>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rtl="0" fontAlgn="ctr"/>
                      <a:r>
                        <a:rPr lang="en-US" sz="1800" b="1" i="0" u="none" strike="noStrike" dirty="0">
                          <a:solidFill>
                            <a:srgbClr val="000000"/>
                          </a:solidFill>
                          <a:effectLst/>
                          <a:latin typeface="Century Gothic" panose="020B0702020202020204" pitchFamily="34" charset="0"/>
                        </a:rPr>
                        <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rtl="0" fontAlgn="ctr"/>
                      <a:r>
                        <a:rPr lang="en-US" sz="1800" b="1" i="0" u="none" strike="noStrike" dirty="0">
                          <a:solidFill>
                            <a:srgbClr val="000000"/>
                          </a:solidFill>
                          <a:effectLst/>
                          <a:latin typeface="Century Gothic" panose="020B0702020202020204" pitchFamily="34" charset="0"/>
                        </a:rPr>
                        <a:t>[Event Name]</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rtl="0" fontAlgn="ctr"/>
                      <a:r>
                        <a:rPr lang="en-US" sz="1800" b="1" i="0" u="none" strike="noStrike">
                          <a:solidFill>
                            <a:srgbClr val="000000"/>
                          </a:solidFill>
                          <a:effectLst/>
                          <a:latin typeface="Century Gothic" panose="020B0702020202020204" pitchFamily="34" charset="0"/>
                        </a:rPr>
                        <a:t>Description</a:t>
                      </a:r>
                      <a:endParaRPr lang="en-US" sz="1800" b="1" i="0" u="none" strike="noStrike">
                        <a:solidFill>
                          <a:srgbClr val="000000"/>
                        </a:solidFill>
                        <a:effectLst/>
                        <a:latin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rtl="0" fontAlgn="ctr"/>
                      <a:endParaRPr lang="en-US" sz="900" b="0" i="0" u="none" strike="noStrike" dirty="0">
                        <a:solidFill>
                          <a:srgbClr val="000000"/>
                        </a:solidFill>
                        <a:effectLst/>
                        <a:latin typeface="Century Gothic" panose="020B0702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66500">
                <a:tc>
                  <a:txBody>
                    <a:bodyPr/>
                    <a:lstStyle/>
                    <a:p>
                      <a:pPr algn="l"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r>
                        <a:rPr lang="en-US" sz="1800" b="1" i="0" u="none" strike="noStrike">
                          <a:solidFill>
                            <a:srgbClr val="000000"/>
                          </a:solidFill>
                          <a:effectLst/>
                          <a:latin typeface="Century Gothic" panose="020B0702020202020204" pitchFamily="34" charset="0"/>
                        </a:rPr>
                        <a:t> </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Previous:</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Time (GMT):</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rtl="0" fontAlgn="ct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rtl="0" fontAlgn="ctr"/>
                      <a:r>
                        <a:rPr lang="en-US" sz="1800" b="1" i="0" u="none" strike="noStrike">
                          <a:solidFill>
                            <a:srgbClr val="000000"/>
                          </a:solidFill>
                          <a:effectLst/>
                          <a:latin typeface="Century Gothic" panose="020B0702020202020204" pitchFamily="34" charset="0"/>
                        </a:rPr>
                        <a:t>Release Date</a:t>
                      </a:r>
                      <a:endParaRPr lang="en-US" sz="1800" b="1" i="0" u="none" strike="noStrike">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Actual</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a:solidFill>
                            <a:srgbClr val="000000"/>
                          </a:solidFill>
                          <a:effectLst/>
                          <a:latin typeface="Century Gothic" panose="020B0702020202020204" pitchFamily="34" charset="0"/>
                        </a:rPr>
                        <a:t>Forecast</a:t>
                      </a:r>
                      <a:endParaRPr lang="en-US" sz="1800" b="1"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r>
                        <a:rPr lang="en-US" sz="1800" b="1" i="0" u="none" strike="noStrike" dirty="0">
                          <a:solidFill>
                            <a:srgbClr val="000000"/>
                          </a:solidFill>
                          <a:effectLst/>
                          <a:latin typeface="Century Gothic" panose="020B0702020202020204" pitchFamily="34" charset="0"/>
                        </a:rPr>
                        <a:t>Previous</a:t>
                      </a:r>
                      <a:endParaRPr lang="en-US" sz="1800" b="1"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rtl="0" fontAlgn="ctr"/>
                      <a:r>
                        <a:rPr lang="en-US" sz="1800" b="1" i="0" u="none" strike="noStrike" dirty="0">
                          <a:solidFill>
                            <a:srgbClr val="000000"/>
                          </a:solidFill>
                          <a:effectLst/>
                          <a:latin typeface="Century Gothic" panose="020B0702020202020204" pitchFamily="34" charset="0"/>
                        </a:rPr>
                        <a:t>[date]</a:t>
                      </a:r>
                      <a:endParaRPr lang="en-US" sz="1800" b="1" i="0" u="none" strike="noStrike" dirty="0">
                        <a:solidFill>
                          <a:srgbClr val="000000"/>
                        </a:solidFill>
                        <a:effectLst/>
                        <a:latin typeface="Century Gothic" panose="020B0702020202020204" pitchFamily="34" charset="0"/>
                      </a:endParaRPr>
                    </a:p>
                  </a:txBody>
                  <a:tcPr marL="5715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ctr"/>
                      <a:endParaRPr lang="en-US" sz="1800" b="0" i="0" u="none" strike="noStrike" dirty="0">
                        <a:solidFill>
                          <a:srgbClr val="000000"/>
                        </a:solidFill>
                        <a:effectLst/>
                        <a:latin typeface="Century Gothic" panose="020B0702020202020204" pitchFamily="34" charset="0"/>
                      </a:endParaRPr>
                    </a:p>
                  </a:txBody>
                  <a:tcPr marL="0" marR="1143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
        <p:nvSpPr>
          <p:cNvPr id="11" name="TextBox 10"/>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1]</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Main Title 02">
    <p:bg>
      <p:bgRef idx="1001">
        <a:schemeClr val="bg2"/>
      </p:bgRef>
    </p:bg>
    <p:spTree>
      <p:nvGrpSpPr>
        <p:cNvPr id="1" name=""/>
        <p:cNvGrpSpPr/>
        <p:nvPr/>
      </p:nvGrpSpPr>
      <p:grpSpPr>
        <a:xfrm>
          <a:off x="0" y="0"/>
          <a:ext cx="0" cy="0"/>
          <a:chOff x="0" y="0"/>
          <a:chExt cx="0" cy="0"/>
        </a:xfrm>
      </p:grpSpPr>
      <p:sp>
        <p:nvSpPr>
          <p:cNvPr id="12" name="Title 1"/>
          <p:cNvSpPr>
            <a:spLocks noGrp="1"/>
          </p:cNvSpPr>
          <p:nvPr>
            <p:ph type="ctrTitle"/>
          </p:nvPr>
        </p:nvSpPr>
        <p:spPr>
          <a:xfrm>
            <a:off x="353066" y="1550090"/>
            <a:ext cx="7746332" cy="2387600"/>
          </a:xfrm>
        </p:spPr>
        <p:txBody>
          <a:bodyPr anchor="ctr">
            <a:normAutofit/>
          </a:bodyPr>
          <a:lstStyle>
            <a:lvl1pPr algn="l">
              <a:defRPr sz="2800" b="1">
                <a:solidFill>
                  <a:schemeClr val="bg1"/>
                </a:solidFill>
              </a:defRPr>
            </a:lvl1pPr>
          </a:lstStyle>
          <a:p>
            <a:r>
              <a:rPr lang="en-US"/>
              <a:t>Click to edit Master title style</a:t>
            </a:r>
            <a:endParaRPr lang="en-US" dirty="0"/>
          </a:p>
        </p:txBody>
      </p:sp>
      <p:sp>
        <p:nvSpPr>
          <p:cNvPr id="14" name="Subtitle 2"/>
          <p:cNvSpPr>
            <a:spLocks noGrp="1"/>
          </p:cNvSpPr>
          <p:nvPr>
            <p:ph type="subTitle" idx="1"/>
          </p:nvPr>
        </p:nvSpPr>
        <p:spPr>
          <a:xfrm>
            <a:off x="353066" y="4029765"/>
            <a:ext cx="7746332" cy="96745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2" name="Picture 1" descr="A line drawn on a white background&#10;&#10;Description automatically generated"/>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0" y="-22470"/>
            <a:ext cx="12192000" cy="6902939"/>
          </a:xfrm>
          <a:prstGeom prst="rect">
            <a:avLst/>
          </a:prstGeom>
        </p:spPr>
      </p:pic>
      <p:sp>
        <p:nvSpPr>
          <p:cNvPr id="3" name="Rectangle 2"/>
          <p:cNvSpPr/>
          <p:nvPr userDrawn="1"/>
        </p:nvSpPr>
        <p:spPr>
          <a:xfrm>
            <a:off x="1604682" y="6017577"/>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p:nvPr userDrawn="1"/>
        </p:nvSpPr>
        <p:spPr>
          <a:xfrm>
            <a:off x="801006" y="528550"/>
            <a:ext cx="3622769" cy="17658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endParaRPr lang="en-US" sz="1100" dirty="0">
              <a:solidFill>
                <a:schemeClr val="accent5">
                  <a:lumMod val="50000"/>
                </a:schemeClr>
              </a:solidFill>
            </a:endParaRPr>
          </a:p>
        </p:txBody>
      </p:sp>
      <p:sp>
        <p:nvSpPr>
          <p:cNvPr id="6" name="Title 1"/>
          <p:cNvSpPr txBox="1"/>
          <p:nvPr userDrawn="1"/>
        </p:nvSpPr>
        <p:spPr>
          <a:xfrm>
            <a:off x="484910" y="525923"/>
            <a:ext cx="5184370" cy="1217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2000" b="1" dirty="0">
                <a:solidFill>
                  <a:srgbClr val="002060"/>
                </a:solidFill>
                <a:latin typeface="Century Gothic" panose="020B0702020202020204" pitchFamily="34" charset="0"/>
              </a:rPr>
              <a:t>[Event Name]</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[asset name 2]</a:t>
            </a:r>
            <a:endParaRPr lang="en-US" sz="2000" b="1" dirty="0">
              <a:solidFill>
                <a:srgbClr val="002060"/>
              </a:solidFill>
              <a:latin typeface="Century Gothic" panose="020B0702020202020204" pitchFamily="34" charset="0"/>
            </a:endParaRPr>
          </a:p>
        </p:txBody>
      </p:sp>
      <p:sp>
        <p:nvSpPr>
          <p:cNvPr id="9" name="TextBox 8"/>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able of content">
    <p:spTree>
      <p:nvGrpSpPr>
        <p:cNvPr id="1" name=""/>
        <p:cNvGrpSpPr/>
        <p:nvPr/>
      </p:nvGrpSpPr>
      <p:grpSpPr>
        <a:xfrm>
          <a:off x="0" y="0"/>
          <a:ext cx="0" cy="0"/>
          <a:chOff x="0" y="0"/>
          <a:chExt cx="0" cy="0"/>
        </a:xfrm>
      </p:grpSpPr>
      <p:pic>
        <p:nvPicPr>
          <p:cNvPr id="68" name="Graphic 6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3031" y="356848"/>
            <a:ext cx="1499507" cy="361950"/>
          </a:xfrm>
          <a:prstGeom prst="rect">
            <a:avLst/>
          </a:prstGeom>
        </p:spPr>
      </p:pic>
      <p:sp>
        <p:nvSpPr>
          <p:cNvPr id="5" name="TextBox 4"/>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743200" cy="365125"/>
          </a:xfrm>
          <a:prstGeom prst="rect">
            <a:avLst/>
          </a:prstGeom>
        </p:spPr>
        <p:txBody>
          <a:bodyPr/>
          <a:lstStyle/>
          <a:p>
            <a:fld id="{9C520731-65EA-CE43-94A5-88CA2912E5C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24CBB0-FF61-A741-B66C-72250AAD4BCF}" type="slidenum">
              <a:rPr lang="en-US" smtClean="0"/>
            </a:fld>
            <a:endParaRPr lang="en-US"/>
          </a:p>
        </p:txBody>
      </p:sp>
      <p:sp>
        <p:nvSpPr>
          <p:cNvPr id="6" name="TextBox 5"/>
          <p:cNvSpPr txBox="1"/>
          <p:nvPr userDrawn="1"/>
        </p:nvSpPr>
        <p:spPr>
          <a:xfrm rot="5400000">
            <a:off x="11014010" y="1241867"/>
            <a:ext cx="2056958" cy="230832"/>
          </a:xfrm>
          <a:prstGeom prst="rect">
            <a:avLst/>
          </a:prstGeom>
          <a:noFill/>
        </p:spPr>
        <p:txBody>
          <a:bodyPr wrap="square">
            <a:spAutoFit/>
          </a:bodyPr>
          <a:lstStyle/>
          <a:p>
            <a:r>
              <a:rPr lang="en-US" sz="900" dirty="0">
                <a:solidFill>
                  <a:schemeClr val="accent4">
                    <a:lumMod val="75000"/>
                  </a:schemeClr>
                </a:solidFill>
                <a:latin typeface="Century Gothic" panose="020B0702020202020204" pitchFamily="34" charset="0"/>
              </a:rPr>
              <a:t>Quantwater Tech Investments </a:t>
            </a:r>
            <a:endParaRPr lang="en-US" sz="900" dirty="0">
              <a:solidFill>
                <a:schemeClr val="accent4">
                  <a:lumMod val="75000"/>
                </a:schemeClr>
              </a:solidFill>
              <a:latin typeface="Century Gothic" panose="020B0702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6700" y="228600"/>
            <a:ext cx="11658600" cy="571500"/>
          </a:xfrm>
          <a:prstGeom prst="rect">
            <a:avLst/>
          </a:prstGeom>
        </p:spPr>
        <p:txBody>
          <a:bodyPr vert="horz" lIns="91440" tIns="45720" rIns="91440" bIns="45720" rtlCol="0" anchor="ctr">
            <a:normAutofit/>
          </a:bodyPr>
          <a:lstStyle/>
          <a:p>
            <a:r>
              <a:rPr lang="en-US" dirty="0"/>
              <a:t>Insert Text Here</a:t>
            </a:r>
            <a:endParaRPr lang="en-US" dirty="0"/>
          </a:p>
        </p:txBody>
      </p:sp>
      <p:sp>
        <p:nvSpPr>
          <p:cNvPr id="3" name="Text Placeholder 2"/>
          <p:cNvSpPr>
            <a:spLocks noGrp="1"/>
          </p:cNvSpPr>
          <p:nvPr>
            <p:ph type="body" idx="1"/>
          </p:nvPr>
        </p:nvSpPr>
        <p:spPr>
          <a:xfrm>
            <a:off x="266700" y="892098"/>
            <a:ext cx="11658600" cy="5343677"/>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Arial" panose="020B0704020202020204" pitchFamily="34" charset="0"/>
              </a:defRPr>
            </a:lvl1pPr>
          </a:lstStyle>
          <a:p>
            <a:endParaRPr lang="en-US" dirty="0"/>
          </a:p>
        </p:txBody>
      </p:sp>
      <p:sp>
        <p:nvSpPr>
          <p:cNvPr id="6" name="Slide Number Placeholder 5"/>
          <p:cNvSpPr>
            <a:spLocks noGrp="1"/>
          </p:cNvSpPr>
          <p:nvPr>
            <p:ph type="sldNum" sz="quarter" idx="4"/>
          </p:nvPr>
        </p:nvSpPr>
        <p:spPr>
          <a:xfrm>
            <a:off x="88392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Arial" panose="020B0704020202020204" pitchFamily="34" charset="0"/>
              </a:defRPr>
            </a:lvl1pPr>
          </a:lstStyle>
          <a:p>
            <a:fld id="{743B1F26-96D9-40A6-83AD-00943405493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2800" b="1" kern="1200">
          <a:solidFill>
            <a:srgbClr val="0E1120"/>
          </a:solidFill>
          <a:latin typeface="Arial" panose="020B0704020202020204" pitchFamily="34" charset="0"/>
          <a:ea typeface="+mj-ea"/>
          <a:cs typeface="Arial" panose="020B0704020202020204" pitchFamily="34" charset="0"/>
        </a:defRPr>
      </a:lvl1pPr>
    </p:titleStyle>
    <p:bodyStyle>
      <a:lvl1pPr marL="0" indent="0" algn="l" defTabSz="914400" rtl="0" eaLnBrk="1" latinLnBrk="0" hangingPunct="1">
        <a:lnSpc>
          <a:spcPct val="90000"/>
        </a:lnSpc>
        <a:spcBef>
          <a:spcPts val="1000"/>
        </a:spcBef>
        <a:buFont typeface="Arial" panose="020B0704020202020204" pitchFamily="34" charset="0"/>
        <a:buNone/>
        <a:defRPr sz="2000" kern="1200">
          <a:solidFill>
            <a:srgbClr val="0E1120"/>
          </a:solidFill>
          <a:latin typeface="Arial" panose="020B0704020202020204" pitchFamily="34" charset="0"/>
          <a:ea typeface="+mn-ea"/>
          <a:cs typeface="+mn-cs"/>
        </a:defRPr>
      </a:lvl1pPr>
      <a:lvl2pPr marL="457200" indent="0" algn="l"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2pPr>
      <a:lvl3pPr marL="914400" indent="0" algn="l"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3pPr>
      <a:lvl4pPr marL="13716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4pPr>
      <a:lvl5pPr marL="1828800" indent="0" algn="l" defTabSz="914400" rtl="0" eaLnBrk="1" latinLnBrk="0" hangingPunct="1">
        <a:lnSpc>
          <a:spcPct val="90000"/>
        </a:lnSpc>
        <a:spcBef>
          <a:spcPts val="500"/>
        </a:spcBef>
        <a:buFont typeface="Arial" panose="020B0704020202020204" pitchFamily="34" charset="0"/>
        <a:buNone/>
        <a:defRPr sz="1400" kern="1200">
          <a:solidFill>
            <a:srgbClr val="0E1120"/>
          </a:solidFill>
          <a:latin typeface="Arial" panose="020B0704020202020204" pitchFamily="34" charset="0"/>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7.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9.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9.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5.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pn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4.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5.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6.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7.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8.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9.png"/></Relationships>
</file>

<file path=ppt/slides/_rels/slide1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0.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1.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4.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7.png"/></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8.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1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4.png"/></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5.png"/></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6.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7.png"/></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8.pn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9.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0.pn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1.png"/></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2.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3.png"/></Relationships>
</file>

<file path=ppt/slides/_rels/slide1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9.wdp"/><Relationship Id="rId1" Type="http://schemas.openxmlformats.org/officeDocument/2006/relationships/image" Target="../media/image1.png"/></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4.png"/></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5.png"/></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6.png"/></Relationships>
</file>

<file path=ppt/slides/_rels/slide1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png"/></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8.png"/></Relationships>
</file>

<file path=ppt/slides/_rels/slide1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4.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hyperlink" Target="https://quantwatertech.netlify.app/blog" TargetMode="External"/><Relationship Id="rId4" Type="http://schemas.openxmlformats.org/officeDocument/2006/relationships/hyperlink" Target="https://quantwatertech.netlify.app/research" TargetMode="External"/><Relationship Id="rId3" Type="http://schemas.openxmlformats.org/officeDocument/2006/relationships/hyperlink" Target="https://github.com/pawan-pro/quantwater-tech-investments/blob/main/QuantPulse" TargetMode="External"/><Relationship Id="rId2" Type="http://schemas.openxmlformats.org/officeDocument/2006/relationships/hyperlink" Target="https://www.investing.com/brokers/firms-prop-trading/" TargetMode="External"/><Relationship Id="rId1" Type="http://schemas.openxmlformats.org/officeDocument/2006/relationships/hyperlink" Target="https://portal.my-equiti.com/sc/register/?clickid=1154892&amp;affid=C02232911" TargetMode="External"/></Relationships>
</file>

<file path=ppt/slides/_rels/slide1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microsoft.com/office/2007/relationships/hdphoto" Target="../media/image130.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6059020" y="3501931"/>
            <a:ext cx="5443870" cy="220035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b="0" dirty="0">
                <a:solidFill>
                  <a:schemeClr val="bg1">
                    <a:lumMod val="50000"/>
                  </a:schemeClr>
                </a:solidFill>
                <a:latin typeface="Century Gothic" panose="020B0702020202020204" pitchFamily="34" charset="0"/>
                <a:cs typeface="Century Gothic" panose="020B0702020202020204" pitchFamily="34" charset="0"/>
              </a:rPr>
              <a:t>13</a:t>
            </a:r>
            <a:r>
              <a:rPr lang="en-US" sz="3300" b="0" baseline="30000" dirty="0">
                <a:solidFill>
                  <a:schemeClr val="bg1">
                    <a:lumMod val="50000"/>
                  </a:schemeClr>
                </a:solidFill>
                <a:latin typeface="Century Gothic" panose="020B0702020202020204" pitchFamily="34" charset="0"/>
                <a:cs typeface="Century Gothic" panose="020B0702020202020204" pitchFamily="34" charset="0"/>
              </a:rPr>
              <a:t>th</a:t>
            </a:r>
            <a:r>
              <a:rPr lang="en-US" sz="3300" b="0" dirty="0">
                <a:solidFill>
                  <a:schemeClr val="bg1">
                    <a:lumMod val="50000"/>
                  </a:schemeClr>
                </a:solidFill>
                <a:latin typeface="Century Gothic" panose="020B0702020202020204" pitchFamily="34" charset="0"/>
                <a:cs typeface="Century Gothic" panose="020B0702020202020204" pitchFamily="34" charset="0"/>
              </a:rPr>
              <a:t> October 2025</a:t>
            </a:r>
            <a:endParaRPr lang="en-US" sz="3300" b="0" dirty="0">
              <a:solidFill>
                <a:schemeClr val="bg1">
                  <a:lumMod val="50000"/>
                </a:schemeClr>
              </a:solidFill>
              <a:latin typeface="Century Gothic" panose="020B0702020202020204" pitchFamily="34" charset="0"/>
              <a:cs typeface="Century Gothic" panose="020B0702020202020204" pitchFamily="34" charset="0"/>
            </a:endParaRPr>
          </a:p>
          <a:p>
            <a:endParaRPr lang="en-US" sz="3300" b="0" dirty="0">
              <a:solidFill>
                <a:schemeClr val="bg1">
                  <a:lumMod val="50000"/>
                </a:schemeClr>
              </a:solidFill>
              <a:latin typeface="Century Gothic" panose="020B0702020202020204" pitchFamily="34" charset="0"/>
              <a:cs typeface="Century Gothic" panose="020B0702020202020204" pitchFamily="34" charset="0"/>
            </a:endParaRPr>
          </a:p>
          <a:p>
            <a:r>
              <a:rPr lang="en-US" sz="3300" b="0" dirty="0">
                <a:solidFill>
                  <a:schemeClr val="bg1">
                    <a:lumMod val="50000"/>
                  </a:schemeClr>
                </a:solidFill>
                <a:latin typeface="Century Gothic" panose="020B0702020202020204" pitchFamily="34" charset="0"/>
                <a:cs typeface="Century Gothic" panose="020B0702020202020204" pitchFamily="34" charset="0"/>
              </a:rPr>
              <a:t>Economic Data Releases &amp; Their Historical Impact on Assets</a:t>
            </a:r>
            <a:endParaRPr lang="en-US" sz="3300" b="0" dirty="0">
              <a:solidFill>
                <a:schemeClr val="bg1">
                  <a:lumMod val="50000"/>
                </a:schemeClr>
              </a:solidFill>
              <a:latin typeface="Century Gothic" panose="020B0702020202020204" pitchFamily="34" charset="0"/>
              <a:cs typeface="Century Gothic" panose="020B0702020202020204" pitchFamily="34" charset="0"/>
            </a:endParaRPr>
          </a:p>
        </p:txBody>
      </p:sp>
      <p:sp>
        <p:nvSpPr>
          <p:cNvPr id="18" name="Rectangle 17"/>
          <p:cNvSpPr/>
          <p:nvPr/>
        </p:nvSpPr>
        <p:spPr>
          <a:xfrm>
            <a:off x="1606230" y="5820770"/>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Overview</a:t>
            </a:r>
            <a:endParaRPr lang="en-US"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8" name="Table 7"/>
          <p:cNvGraphicFramePr>
            <a:graphicFrameLocks noGrp="1"/>
          </p:cNvGraphicFramePr>
          <p:nvPr/>
        </p:nvGraphicFramePr>
        <p:xfrm>
          <a:off x="440055" y="882650"/>
          <a:ext cx="11407140" cy="5577840"/>
        </p:xfrm>
        <a:graphic>
          <a:graphicData uri="http://schemas.openxmlformats.org/drawingml/2006/table">
            <a:tbl>
              <a:tblPr>
                <a:tableStyleId>{5C22544A-7EE6-4342-B048-85BDC9FD1C3A}</a:tableStyleId>
              </a:tblPr>
              <a:tblGrid>
                <a:gridCol w="1492250"/>
                <a:gridCol w="949960"/>
                <a:gridCol w="1283335"/>
                <a:gridCol w="927100"/>
                <a:gridCol w="723900"/>
                <a:gridCol w="6030595"/>
              </a:tblGrid>
              <a:tr h="343535">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Date</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Day</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Time (IST)</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Cur.</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Imp.</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200" b="0" i="0">
                          <a:solidFill>
                            <a:schemeClr val="tx1"/>
                          </a:solidFill>
                          <a:latin typeface="Century Gothic" panose="020B0702020202020204" pitchFamily="34" charset="0"/>
                          <a:ea typeface="Century Gothic" panose="020B0702020202020204"/>
                          <a:cs typeface="Century Gothic" panose="020B0702020202020204" pitchFamily="34" charset="0"/>
                        </a:rPr>
                        <a:t>Event</a:t>
                      </a:r>
                      <a:endParaRPr sz="12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13-Oct-25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Mon</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All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Holiday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Canada - Thanksgiving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13-Oct-25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Mon</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All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Holiday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Canada - Thanksgiving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13-Oct-25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Mon</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All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Holiday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Canada - Thanksgiving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6390">
                <a:tc>
                  <a:txBody>
                    <a:bodyPr/>
                    <a:lstStyle/>
                    <a:p>
                      <a:pPr algn="ctr" fontAlgn="ctr"/>
                      <a:r>
                        <a:rPr sz="1000" b="0" i="0">
                          <a:solidFill>
                            <a:srgbClr val="000000"/>
                          </a:solidFill>
                          <a:latin typeface="Century Gothic" panose="020B0702020202020204"/>
                          <a:ea typeface="Century Gothic" panose="020B0702020202020204"/>
                        </a:rPr>
                        <a:t>13-Oct-25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Mon</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All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Holiday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Japan - National Sports Day</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14-Oct-25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Tue</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11:30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EUR</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German CPI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panose="020B0702020202020204"/>
                          <a:ea typeface="Century Gothic" panose="020B0702020202020204"/>
                        </a:rPr>
                        <a:t>15-Oct-25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Wed</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Core CPI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025">
                <a:tc>
                  <a:txBody>
                    <a:bodyPr/>
                    <a:lstStyle/>
                    <a:p>
                      <a:pPr algn="ctr" fontAlgn="ctr"/>
                      <a:r>
                        <a:rPr sz="1000" b="0" i="0">
                          <a:solidFill>
                            <a:srgbClr val="000000"/>
                          </a:solidFill>
                          <a:latin typeface="Century Gothic" panose="020B0702020202020204"/>
                          <a:ea typeface="Century Gothic" panose="020B0702020202020204"/>
                        </a:rPr>
                        <a:t>15-Oct-25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Wed</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CPI (YoY)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15-Oct-25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Wed</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CPI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16-Oct-25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Thu</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11:30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GBP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GDP (MoM) (Aug)</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025">
                <a:tc>
                  <a:txBody>
                    <a:bodyPr/>
                    <a:lstStyle/>
                    <a:p>
                      <a:pPr algn="ctr" fontAlgn="ctr"/>
                      <a:r>
                        <a:rPr sz="1000" b="0" i="0">
                          <a:solidFill>
                            <a:srgbClr val="000000"/>
                          </a:solidFill>
                          <a:latin typeface="Century Gothic" panose="020B0702020202020204"/>
                          <a:ea typeface="Century Gothic" panose="020B0702020202020204"/>
                        </a:rPr>
                        <a:t>16-Oct-25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Thu</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Core Retail Sales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16-Oct-25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Thu</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Philadelphia Fed Manufacturing Index (Oct)</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025">
                <a:tc>
                  <a:txBody>
                    <a:bodyPr/>
                    <a:lstStyle/>
                    <a:p>
                      <a:pPr algn="ctr" fontAlgn="ctr"/>
                      <a:r>
                        <a:rPr sz="1000" b="0" i="0">
                          <a:solidFill>
                            <a:srgbClr val="000000"/>
                          </a:solidFill>
                          <a:latin typeface="Century Gothic" panose="020B0702020202020204"/>
                          <a:ea typeface="Century Gothic" panose="020B0702020202020204"/>
                        </a:rPr>
                        <a:t>16-Oct-25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Thu</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PPI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8295">
                <a:tc>
                  <a:txBody>
                    <a:bodyPr/>
                    <a:lstStyle/>
                    <a:p>
                      <a:pPr algn="ctr" fontAlgn="ctr"/>
                      <a:r>
                        <a:rPr sz="1000" b="0" i="0">
                          <a:solidFill>
                            <a:srgbClr val="000000"/>
                          </a:solidFill>
                          <a:latin typeface="Century Gothic" panose="020B0702020202020204"/>
                          <a:ea typeface="Century Gothic" panose="020B0702020202020204"/>
                        </a:rPr>
                        <a:t>16-Oct-25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Thu</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18:00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USD</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Retail Sales (MoM)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sz="1000" b="0" i="0">
                          <a:solidFill>
                            <a:srgbClr val="000000"/>
                          </a:solidFill>
                          <a:latin typeface="Century Gothic" panose="020B0702020202020204"/>
                          <a:ea typeface="Century Gothic" panose="020B0702020202020204"/>
                        </a:rPr>
                        <a:t>17-Oct-25</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 </a:t>
                      </a:r>
                      <a:r>
                        <a:rPr sz="1000" b="0" i="0">
                          <a:solidFill>
                            <a:srgbClr val="000000"/>
                          </a:solidFill>
                          <a:latin typeface="Century Gothic" panose="020B0702020202020204"/>
                          <a:ea typeface="Century Gothic" panose="020B0702020202020204"/>
                        </a:rPr>
                        <a:t>Fri</a:t>
                      </a:r>
                      <a:r>
                        <a:rPr sz="1000" b="0" i="0">
                          <a:solidFill>
                            <a:srgbClr val="000000"/>
                          </a:solidFill>
                          <a:latin typeface="Century Gothic" panose="020B0702020202020204"/>
                          <a:ea typeface="Century Gothic" panose="020B0702020202020204"/>
                        </a:rPr>
                        <a:t> </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14:30</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EUR</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rgbClr val="000000"/>
                          </a:solidFill>
                          <a:latin typeface="Century Gothic" panose="020B0702020202020204"/>
                          <a:ea typeface="Century Gothic" panose="020B0702020202020204"/>
                        </a:rPr>
                        <a:t>3</a:t>
                      </a:r>
                      <a:endParaRPr lang="en-US"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rgbClr val="000000"/>
                          </a:solidFill>
                          <a:latin typeface="Century Gothic" panose="020B0702020202020204"/>
                          <a:ea typeface="Century Gothic" panose="020B0702020202020204"/>
                        </a:rPr>
                        <a:t>CPI (YoY) (Sep)</a:t>
                      </a:r>
                      <a:endParaRPr sz="1000" b="0" i="0">
                        <a:solidFill>
                          <a:srgbClr val="000000"/>
                        </a:solidFill>
                        <a:latin typeface="Century Gothic" panose="020B0702020202020204"/>
                        <a:ea typeface="Century Gothic" panose="020B0702020202020204"/>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7660">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2</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9-Oct-25</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Wed</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 </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23</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a:t>
                      </a:r>
                      <a:r>
                        <a:rPr 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0</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3</a:t>
                      </a:r>
                      <a:endParaRPr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sz="1000" b="0" i="0">
                          <a:solidFill>
                            <a:schemeClr val="tx1"/>
                          </a:solidFill>
                          <a:latin typeface="Century Gothic" panose="020B0702020202020204" pitchFamily="34" charset="0"/>
                          <a:ea typeface="Century Gothic" panose="020B0702020202020204"/>
                          <a:cs typeface="Century Gothic" panose="020B0702020202020204" pitchFamily="34" charset="0"/>
                        </a:rPr>
                        <a:t>USD - </a:t>
                      </a:r>
                      <a:r>
                        <a:rPr lang="en-US" altLang="en-US" sz="1000" b="0" i="0">
                          <a:solidFill>
                            <a:schemeClr val="tx1"/>
                          </a:solidFill>
                          <a:latin typeface="Century Gothic" panose="020B0702020202020204" pitchFamily="34" charset="0"/>
                          <a:ea typeface="Century Gothic" panose="020B0702020202020204"/>
                          <a:cs typeface="Century Gothic" panose="020B0702020202020204" pitchFamily="34" charset="0"/>
                        </a:rPr>
                        <a:t>Fed Interest Rate Decision</a:t>
                      </a:r>
                      <a:endParaRPr lang="en-US" altLang="en-US" sz="1000" b="0" i="0">
                        <a:solidFill>
                          <a:schemeClr val="tx1"/>
                        </a:solidFill>
                        <a:latin typeface="Century Gothic" panose="020B0702020202020204" pitchFamily="34" charset="0"/>
                        <a:ea typeface="Century Gothic" panose="020B0702020202020204"/>
                        <a:cs typeface="Century Gothic" panose="020B0702020202020204" pitchFamily="34" charset="0"/>
                      </a:endParaRPr>
                    </a:p>
                  </a:txBody>
                  <a:tcPr marL="13017" marR="13017" marT="13017"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21310">
                <a:tc gridSpan="6">
                  <a:txBody>
                    <a:bodyPr/>
                    <a:lstStyle/>
                    <a:p>
                      <a:pPr lvl="0" algn="ctr" fontAlgn="ctr"/>
                      <a:r>
                        <a:rPr sz="1000" b="0" i="0" u="none" strike="noStrike">
                          <a:solidFill>
                            <a:schemeClr val="tx1"/>
                          </a:solidFill>
                          <a:latin typeface="Century Gothic" panose="020B0702020202020204" pitchFamily="34" charset="0"/>
                          <a:ea typeface="Century Gothic" panose="020B0702020202020204"/>
                          <a:cs typeface="Century Gothic" panose="020B0702020202020204" pitchFamily="34" charset="0"/>
                        </a:rPr>
                        <a:t>Annexur</a:t>
                      </a:r>
                      <a:r>
                        <a:rPr lang="en-US" sz="1000" b="0" i="0" u="none" strike="noStrike">
                          <a:solidFill>
                            <a:schemeClr val="tx1"/>
                          </a:solidFill>
                          <a:latin typeface="Century Gothic" panose="020B0702020202020204" pitchFamily="34" charset="0"/>
                          <a:ea typeface="Century Gothic" panose="020B0702020202020204"/>
                          <a:cs typeface="Century Gothic" panose="020B0702020202020204" pitchFamily="34" charset="0"/>
                        </a:rPr>
                        <a:t>e: Key Terms &amp; Links </a:t>
                      </a:r>
                      <a:endParaRPr lang="en-US" sz="800" b="0" i="0" u="none" strike="noStrike" dirty="0">
                        <a:solidFill>
                          <a:srgbClr val="000000"/>
                        </a:solidFill>
                        <a:effectLst/>
                        <a:latin typeface="Century Gothic" panose="020B0702020202020204" pitchFamily="34" charset="0"/>
                        <a:cs typeface="Century Gothic" panose="020B0702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German 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German 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German Consumer Price Index (CPI) measures the changes in the price of goods and services purchased by consumers.</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EUR, while a lower than expected reading should be taken as negative/bearish for the EUR.</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EURJPY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0.20%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30-Sep-25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29-Aug-25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31-Jul-25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10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31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13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29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3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German 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0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31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3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9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30_12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Core 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Core 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Core Consumer Price Index (CPI) measures the changes in the price of goods and services, excluding food and energy. The CPI measures price change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0.3%</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CPI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(YoY)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(YoY)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2.90%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Sep 11,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Aug 12,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Jul 15,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Jun 11,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May 13,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Apr 10,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highlight>
                  <a:srgbClr val="000000">
                    <a:alpha val="0"/>
                  </a:srgbClr>
                </a:highlight>
                <a:latin typeface="Century Gothic" panose="020B0702020202020204" pitchFamily="34" charset="0"/>
                <a:sym typeface="+mn-ea"/>
              </a:rPr>
              <a:t>CPI (YoY) (Sep)</a:t>
            </a:r>
            <a:endParaRPr lang="en-US" sz="2000" b="1" dirty="0">
              <a:solidFill>
                <a:srgbClr val="002060"/>
              </a:solidFill>
              <a:highlight>
                <a:srgbClr val="000000">
                  <a:alpha val="0"/>
                </a:srgbClr>
              </a:highlight>
              <a:latin typeface="Century Gothic" panose="020B0702020202020204" pitchFamily="34" charset="0"/>
            </a:endParaRPr>
          </a:p>
          <a:p>
            <a:r>
              <a:rPr lang="en-US" sz="2000" b="1" dirty="0">
                <a:solidFill>
                  <a:srgbClr val="002060"/>
                </a:solidFill>
                <a:highlight>
                  <a:srgbClr val="000000">
                    <a:alpha val="0"/>
                  </a:srgbClr>
                </a:highlight>
                <a:latin typeface="Century Gothic" panose="020B0702020202020204" pitchFamily="34" charset="0"/>
              </a:rPr>
              <a:t>EURUSD</a:t>
            </a:r>
            <a:endParaRPr lang="en-US" sz="2000" b="1" dirty="0">
              <a:solidFill>
                <a:srgbClr val="002060"/>
              </a:solidFill>
              <a:highlight>
                <a:srgbClr val="000000">
                  <a:alpha val="0"/>
                </a:srgbClr>
              </a:highlight>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(MoM) (Sep)</a:t>
            </a:r>
            <a:endParaRPr 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 0.</a:t>
                      </a:r>
                      <a:r>
                        <a:rPr lang="en-US" sz="1500" b="1" i="0">
                          <a:solidFill>
                            <a:srgbClr val="000000"/>
                          </a:solidFill>
                          <a:latin typeface="Century Gothic" panose="020B0702020202020204"/>
                          <a:ea typeface="Century Gothic" panose="020B0702020202020204"/>
                        </a:rPr>
                        <a:t>4</a:t>
                      </a:r>
                      <a:r>
                        <a:rPr sz="1500" b="1" i="0">
                          <a:solidFill>
                            <a:srgbClr val="000000"/>
                          </a:solidFill>
                          <a:latin typeface="Century Gothic" panose="020B0702020202020204"/>
                          <a:ea typeface="Century Gothic" panose="020B0702020202020204"/>
                        </a:rPr>
                        <a:t>0</a:t>
                      </a:r>
                      <a:r>
                        <a:rPr lang="en-US" sz="1500" b="1" i="0">
                          <a:solidFill>
                            <a:srgbClr val="000000"/>
                          </a:solidFill>
                          <a:latin typeface="Century Gothic" panose="020B0702020202020204"/>
                          <a:ea typeface="Century Gothic" panose="020B0702020202020204"/>
                        </a:rPr>
                        <a:t>%</a:t>
                      </a:r>
                      <a:r>
                        <a:rPr sz="1500" b="1" i="0">
                          <a:solidFill>
                            <a:srgbClr val="000000"/>
                          </a:solidFill>
                          <a:latin typeface="Century Gothic" panose="020B0702020202020204"/>
                          <a:ea typeface="Century Gothic" panose="020B0702020202020204"/>
                        </a:rPr>
                        <a:t> </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13-May-25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(MoM) (Sep)</a:t>
            </a:r>
            <a:endParaRPr lang="en-US" sz="2000" b="1" dirty="0">
              <a:solidFill>
                <a:srgbClr val="002060"/>
              </a:solidFill>
              <a:latin typeface="Century Gothic" panose="020B0702020202020204" pitchFamily="34" charset="0"/>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3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GDP (MoM) (Aug)</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GDP (MoM) (Aug)</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Gross Domestic Product (GDP) measures the annualized change in the inflation-adjusted value of all goods and services produced by the economy. It is the broadest measure of economic activity and the primary indicator of the economy's health. A higher than expected reading should be taken as positive/bullish for the GBP, while a lower than expected reading should be taken as negative/bearish for the GBP.</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GBPJPY | GBPUSD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14-Aug-25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GBPJPY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4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515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6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7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814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JPY_202509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GDP (MoM) (Aug)</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GBPUSD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4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515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6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711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814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GBPUSD_20250912_06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Core Retail Sales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Core Retail Sales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Core Retail Sales measures the change in the total value of sales at the retail level in the U.S., excluding automobiles. It is an important indicator of consumer spending and is also considered as a pace indicator for the U.S. economy.</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0.70%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0.80%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altLang="en-US" sz="2000" dirty="0">
              <a:solidFill>
                <a:srgbClr val="002060"/>
              </a:solidFill>
              <a:latin typeface="Century Gothic" panose="020B0702020202020204" pitchFamily="34" charset="0"/>
              <a:sym typeface="+mn-ea"/>
            </a:endParaRPr>
          </a:p>
          <a:p>
            <a:r>
              <a:rPr lang="en-US" altLang="en-US" sz="2000" dirty="0">
                <a:solidFill>
                  <a:srgbClr val="002060"/>
                </a:solidFill>
                <a:latin typeface="Century Gothic" panose="020B0702020202020204" pitchFamily="34" charset="0"/>
                <a:sym typeface="+mn-ea"/>
              </a:rPr>
              <a:t>USD</a:t>
            </a:r>
            <a:r>
              <a:rPr lang="en-US" sz="2000" b="1" dirty="0">
                <a:solidFill>
                  <a:srgbClr val="002060"/>
                </a:solidFill>
                <a:latin typeface="Century Gothic" panose="020B0702020202020204" pitchFamily="34" charset="0"/>
              </a:rPr>
              <a:t>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Core Retail Sales (MoM) (Sep)</a:t>
            </a:r>
            <a:endParaRPr lang="en-US" altLang="en-US" sz="2000" dirty="0">
              <a:solidFill>
                <a:srgbClr val="002060"/>
              </a:solidFill>
              <a:latin typeface="Century Gothic" panose="020B0702020202020204" pitchFamily="34" charset="0"/>
              <a:sym typeface="+mn-ea"/>
            </a:endParaRPr>
          </a:p>
          <a:p>
            <a:r>
              <a:rPr lang="en-US" altLang="en-US" sz="2000" dirty="0">
                <a:solidFill>
                  <a:srgbClr val="002060"/>
                </a:solidFill>
                <a:latin typeface="Century Gothic" panose="020B0702020202020204" pitchFamily="34" charset="0"/>
                <a:sym typeface="+mn-ea"/>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Philadelphia Fed Manufacturing Index (Oct)</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700" y="889635"/>
          <a:ext cx="11658600" cy="5862320"/>
        </p:xfrm>
        <a:graphic>
          <a:graphicData uri="http://schemas.openxmlformats.org/drawingml/2006/table">
            <a:tbl>
              <a:tblPr/>
              <a:tblGrid>
                <a:gridCol w="1550670"/>
                <a:gridCol w="1765300"/>
                <a:gridCol w="1765935"/>
                <a:gridCol w="1765300"/>
                <a:gridCol w="4811395"/>
              </a:tblGrid>
              <a:tr h="428625">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Philadelphia Fed Manufacturing Index (Oct)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2799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Philadelphia Federal Reserve Manufacturing Index rates the relative level of general business conditions in Philadelphia. A level above zero on the index indicates improving conditions; below indicates worsening conditions. The data is compiled from a survey of about 250 manufacturers in the Philadelphia Federal Reserve district.</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28625">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8625">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 23.20 </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799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28625">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Sep 18,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23.20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1.70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Aug 21, 2025 </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(0.30)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6.80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15.90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Jul 17,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15.90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(4.00)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Jun 20,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(4.00)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(4.00)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May 15, 2025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(4.00)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(11.30)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(26.40)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548640">
                <a:tc>
                  <a:txBody>
                    <a:bodyPr/>
                    <a:lstStyle/>
                    <a:p>
                      <a:pPr algn="l" fontAlgn="ctr"/>
                      <a:r>
                        <a:rPr sz="1500" b="1" i="0">
                          <a:solidFill>
                            <a:srgbClr val="000000"/>
                          </a:solidFill>
                          <a:latin typeface="Century Gothic" panose="020B0702020202020204"/>
                          <a:ea typeface="Century Gothic" panose="020B0702020202020204"/>
                        </a:rPr>
                        <a:t>Apr 17, 2025 </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(26.40)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2.20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 12.50 </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2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2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8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Philadelphia Fed Manufacturing Index (Oct)</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2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8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PPI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PPI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Producer Price Index (PPI) measures the change in the price of goods sold by manufacturers. It is a leading indicator of consumer price inflation, which accounts for the majority of overall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-0.10%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10-Sep-25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0.7%</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14-Aug-25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0.3%</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12-Jun-25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11-Apr-25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-0.4%</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PPI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1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2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4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0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Retail Sales (MoM)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Retail Sales (MoM)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Retail Sales measure the change in the total value of sales at the retail level. It is the foremost indicator of consumer spending, which accounts for the majority of overall economic activity.</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USD, while a lower than expected reading should be taken as negative/bearish for the USD.</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USDJPY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0.60%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12:30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0.60%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17-Jun-25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-0.50%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15-May-25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1.70%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16-Apr-25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1.40%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1.30%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0.20%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USDJPY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USDJPY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Retail Sales (MoM)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4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5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6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7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15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6_123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266700" y="428751"/>
            <a:ext cx="11658600" cy="366076"/>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dirty="0">
                <a:solidFill>
                  <a:srgbClr val="002060"/>
                </a:solidFill>
                <a:latin typeface="Century Gothic" panose="020B0702020202020204" pitchFamily="34" charset="0"/>
              </a:rPr>
              <a:t>CPI (YoY) (Sep)</a:t>
            </a:r>
            <a:endParaRPr lang="en-US" altLang="en-US" sz="1800"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graphicFrame>
        <p:nvGraphicFramePr>
          <p:cNvPr id="15" name="Table 14"/>
          <p:cNvGraphicFramePr>
            <a:graphicFrameLocks noGrp="1"/>
          </p:cNvGraphicFramePr>
          <p:nvPr/>
        </p:nvGraphicFramePr>
        <p:xfrm>
          <a:off x="266699" y="889350"/>
          <a:ext cx="11658602" cy="5598000"/>
        </p:xfrm>
        <a:graphic>
          <a:graphicData uri="http://schemas.openxmlformats.org/drawingml/2006/table">
            <a:tbl>
              <a:tblPr/>
              <a:tblGrid>
                <a:gridCol w="1550788"/>
                <a:gridCol w="1765406"/>
                <a:gridCol w="1765406"/>
                <a:gridCol w="1765406"/>
                <a:gridCol w="4811596"/>
              </a:tblGrid>
              <a:tr h="466500">
                <a:tc>
                  <a:txBody>
                    <a:bodyPr/>
                    <a:lstStyle/>
                    <a:p>
                      <a:pPr algn="l" fontAlgn="ctr"/>
                      <a:r>
                        <a:rPr sz="1500" b="1" i="0">
                          <a:solidFill>
                            <a:srgbClr val="000000"/>
                          </a:solidFill>
                          <a:latin typeface="Century Gothic" panose="020B0702020202020204"/>
                          <a:ea typeface="Century Gothic" panose="020B0702020202020204"/>
                        </a:rPr>
                        <a:t>Event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gridSpan="3">
                  <a:txBody>
                    <a:bodyPr/>
                    <a:lstStyle/>
                    <a:p>
                      <a:pPr algn="r" fontAlgn="ctr"/>
                      <a:r>
                        <a:rPr sz="1500" b="1" i="0">
                          <a:solidFill>
                            <a:srgbClr val="000000"/>
                          </a:solidFill>
                          <a:latin typeface="Century Gothic" panose="020B0702020202020204"/>
                          <a:ea typeface="Century Gothic" panose="020B0702020202020204"/>
                        </a:rPr>
                        <a:t>CPI (YoY) (Sep)</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c hMerge="1">
                  <a:tcPr/>
                </a:tc>
                <a:tc hMerge="1">
                  <a:tcPr/>
                </a:tc>
                <a:tc>
                  <a:txBody>
                    <a:bodyPr/>
                    <a:lstStyle/>
                    <a:p>
                      <a:pPr algn="ctr" fontAlgn="ctr"/>
                      <a:r>
                        <a:rPr sz="1500" b="1" i="0">
                          <a:solidFill>
                            <a:srgbClr val="000000"/>
                          </a:solidFill>
                          <a:latin typeface="Century Gothic" panose="020B0702020202020204"/>
                          <a:ea typeface="Century Gothic" panose="020B0702020202020204"/>
                        </a:rPr>
                        <a:t>Description</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D9D9"/>
                    </a:solidFill>
                  </a:tcPr>
                </a:tc>
              </a:tr>
              <a:tr h="466500">
                <a:tc>
                  <a:txBody>
                    <a:bodyPr/>
                    <a:lstStyle/>
                    <a:p>
                      <a:pPr algn="l"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rowSpan="11">
                  <a:txBody>
                    <a:bodyPr/>
                    <a:lstStyle/>
                    <a:p>
                      <a:pPr algn="ctr" fontAlgn="ctr"/>
                      <a:r>
                        <a:rPr sz="1500" b="0" i="0">
                          <a:solidFill>
                            <a:srgbClr val="000000"/>
                          </a:solidFill>
                          <a:latin typeface="Century Gothic" panose="020B0702020202020204"/>
                          <a:ea typeface="Century Gothic" panose="020B0702020202020204"/>
                        </a:rPr>
                        <a:t>The Consumer Price Index (CPI) measures the change in the price of goods and services from the perspective of the consumer. It is a key way to measure changes in purchasing trends and inflation.</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A higher than expected reading should be taken as positive/bullish for the EUR, while a lower than expected reading should be taken as negative/bearish for the EUR.</a:t>
                      </a:r>
                      <a:br>
                        <a:rPr sz="1500" b="0" i="0">
                          <a:solidFill>
                            <a:srgbClr val="000000"/>
                          </a:solidFill>
                          <a:latin typeface="Century Gothic" panose="020B0702020202020204"/>
                          <a:ea typeface="Century Gothic" panose="020B0702020202020204"/>
                        </a:rPr>
                      </a:br>
                      <a:br>
                        <a:rPr sz="1500" b="0" i="0">
                          <a:solidFill>
                            <a:srgbClr val="000000"/>
                          </a:solidFill>
                          <a:latin typeface="Century Gothic" panose="020B0702020202020204"/>
                          <a:ea typeface="Century Gothic" panose="020B0702020202020204"/>
                        </a:rPr>
                      </a:br>
                      <a:r>
                        <a:rPr sz="1500" b="0" i="0">
                          <a:solidFill>
                            <a:srgbClr val="000000"/>
                          </a:solidFill>
                          <a:latin typeface="Century Gothic" panose="020B0702020202020204"/>
                          <a:ea typeface="Century Gothic" panose="020B0702020202020204"/>
                        </a:rPr>
                        <a:t>Learn More: EURJPY | EURUSD</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r>
              <a:tr h="466500">
                <a:tc>
                  <a:txBody>
                    <a:bodyPr/>
                    <a:lstStyle/>
                    <a:p>
                      <a:pPr algn="l"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2.20%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Time (GMT):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r" fontAlgn="ctr"/>
                      <a:r>
                        <a:rPr sz="1500" b="1" i="0">
                          <a:solidFill>
                            <a:srgbClr val="000000"/>
                          </a:solidFill>
                          <a:latin typeface="Century Gothic" panose="020B0702020202020204"/>
                          <a:ea typeface="Century Gothic" panose="020B0702020202020204"/>
                        </a:rPr>
                        <a:t>09:00</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tc>
                <a:tc hMerge="1">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Release Date</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Actual</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Forecast</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1" i="0">
                          <a:solidFill>
                            <a:srgbClr val="000000"/>
                          </a:solidFill>
                          <a:latin typeface="Century Gothic" panose="020B0702020202020204"/>
                          <a:ea typeface="Century Gothic" panose="020B0702020202020204"/>
                        </a:rPr>
                        <a:t>Previous</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01-Oct-25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2.20%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02-Sep-25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2.10%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20-Aug-25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01-Aug-25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r h="466500">
                <a:tc>
                  <a:txBody>
                    <a:bodyPr/>
                    <a:lstStyle/>
                    <a:p>
                      <a:pPr algn="l" fontAlgn="ctr"/>
                      <a:r>
                        <a:rPr sz="1500" b="1" i="0">
                          <a:solidFill>
                            <a:srgbClr val="000000"/>
                          </a:solidFill>
                          <a:latin typeface="Century Gothic" panose="020B0702020202020204"/>
                          <a:ea typeface="Century Gothic" panose="020B0702020202020204"/>
                        </a:rPr>
                        <a:t>17-Jul-25</a:t>
                      </a:r>
                      <a:endParaRPr sz="1500" b="1"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2.00%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sz="1500" b="0" i="0">
                          <a:solidFill>
                            <a:srgbClr val="000000"/>
                          </a:solidFill>
                          <a:latin typeface="Century Gothic" panose="020B0702020202020204"/>
                          <a:ea typeface="Century Gothic" panose="020B0702020202020204"/>
                        </a:rPr>
                        <a:t>1.90%</a:t>
                      </a:r>
                      <a:endParaRPr sz="1500" b="0" i="0">
                        <a:solidFill>
                          <a:srgbClr val="000000"/>
                        </a:solidFill>
                        <a:latin typeface="Century Gothic" panose="020B0702020202020204"/>
                        <a:ea typeface="Century Gothic" panose="020B0702020202020204"/>
                      </a:endParaRPr>
                    </a:p>
                  </a:txBody>
                  <a:tcPr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cPr/>
                </a:tc>
              </a:tr>
            </a:tbl>
          </a:graphicData>
        </a:graphic>
      </p:graphicFrame>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EURJPY</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7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820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02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09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JPY_202510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201" y="3097740"/>
            <a:ext cx="4191799" cy="2387600"/>
          </a:xfrm>
        </p:spPr>
        <p:txBody>
          <a:bodyPr>
            <a:normAutofit fontScale="90000"/>
          </a:bodyPr>
          <a:lstStyle/>
          <a:p>
            <a:br>
              <a:rPr lang="en-US" sz="3300" dirty="0">
                <a:solidFill>
                  <a:schemeClr val="bg1">
                    <a:lumMod val="50000"/>
                  </a:schemeClr>
                </a:solidFill>
              </a:rPr>
            </a:br>
            <a:r>
              <a:rPr lang="en-US" sz="3300" dirty="0">
                <a:solidFill>
                  <a:schemeClr val="bg1">
                    <a:lumMod val="50000"/>
                  </a:schemeClr>
                </a:solidFill>
              </a:rPr>
              <a:t>Project Spider</a:t>
            </a:r>
            <a:br>
              <a:rPr lang="en-US" dirty="0">
                <a:solidFill>
                  <a:schemeClr val="bg1">
                    <a:lumMod val="50000"/>
                  </a:schemeClr>
                </a:solidFill>
              </a:rPr>
            </a:br>
            <a:br>
              <a:rPr lang="en-US" dirty="0">
                <a:solidFill>
                  <a:schemeClr val="bg1">
                    <a:lumMod val="50000"/>
                  </a:schemeClr>
                </a:solidFill>
              </a:rPr>
            </a:br>
            <a:r>
              <a:rPr lang="en-US" sz="1200" b="0" dirty="0">
                <a:solidFill>
                  <a:schemeClr val="bg1">
                    <a:lumMod val="50000"/>
                  </a:schemeClr>
                </a:solidFill>
              </a:rPr>
              <a:t>Accelerating the E</a:t>
            </a:r>
            <a:r>
              <a:rPr lang="en-US" sz="1200" b="0" dirty="0">
                <a:solidFill>
                  <a:schemeClr val="bg1">
                    <a:lumMod val="50000"/>
                  </a:schemeClr>
                </a:solidFill>
              </a:rPr>
              <a:t>n</a:t>
            </a:r>
            <a:r>
              <a:rPr lang="en-US" sz="1200" b="0" dirty="0">
                <a:solidFill>
                  <a:schemeClr val="bg1">
                    <a:lumMod val="50000"/>
                  </a:schemeClr>
                </a:solidFill>
              </a:rPr>
              <a:t>ergy Transition</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4</a:t>
            </a:r>
            <a:r>
              <a:rPr lang="en-US" sz="1200" b="0" baseline="30000" dirty="0">
                <a:solidFill>
                  <a:schemeClr val="bg1">
                    <a:lumMod val="50000"/>
                  </a:schemeClr>
                </a:solidFill>
              </a:rPr>
              <a:t>th</a:t>
            </a:r>
            <a:r>
              <a:rPr lang="en-US" sz="1200" b="0" dirty="0">
                <a:solidFill>
                  <a:schemeClr val="bg1">
                    <a:lumMod val="50000"/>
                  </a:schemeClr>
                </a:solidFill>
              </a:rPr>
              <a:t>Mar 2024</a:t>
            </a:r>
            <a:br>
              <a:rPr lang="en-US" sz="1200" b="0" dirty="0">
                <a:solidFill>
                  <a:schemeClr val="bg1">
                    <a:lumMod val="50000"/>
                  </a:schemeClr>
                </a:solidFill>
              </a:rPr>
            </a:br>
            <a:br>
              <a:rPr lang="en-US" sz="1200" b="0" dirty="0">
                <a:solidFill>
                  <a:schemeClr val="bg1">
                    <a:lumMod val="50000"/>
                  </a:schemeClr>
                </a:solidFill>
              </a:rPr>
            </a:br>
            <a:r>
              <a:rPr lang="en-US" sz="1200" b="0" dirty="0">
                <a:solidFill>
                  <a:schemeClr val="bg1">
                    <a:lumMod val="50000"/>
                  </a:schemeClr>
                </a:solidFill>
              </a:rPr>
              <a:t>Pawan</a:t>
            </a:r>
            <a:br>
              <a:rPr lang="en-US" sz="1200" b="0" dirty="0">
                <a:solidFill>
                  <a:schemeClr val="bg1">
                    <a:lumMod val="50000"/>
                  </a:schemeClr>
                </a:solidFill>
              </a:rPr>
            </a:br>
            <a:r>
              <a:rPr lang="en-US" sz="1200" b="0" dirty="0">
                <a:solidFill>
                  <a:schemeClr val="bg1">
                    <a:lumMod val="50000"/>
                  </a:schemeClr>
                </a:solidFill>
              </a:rPr>
              <a:t>Quantwater Tech Investments </a:t>
            </a:r>
            <a:br>
              <a:rPr lang="en-US" sz="1100" b="1" dirty="0">
                <a:solidFill>
                  <a:schemeClr val="bg1">
                    <a:lumMod val="50000"/>
                  </a:schemeClr>
                </a:solidFill>
              </a:rPr>
            </a:br>
            <a:endParaRPr lang="en-US" sz="1100" dirty="0">
              <a:solidFill>
                <a:schemeClr val="bg1">
                  <a:lumMod val="50000"/>
                </a:schemeClr>
              </a:solidFill>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endParaRPr lang="en-US" sz="1800" b="1" dirty="0">
              <a:solidFill>
                <a:schemeClr val="bg2"/>
              </a:solidFill>
            </a:endParaRPr>
          </a:p>
        </p:txBody>
      </p:sp>
      <p:sp>
        <p:nvSpPr>
          <p:cNvPr id="9" name="Rectangle 8"/>
          <p:cNvSpPr/>
          <p:nvPr/>
        </p:nvSpPr>
        <p:spPr>
          <a:xfrm>
            <a:off x="1452282" y="6002963"/>
            <a:ext cx="8785412" cy="666778"/>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line drawn on a white background&#10;&#10;Description automatically generated"/>
          <p:cNvPicPr>
            <a:picLocks noChangeAspect="1"/>
          </p:cNvPicPr>
          <p:nvPr/>
        </p:nvPicPr>
        <p:blipFill>
          <a:blip r:embed="rId1">
            <a:duotone>
              <a:schemeClr val="bg2">
                <a:shade val="45000"/>
                <a:satMod val="135000"/>
              </a:schemeClr>
              <a:prstClr val="white"/>
            </a:duotone>
            <a:extLst>
              <a:ext uri="{BEBA8EAE-BF5A-486C-A8C5-ECC9F3942E4B}">
                <a14:imgProps xmlns:a14="http://schemas.microsoft.com/office/drawing/2010/main">
                  <a14:imgLayer r:embed="rId2">
                    <a14:imgEffect>
                      <a14:sharpenSoften amount="-60000"/>
                    </a14:imgEffect>
                  </a14:imgLayer>
                </a14:imgProps>
              </a:ext>
            </a:extLst>
          </a:blip>
          <a:stretch>
            <a:fillRect/>
          </a:stretch>
        </p:blipFill>
        <p:spPr>
          <a:xfrm>
            <a:off x="0" y="-27641"/>
            <a:ext cx="12192000" cy="6902939"/>
          </a:xfrm>
          <a:prstGeom prst="rect">
            <a:avLst/>
          </a:prstGeom>
        </p:spPr>
      </p:pic>
      <p:sp>
        <p:nvSpPr>
          <p:cNvPr id="17" name="Title 1"/>
          <p:cNvSpPr txBox="1"/>
          <p:nvPr/>
        </p:nvSpPr>
        <p:spPr>
          <a:xfrm>
            <a:off x="484910" y="525923"/>
            <a:ext cx="5184370" cy="12171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altLang="en-US" sz="2000" dirty="0">
                <a:solidFill>
                  <a:srgbClr val="002060"/>
                </a:solidFill>
                <a:latin typeface="Century Gothic" panose="020B0702020202020204" pitchFamily="34" charset="0"/>
                <a:sym typeface="+mn-ea"/>
              </a:rPr>
              <a:t>CPI (YoY) (Sep)</a:t>
            </a:r>
            <a:endParaRPr lang="en-US" altLang="en-US" sz="2000" dirty="0">
              <a:solidFill>
                <a:srgbClr val="002060"/>
              </a:solidFill>
              <a:latin typeface="Century Gothic" panose="020B0702020202020204" pitchFamily="34" charset="0"/>
              <a:sym typeface="+mn-ea"/>
            </a:endParaRPr>
          </a:p>
          <a:p>
            <a:r>
              <a:rPr lang="en-US" sz="2000" b="1" dirty="0">
                <a:solidFill>
                  <a:srgbClr val="002060"/>
                </a:solidFill>
                <a:latin typeface="Century Gothic" panose="020B0702020202020204" pitchFamily="34" charset="0"/>
              </a:rPr>
              <a:t>EURUSD</a:t>
            </a:r>
            <a:endParaRPr lang="en-US" sz="2000" b="1" dirty="0">
              <a:solidFill>
                <a:srgbClr val="002060"/>
              </a:solidFill>
              <a:latin typeface="Century Gothic" panose="020B0702020202020204" pitchFamily="34" charset="0"/>
            </a:endParaRPr>
          </a:p>
        </p:txBody>
      </p:sp>
      <p:sp>
        <p:nvSpPr>
          <p:cNvPr id="18" name="Rectangle 17"/>
          <p:cNvSpPr/>
          <p:nvPr/>
        </p:nvSpPr>
        <p:spPr>
          <a:xfrm>
            <a:off x="1604682" y="5854686"/>
            <a:ext cx="8785412" cy="967455"/>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704020202020204"/>
              <a:ea typeface="+mn-ea"/>
              <a:cs typeface="Arial" panose="020B0704020202020204"/>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7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820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02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0917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pic>
        <p:nvPicPr>
          <p:cNvPr id="4" name="Picture 3" descr="EURUSD_20251001_090000.png"/>
          <p:cNvPicPr>
            <a:picLocks noChangeAspect="1"/>
          </p:cNvPicPr>
          <p:nvPr/>
        </p:nvPicPr>
        <p:blipFill>
          <a:blip r:embed="rId1"/>
          <a:stretch>
            <a:fillRect/>
          </a:stretch>
        </p:blipFill>
        <p:spPr>
          <a:xfrm>
            <a:off x="0" y="0"/>
            <a:ext cx="11049000" cy="6858000"/>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Important Information</a:t>
            </a:r>
            <a:endParaRPr lang="en-US" b="1" dirty="0">
              <a:solidFill>
                <a:srgbClr val="002060"/>
              </a:solidFill>
              <a:latin typeface="Century Gothic" panose="020B0702020202020204" pitchFamily="34" charset="0"/>
            </a:endParaRPr>
          </a:p>
        </p:txBody>
      </p:sp>
      <p:sp>
        <p:nvSpPr>
          <p:cNvPr id="7" name="Rectangle 3"/>
          <p:cNvSpPr>
            <a:spLocks noChangeArrowheads="1"/>
          </p:cNvSpPr>
          <p:nvPr/>
        </p:nvSpPr>
        <p:spPr bwMode="auto">
          <a:xfrm>
            <a:off x="3279775" y="1762125"/>
            <a:ext cx="12192000" cy="0"/>
          </a:xfrm>
          <a:prstGeom prst="rect">
            <a:avLst/>
          </a:prstGeom>
          <a:solidFill>
            <a:srgbClr val="EDB2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chemeClr val="tx1"/>
                </a:solidFill>
                <a:effectLst/>
                <a:latin typeface="Arial" panose="020B0704020202020204" pitchFamily="34" charset="0"/>
              </a:rPr>
            </a:br>
            <a:br>
              <a:rPr kumimoji="0" lang="en-US" altLang="en-US" sz="1800" b="0" i="0" u="none" strike="noStrike" cap="none" normalizeH="0" baseline="0">
                <a:ln>
                  <a:noFill/>
                </a:ln>
                <a:solidFill>
                  <a:schemeClr val="tx1"/>
                </a:solidFill>
                <a:effectLst/>
                <a:latin typeface="Arial" panose="020B0704020202020204" pitchFamily="34" charset="0"/>
              </a:rPr>
            </a:br>
            <a:endParaRPr kumimoji="0" lang="en-US" altLang="en-US" sz="1800" b="0" i="0" u="none" strike="noStrike" cap="none" normalizeH="0" baseline="0">
              <a:ln>
                <a:noFill/>
              </a:ln>
              <a:solidFill>
                <a:schemeClr val="tx1"/>
              </a:solidFill>
              <a:effectLst/>
              <a:latin typeface="Arial" panose="020B0704020202020204" pitchFamily="34" charset="0"/>
            </a:endParaRPr>
          </a:p>
        </p:txBody>
      </p:sp>
      <p:sp>
        <p:nvSpPr>
          <p:cNvPr id="2" name="TextBox 1"/>
          <p:cNvSpPr txBox="1"/>
          <p:nvPr/>
        </p:nvSpPr>
        <p:spPr>
          <a:xfrm>
            <a:off x="738730" y="1563002"/>
            <a:ext cx="10206773" cy="2584450"/>
          </a:xfrm>
          <a:prstGeom prst="rect">
            <a:avLst/>
          </a:prstGeom>
          <a:noFill/>
        </p:spPr>
        <p:txBody>
          <a:bodyPr wrap="square">
            <a:spAutoFit/>
          </a:bodyPr>
          <a:lstStyle/>
          <a:p>
            <a:pPr algn="just"/>
            <a:endParaRPr lang="en-US" sz="900" dirty="0">
              <a:latin typeface="Century Gothic" panose="020B0702020202020204" pitchFamily="34" charset="0"/>
            </a:endParaRPr>
          </a:p>
          <a:p>
            <a:pPr algn="just"/>
            <a:r>
              <a:rPr lang="en-US" sz="900" b="1" dirty="0">
                <a:latin typeface="Century Gothic" panose="020B0702020202020204" pitchFamily="34" charset="0"/>
              </a:rPr>
              <a:t>Quantwater Tech Investments</a:t>
            </a:r>
            <a:endParaRPr lang="en-US" sz="900" b="1" dirty="0">
              <a:latin typeface="Century Gothic" panose="020B0702020202020204" pitchFamily="34" charset="0"/>
            </a:endParaRPr>
          </a:p>
          <a:p>
            <a:pPr algn="just"/>
            <a:r>
              <a:rPr lang="en-US" sz="900" b="1" dirty="0">
                <a:latin typeface="Century Gothic" panose="020B0702020202020204" pitchFamily="34" charset="0"/>
              </a:rPr>
              <a:t>Data Release Deck – 12</a:t>
            </a:r>
            <a:r>
              <a:rPr lang="en-US" sz="900" b="1" baseline="30000" dirty="0">
                <a:latin typeface="Century Gothic" panose="020B0702020202020204" pitchFamily="34" charset="0"/>
              </a:rPr>
              <a:t>th</a:t>
            </a:r>
            <a:r>
              <a:rPr lang="en-US" sz="900" b="1" dirty="0">
                <a:latin typeface="Century Gothic" panose="020B0702020202020204" pitchFamily="34" charset="0"/>
              </a:rPr>
              <a:t> October 2025</a:t>
            </a:r>
            <a:endParaRPr lang="en-US" sz="900" b="1" dirty="0">
              <a:latin typeface="Century Gothic" panose="020B0702020202020204" pitchFamily="34" charset="0"/>
            </a:endParaRPr>
          </a:p>
          <a:p>
            <a:pPr algn="just"/>
            <a:endParaRPr lang="en-US" sz="900" dirty="0">
              <a:latin typeface="Century Gothic" panose="020B0702020202020204" pitchFamily="34" charset="0"/>
            </a:endParaRPr>
          </a:p>
          <a:p>
            <a:pPr algn="just"/>
            <a:r>
              <a:rPr lang="en-US" sz="900" dirty="0">
                <a:latin typeface="Century Gothic" panose="020B0702020202020204" pitchFamily="34" charset="0"/>
              </a:rPr>
              <a:t>This document is for informational purposes only and does not constitute investment advice, an offer, or a solicitation to buy or sell any securities or financial instruments.</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US" sz="900" dirty="0">
              <a:latin typeface="Century Gothic" panose="020B0702020202020204" pitchFamily="34" charset="0"/>
            </a:endParaRPr>
          </a:p>
          <a:p>
            <a:pPr algn="just"/>
            <a:br>
              <a:rPr lang="en-US" sz="900" dirty="0">
                <a:latin typeface="Century Gothic" panose="020B0702020202020204" pitchFamily="34" charset="0"/>
              </a:rPr>
            </a:br>
            <a:endParaRPr lang="en-US" sz="900" dirty="0">
              <a:latin typeface="Century Gothic" panose="020B0702020202020204" pitchFamily="34" charset="0"/>
            </a:endParaRPr>
          </a:p>
          <a:p>
            <a:pPr algn="just"/>
            <a:r>
              <a:rPr lang="en-US" sz="900" dirty="0">
                <a:latin typeface="Century Gothic" panose="020B0702020202020204" pitchFamily="34" charset="0"/>
              </a:rPr>
              <a:t>Neither Quantwater Tech Investments nor any of its affiliates, officers, or employees shall be liable for any direct or indirect losses arising from the use of this information. Any misrepresentation is strictly prohibited.</a:t>
            </a:r>
            <a:endParaRPr lang="en-US" sz="900" dirty="0">
              <a:latin typeface="Century Gothic" panose="020B0702020202020204" pitchFamily="34" charset="0"/>
            </a:endParaRPr>
          </a:p>
          <a:p>
            <a:pPr algn="just"/>
            <a:endParaRPr lang="en-US" sz="900" dirty="0">
              <a:latin typeface="Century Gothic" panose="020B0702020202020204" pitchFamily="34"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angle 53"/>
          <p:cNvSpPr/>
          <p:nvPr/>
        </p:nvSpPr>
        <p:spPr>
          <a:xfrm>
            <a:off x="479422" y="6483366"/>
            <a:ext cx="3750321"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i="1" dirty="0">
                <a:solidFill>
                  <a:srgbClr val="002060"/>
                </a:solidFill>
                <a:latin typeface="Century Gothic" panose="020B0702020202020204" pitchFamily="34" charset="0"/>
              </a:rPr>
              <a:t> </a:t>
            </a:r>
            <a:endParaRPr lang="en-US" sz="600" i="1" dirty="0">
              <a:solidFill>
                <a:srgbClr val="002060"/>
              </a:solidFill>
              <a:latin typeface="Century Gothic" panose="020B0702020202020204" pitchFamily="34" charset="0"/>
            </a:endParaRPr>
          </a:p>
        </p:txBody>
      </p:sp>
      <p:sp>
        <p:nvSpPr>
          <p:cNvPr id="5" name="Rectangle 4"/>
          <p:cNvSpPr/>
          <p:nvPr/>
        </p:nvSpPr>
        <p:spPr>
          <a:xfrm>
            <a:off x="439940" y="428750"/>
            <a:ext cx="11407299"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Century Gothic" panose="020B0702020202020204" pitchFamily="34" charset="0"/>
              </a:rPr>
              <a:t>Key Economic &amp; Analytical Concepts</a:t>
            </a:r>
            <a:endParaRPr lang="en-US" b="1" dirty="0">
              <a:solidFill>
                <a:srgbClr val="002060"/>
              </a:solidFill>
              <a:latin typeface="Century Gothic" panose="020B0702020202020204" pitchFamily="34" charset="0"/>
            </a:endParaRPr>
          </a:p>
        </p:txBody>
      </p:sp>
      <p:sp>
        <p:nvSpPr>
          <p:cNvPr id="3" name="Rectangle 2"/>
          <p:cNvSpPr/>
          <p:nvPr/>
        </p:nvSpPr>
        <p:spPr>
          <a:xfrm>
            <a:off x="307644" y="6246208"/>
            <a:ext cx="11407299" cy="366084"/>
          </a:xfrm>
          <a:prstGeom prst="rect">
            <a:avLst/>
          </a:prstGeom>
          <a:noFill/>
          <a:ln>
            <a:noFill/>
          </a:ln>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b="1" dirty="0">
                <a:solidFill>
                  <a:schemeClr val="accent1"/>
                </a:solidFill>
                <a:latin typeface="Century Gothic" panose="020B0702020202020204" pitchFamily="34" charset="0"/>
              </a:rPr>
              <a:t>[]</a:t>
            </a:r>
            <a:endParaRPr lang="en-US" sz="700" b="1" dirty="0">
              <a:solidFill>
                <a:schemeClr val="accent1"/>
              </a:solidFill>
              <a:latin typeface="Century Gothic" panose="020B0702020202020204" pitchFamily="34" charset="0"/>
            </a:endParaRPr>
          </a:p>
        </p:txBody>
      </p:sp>
      <p:sp>
        <p:nvSpPr>
          <p:cNvPr id="2" name="Rectangle 1"/>
          <p:cNvSpPr/>
          <p:nvPr/>
        </p:nvSpPr>
        <p:spPr>
          <a:xfrm>
            <a:off x="439940"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Forecast Vs. Actual</a:t>
            </a:r>
            <a:r>
              <a:rPr lang="en-US" sz="800" b="0" i="0" u="none" strike="noStrike" dirty="0">
                <a:solidFill>
                  <a:srgbClr val="002060"/>
                </a:solidFill>
                <a:effectLst/>
                <a:latin typeface="Century Gothic" panose="020B0702020202020204" pitchFamily="34" charset="0"/>
              </a:rPr>
              <a:t>: Comparing predicted values with released data</a:t>
            </a:r>
            <a:endParaRPr lang="en-US" sz="800" b="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Previous Reading: </a:t>
            </a:r>
            <a:r>
              <a:rPr lang="en-US" sz="800" dirty="0">
                <a:solidFill>
                  <a:srgbClr val="002060"/>
                </a:solidFill>
                <a:latin typeface="Century Gothic" panose="020B0702020202020204" pitchFamily="34" charset="0"/>
              </a:rPr>
              <a:t>Last reported value, used as a benchmark</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Market Impact</a:t>
            </a:r>
            <a:r>
              <a:rPr lang="en-US" sz="800" dirty="0">
                <a:solidFill>
                  <a:srgbClr val="002060"/>
                </a:solidFill>
                <a:latin typeface="Century Gothic" panose="020B0702020202020204" pitchFamily="34" charset="0"/>
              </a:rPr>
              <a:t>: How releases affect financial markets </a:t>
            </a:r>
            <a:endParaRPr lang="en-US" sz="800" b="1" i="0" u="none" strike="noStrike" dirty="0">
              <a:solidFill>
                <a:srgbClr val="002060"/>
              </a:solidFill>
              <a:effectLst/>
              <a:latin typeface="Century Gothic" panose="020B0702020202020204" pitchFamily="34" charset="0"/>
            </a:endParaRPr>
          </a:p>
        </p:txBody>
      </p:sp>
      <p:sp>
        <p:nvSpPr>
          <p:cNvPr id="6" name="Rectangle 5"/>
          <p:cNvSpPr/>
          <p:nvPr/>
        </p:nvSpPr>
        <p:spPr>
          <a:xfrm>
            <a:off x="439939"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Economic Data Interpretation</a:t>
            </a:r>
            <a:endParaRPr lang="en-US" sz="1000" b="1" dirty="0">
              <a:solidFill>
                <a:srgbClr val="002060"/>
              </a:solidFill>
              <a:latin typeface="Century Gothic" panose="020B0702020202020204" pitchFamily="34" charset="0"/>
            </a:endParaRPr>
          </a:p>
        </p:txBody>
      </p:sp>
      <p:sp>
        <p:nvSpPr>
          <p:cNvPr id="7" name="Rectangle 6"/>
          <p:cNvSpPr/>
          <p:nvPr/>
        </p:nvSpPr>
        <p:spPr>
          <a:xfrm>
            <a:off x="439938" y="2996211"/>
            <a:ext cx="5340377" cy="1962927"/>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Definition</a:t>
            </a:r>
            <a:r>
              <a:rPr lang="en-US" sz="800" i="0" u="none" strike="noStrike" dirty="0">
                <a:solidFill>
                  <a:srgbClr val="002060"/>
                </a:solidFill>
                <a:effectLst/>
                <a:latin typeface="Century Gothic" panose="020B0702020202020204" pitchFamily="34" charset="0"/>
              </a:rPr>
              <a:t>: A technical indicator that measures market volatility</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Calculations</a:t>
            </a:r>
            <a:r>
              <a:rPr lang="en-US" sz="800" dirty="0">
                <a:solidFill>
                  <a:srgbClr val="002060"/>
                </a:solidFill>
                <a:latin typeface="Century Gothic" panose="020B0702020202020204" pitchFamily="34" charset="0"/>
              </a:rPr>
              <a:t>:</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Calculate True Range (TR) for each period:</a:t>
            </a:r>
            <a:endParaRPr lang="en-US" sz="800" i="0" u="none" strike="noStrike" dirty="0">
              <a:solidFill>
                <a:srgbClr val="002060"/>
              </a:solidFill>
              <a:effectLst/>
              <a:latin typeface="Century Gothic" panose="020B0702020202020204" pitchFamily="34" charset="0"/>
            </a:endParaRPr>
          </a:p>
          <a:p>
            <a:pPr marL="1085850" lvl="2" indent="-171450">
              <a:buFont typeface="Arial" panose="020B0704020202020204" pitchFamily="34" charset="0"/>
              <a:buChar char="•"/>
            </a:pPr>
            <a:r>
              <a:rPr lang="en-US" sz="800" dirty="0">
                <a:solidFill>
                  <a:srgbClr val="002060"/>
                </a:solidFill>
                <a:latin typeface="Century Gothic" panose="020B0702020202020204" pitchFamily="34" charset="0"/>
              </a:rPr>
              <a:t>TR = max [(high - low), abs(high – previous close), abs(low – previous close)]</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ATR = Simple moving average of TR over N periods (typically 14)</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Interpretation</a:t>
            </a:r>
            <a:r>
              <a:rPr lang="en-US" sz="800" i="0" u="none" strike="noStrike" dirty="0">
                <a:solidFill>
                  <a:srgbClr val="002060"/>
                </a:solidFill>
                <a:effectLst/>
                <a:latin typeface="Century Gothic" panose="020B0702020202020204" pitchFamily="34" charset="0"/>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Higher ATR = Higher Volatility </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Lower ATR = Lower Volatility </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Usage in Our Analysis</a:t>
            </a:r>
            <a:r>
              <a:rPr lang="en-US" sz="800" i="0" u="none" strike="noStrike" dirty="0">
                <a:solidFill>
                  <a:srgbClr val="002060"/>
                </a:solidFill>
                <a:effectLst/>
                <a:latin typeface="Century Gothic" panose="020B0702020202020204" pitchFamily="34" charset="0"/>
              </a:rPr>
              <a:t>:</a:t>
            </a:r>
            <a:endParaRPr lang="en-US" sz="800" i="0" u="none" strike="noStrike" dirty="0">
              <a:solidFill>
                <a:srgbClr val="002060"/>
              </a:solidFill>
              <a:effectLst/>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Helps standardize price movements across different market conditions</a:t>
            </a:r>
            <a:endParaRPr lang="en-US" sz="800" dirty="0">
              <a:solidFill>
                <a:srgbClr val="002060"/>
              </a:solidFill>
              <a:latin typeface="Century Gothic" panose="020B0702020202020204" pitchFamily="34" charset="0"/>
            </a:endParaRPr>
          </a:p>
          <a:p>
            <a:pPr marL="628650" lvl="1" indent="-171450">
              <a:buFont typeface="Arial" panose="020B0704020202020204" pitchFamily="34" charset="0"/>
              <a:buChar char="•"/>
            </a:pPr>
            <a:r>
              <a:rPr lang="en-US" sz="800" dirty="0">
                <a:solidFill>
                  <a:srgbClr val="002060"/>
                </a:solidFill>
                <a:latin typeface="Century Gothic" panose="020B0702020202020204" pitchFamily="34" charset="0"/>
              </a:rPr>
              <a:t>Forms the basis of our Volatility Unit Calculations</a:t>
            </a:r>
            <a:endParaRPr lang="en-US" sz="800" dirty="0">
              <a:solidFill>
                <a:srgbClr val="002060"/>
              </a:solidFill>
              <a:latin typeface="Century Gothic" panose="020B0702020202020204" pitchFamily="34" charset="0"/>
            </a:endParaRPr>
          </a:p>
        </p:txBody>
      </p:sp>
      <p:sp>
        <p:nvSpPr>
          <p:cNvPr id="8" name="Rectangle 7"/>
          <p:cNvSpPr/>
          <p:nvPr/>
        </p:nvSpPr>
        <p:spPr>
          <a:xfrm>
            <a:off x="439939" y="23992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Average True Range (ATR)</a:t>
            </a:r>
            <a:endParaRPr lang="en-US" sz="1000" b="1" dirty="0">
              <a:solidFill>
                <a:srgbClr val="002060"/>
              </a:solidFill>
              <a:latin typeface="Century Gothic" panose="020B0702020202020204" pitchFamily="34" charset="0"/>
            </a:endParaRPr>
          </a:p>
        </p:txBody>
      </p:sp>
      <p:sp>
        <p:nvSpPr>
          <p:cNvPr id="11" name="Rectangle 10"/>
          <p:cNvSpPr/>
          <p:nvPr/>
        </p:nvSpPr>
        <p:spPr>
          <a:xfrm>
            <a:off x="439939" y="572743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Formula</a:t>
            </a:r>
            <a:r>
              <a:rPr lang="en-US" sz="800" b="0" i="0" u="none" strike="noStrike" dirty="0">
                <a:solidFill>
                  <a:srgbClr val="002060"/>
                </a:solidFill>
                <a:effectLst/>
                <a:latin typeface="Century Gothic" panose="020B0702020202020204" pitchFamily="34" charset="0"/>
              </a:rPr>
              <a:t>: (ATR * </a:t>
            </a:r>
            <a:r>
              <a:rPr lang="en-US" sz="800" b="0" i="1" u="none" strike="noStrike" dirty="0">
                <a:solidFill>
                  <a:srgbClr val="002060"/>
                </a:solidFill>
                <a:effectLst/>
                <a:latin typeface="Century Gothic" panose="020B0702020202020204" pitchFamily="34" charset="0"/>
              </a:rPr>
              <a:t>multiple</a:t>
            </a:r>
            <a:r>
              <a:rPr lang="en-US" sz="800" b="0" i="0" u="none" strike="noStrike" dirty="0">
                <a:solidFill>
                  <a:srgbClr val="002060"/>
                </a:solidFill>
                <a:effectLst/>
                <a:latin typeface="Century Gothic" panose="020B0702020202020204" pitchFamily="34" charset="0"/>
              </a:rPr>
              <a:t>) + </a:t>
            </a:r>
            <a:r>
              <a:rPr lang="en-US" sz="800" b="0" i="1" u="none" strike="noStrike" dirty="0">
                <a:solidFill>
                  <a:srgbClr val="002060"/>
                </a:solidFill>
                <a:effectLst/>
                <a:latin typeface="Century Gothic" panose="020B0702020202020204" pitchFamily="34" charset="0"/>
              </a:rPr>
              <a:t>Spread </a:t>
            </a:r>
            <a:r>
              <a:rPr lang="en-US" sz="800" b="0" u="none" strike="noStrike" dirty="0">
                <a:solidFill>
                  <a:srgbClr val="002060"/>
                </a:solidFill>
                <a:effectLst/>
                <a:latin typeface="Century Gothic" panose="020B0702020202020204" pitchFamily="34" charset="0"/>
              </a:rPr>
              <a:t>(multiple is typically 1.5)</a:t>
            </a:r>
            <a:endParaRPr lang="en-US" sz="800" b="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Purpose</a:t>
            </a:r>
            <a:r>
              <a:rPr lang="en-US" sz="800" dirty="0">
                <a:solidFill>
                  <a:srgbClr val="002060"/>
                </a:solidFill>
                <a:latin typeface="Century Gothic" panose="020B0702020202020204" pitchFamily="34" charset="0"/>
              </a:rPr>
              <a:t>: Standardizes price movements</a:t>
            </a:r>
            <a:endParaRPr lang="en-US" sz="800" dirty="0">
              <a:solidFill>
                <a:srgbClr val="002060"/>
              </a:solidFill>
              <a:latin typeface="Century Gothic" panose="020B0702020202020204" pitchFamily="34" charset="0"/>
            </a:endParaRPr>
          </a:p>
        </p:txBody>
      </p:sp>
      <p:sp>
        <p:nvSpPr>
          <p:cNvPr id="12" name="Rectangle 11"/>
          <p:cNvSpPr/>
          <p:nvPr/>
        </p:nvSpPr>
        <p:spPr>
          <a:xfrm>
            <a:off x="439938" y="516024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Volatility Unit</a:t>
            </a:r>
            <a:endParaRPr lang="en-US" sz="1000" b="1" dirty="0">
              <a:solidFill>
                <a:srgbClr val="002060"/>
              </a:solidFill>
              <a:latin typeface="Century Gothic" panose="020B0702020202020204" pitchFamily="34" charset="0"/>
            </a:endParaRPr>
          </a:p>
        </p:txBody>
      </p:sp>
      <p:sp>
        <p:nvSpPr>
          <p:cNvPr id="13" name="Rectangle 12"/>
          <p:cNvSpPr/>
          <p:nvPr/>
        </p:nvSpPr>
        <p:spPr>
          <a:xfrm>
            <a:off x="6078743" y="160469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b="1" i="0" u="none" strike="noStrike" dirty="0">
                <a:solidFill>
                  <a:srgbClr val="002060"/>
                </a:solidFill>
                <a:effectLst/>
                <a:latin typeface="Century Gothic" panose="020B0702020202020204" pitchFamily="34" charset="0"/>
              </a:rPr>
              <a:t>Max Movement</a:t>
            </a:r>
            <a:r>
              <a:rPr lang="en-US" sz="800" i="0" u="none" strike="noStrike" dirty="0">
                <a:solidFill>
                  <a:srgbClr val="002060"/>
                </a:solidFill>
                <a:effectLst/>
                <a:latin typeface="Century Gothic" panose="020B0702020202020204" pitchFamily="34" charset="0"/>
              </a:rPr>
              <a:t>: Largest upward price move after event</a:t>
            </a:r>
            <a:endParaRPr lang="en-US" sz="800" i="0" u="none" strike="noStrike" dirty="0">
              <a:solidFill>
                <a:srgbClr val="002060"/>
              </a:solidFill>
              <a:effectLst/>
              <a:latin typeface="Century Gothic" panose="020B0702020202020204" pitchFamily="34" charset="0"/>
            </a:endParaRPr>
          </a:p>
          <a:p>
            <a:pPr marL="171450" indent="-171450">
              <a:buFont typeface="Arial" panose="020B0704020202020204" pitchFamily="34" charset="0"/>
              <a:buChar char="•"/>
            </a:pPr>
            <a:r>
              <a:rPr lang="en-US" sz="800" b="1" dirty="0">
                <a:solidFill>
                  <a:srgbClr val="002060"/>
                </a:solidFill>
                <a:latin typeface="Century Gothic" panose="020B0702020202020204" pitchFamily="34" charset="0"/>
              </a:rPr>
              <a:t>Min Movement</a:t>
            </a:r>
            <a:r>
              <a:rPr lang="en-US" sz="800" dirty="0">
                <a:solidFill>
                  <a:srgbClr val="002060"/>
                </a:solidFill>
                <a:latin typeface="Century Gothic" panose="020B0702020202020204" pitchFamily="34" charset="0"/>
              </a:rPr>
              <a:t>: Largest downward price move after event</a:t>
            </a:r>
            <a:endParaRPr lang="en-US" sz="800" dirty="0">
              <a:solidFill>
                <a:srgbClr val="002060"/>
              </a:solidFill>
              <a:latin typeface="Century Gothic" panose="020B0702020202020204" pitchFamily="34" charset="0"/>
            </a:endParaRPr>
          </a:p>
          <a:p>
            <a:pPr marL="171450" indent="-171450">
              <a:buFont typeface="Arial" panose="020B0704020202020204" pitchFamily="34" charset="0"/>
              <a:buChar char="•"/>
            </a:pPr>
            <a:r>
              <a:rPr lang="en-US" sz="800" i="0" u="none" strike="noStrike" dirty="0">
                <a:solidFill>
                  <a:srgbClr val="002060"/>
                </a:solidFill>
                <a:effectLst/>
                <a:latin typeface="Century Gothic" panose="020B0702020202020204" pitchFamily="34" charset="0"/>
              </a:rPr>
              <a:t>Both measured in Volatility Units</a:t>
            </a:r>
            <a:r>
              <a:rPr lang="en-US" sz="800" b="1" i="0" u="none" strike="noStrike" dirty="0">
                <a:solidFill>
                  <a:srgbClr val="002060"/>
                </a:solidFill>
                <a:effectLst/>
                <a:latin typeface="Century Gothic" panose="020B0702020202020204" pitchFamily="34" charset="0"/>
              </a:rPr>
              <a:t> </a:t>
            </a:r>
            <a:endParaRPr lang="en-US" sz="800" b="1" i="0" u="none" strike="noStrike" dirty="0">
              <a:solidFill>
                <a:srgbClr val="002060"/>
              </a:solidFill>
              <a:effectLst/>
              <a:latin typeface="Century Gothic" panose="020B0702020202020204" pitchFamily="34" charset="0"/>
            </a:endParaRPr>
          </a:p>
        </p:txBody>
      </p:sp>
      <p:sp>
        <p:nvSpPr>
          <p:cNvPr id="14" name="Rectangle 13"/>
          <p:cNvSpPr/>
          <p:nvPr/>
        </p:nvSpPr>
        <p:spPr>
          <a:xfrm>
            <a:off x="6078742" y="10375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Price Movements</a:t>
            </a:r>
            <a:endParaRPr lang="en-US" sz="1000" b="1" dirty="0">
              <a:solidFill>
                <a:srgbClr val="002060"/>
              </a:solidFill>
              <a:latin typeface="Century Gothic" panose="020B0702020202020204" pitchFamily="34" charset="0"/>
            </a:endParaRPr>
          </a:p>
        </p:txBody>
      </p:sp>
      <p:sp>
        <p:nvSpPr>
          <p:cNvPr id="15" name="Rectangle 14"/>
          <p:cNvSpPr/>
          <p:nvPr/>
        </p:nvSpPr>
        <p:spPr>
          <a:xfrm>
            <a:off x="6078741" y="2996211"/>
            <a:ext cx="5340377" cy="1962927"/>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Analyzing volatility across different economic releases helps identify patterns in market reactions.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This approach allows for evaluating the significance of economic indicators based on their market impact.</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Adhering to standard trading guidelines, the risk amount should not exceed 5% of the trading balance, typically. A risk-reward ratio of 1:1.5x or greater, guided by the win ratio and historical data from this presentation or other estimates, can be used to determine the appropriate risk level, take-profit point, and position size.</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Trade automation on the MT5/MT4 platform can be implemented using the expert advisor linked below, which takes the specified parameters as input.</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An MT5/MT4 account can be accessed through a</a:t>
            </a:r>
            <a:r>
              <a:rPr lang="en-US" sz="540" b="1" dirty="0">
                <a:solidFill>
                  <a:srgbClr val="002060"/>
                </a:solidFill>
                <a:latin typeface="Century Gothic" panose="020B0702020202020204" pitchFamily="34" charset="0"/>
              </a:rPr>
              <a:t> </a:t>
            </a:r>
            <a:r>
              <a:rPr lang="en-US" sz="540" dirty="0">
                <a:solidFill>
                  <a:srgbClr val="0070C0"/>
                </a:solidFill>
                <a:latin typeface="Century Gothic" panose="020B0702020202020204" pitchFamily="34" charset="0"/>
                <a:hlinkClick r:id="rId1" action="ppaction://hlinkfile"/>
              </a:rPr>
              <a:t>brokerage/securities dealer firm</a:t>
            </a:r>
            <a:r>
              <a:rPr lang="en-US" sz="540" dirty="0">
                <a:solidFill>
                  <a:srgbClr val="002060"/>
                </a:solidFill>
                <a:latin typeface="Century Gothic" panose="020B0702020202020204" pitchFamily="34" charset="0"/>
              </a:rPr>
              <a:t> or by using a </a:t>
            </a:r>
            <a:r>
              <a:rPr lang="en-US" sz="540" dirty="0">
                <a:solidFill>
                  <a:srgbClr val="0070C0"/>
                </a:solidFill>
                <a:latin typeface="Century Gothic" panose="020B0702020202020204" pitchFamily="34" charset="0"/>
                <a:hlinkClick r:id="rId2" action="ppaction://hlinkfile"/>
              </a:rPr>
              <a:t>proprietary (prop) trading account</a:t>
            </a:r>
            <a:r>
              <a:rPr lang="en-US" sz="540" dirty="0">
                <a:solidFill>
                  <a:srgbClr val="002060"/>
                </a:solidFill>
                <a:latin typeface="Century Gothic" panose="020B0702020202020204" pitchFamily="34" charset="0"/>
              </a:rPr>
              <a:t>.*</a:t>
            </a:r>
            <a:endParaRPr lang="en-US" sz="540" dirty="0">
              <a:solidFill>
                <a:srgbClr val="002060"/>
              </a:solidFill>
              <a:latin typeface="Century Gothic" panose="020B0702020202020204" pitchFamily="34" charset="0"/>
            </a:endParaRPr>
          </a:p>
          <a:p>
            <a:pPr algn="just"/>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b="1" dirty="0">
                <a:solidFill>
                  <a:srgbClr val="002060"/>
                </a:solidFill>
                <a:latin typeface="Century Gothic" panose="020B0702020202020204" pitchFamily="34" charset="0"/>
              </a:rPr>
              <a:t>Example: </a:t>
            </a:r>
            <a:endParaRPr lang="en-US" sz="540" b="1"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Volatility analysis of economic releases, such as the Consumer Price Index (CPI) event, helps identify patterns in market reactions. For instance, if the CPI event typically results in a minimum movement of 0.5x and a maximum movement of 3x, a stop-loss of 1x and a take-profit of 3x can be strategically applied.</a:t>
            </a:r>
            <a:endParaRPr lang="en-US" sz="540"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Following prudent risk management, the risk per trade should not exceed 5% of the trading balance, typically. For a $100,000 trading account (max loss amount post which trading is halted), this translates to a $5,000 stop-loss and a $15,000 take-profit.</a:t>
            </a:r>
            <a:endParaRPr lang="en-US" sz="540" dirty="0">
              <a:solidFill>
                <a:srgbClr val="002060"/>
              </a:solidFill>
              <a:latin typeface="Century Gothic" panose="020B0702020202020204" pitchFamily="34" charset="0"/>
            </a:endParaRPr>
          </a:p>
          <a:p>
            <a:pPr marL="628650" lvl="1" indent="-171450" algn="just">
              <a:buFont typeface="Arial" panose="020B0704020202020204" pitchFamily="34" charset="0"/>
              <a:buChar char="•"/>
            </a:pPr>
            <a:r>
              <a:rPr lang="en-US" sz="540" dirty="0">
                <a:solidFill>
                  <a:srgbClr val="002060"/>
                </a:solidFill>
                <a:latin typeface="Century Gothic" panose="020B0702020202020204" pitchFamily="34" charset="0"/>
              </a:rPr>
              <a:t>The guiding principle is that a win ratio of at least 50% combined with a risk-reward ratio of over 1.5-2x ensures positive expected cash flow. By limiting risk to 5% of the account balance, potential drawdowns from consecutive losses are minimized, preserving capital and maintaining positive cash flow expectations.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dirty="0">
                <a:solidFill>
                  <a:srgbClr val="002060"/>
                </a:solidFill>
                <a:latin typeface="Century Gothic" panose="020B0702020202020204" pitchFamily="34" charset="0"/>
              </a:rPr>
              <a:t>If you need further assistance, please don’t hesitate to contact us.</a:t>
            </a:r>
            <a:endParaRPr lang="en-US" sz="540" dirty="0">
              <a:solidFill>
                <a:srgbClr val="002060"/>
              </a:solidFill>
              <a:latin typeface="Century Gothic" panose="020B0702020202020204" pitchFamily="34" charset="0"/>
            </a:endParaRPr>
          </a:p>
          <a:p>
            <a:pPr marL="171450" indent="-171450" algn="just">
              <a:buFont typeface="Arial" panose="020B0704020202020204" pitchFamily="34" charset="0"/>
              <a:buChar char="•"/>
            </a:pPr>
            <a:r>
              <a:rPr lang="en-US" sz="540" i="1" dirty="0">
                <a:solidFill>
                  <a:srgbClr val="002060"/>
                </a:solidFill>
                <a:latin typeface="Century Gothic" panose="020B0702020202020204" pitchFamily="34" charset="0"/>
              </a:rPr>
              <a:t>*Disclaimer: The links are provided for informational purposes only and connect to third-party websites. We are not affiliated with, nor do we endorse, any of these external sites. Trading carries a significant risk of financial loss. Your risk is your own responsibility, and you should carefully consider your investment objectives and risk tolerance before trading.</a:t>
            </a:r>
            <a:endParaRPr lang="en-US" sz="540" i="1" dirty="0">
              <a:solidFill>
                <a:srgbClr val="002060"/>
              </a:solidFill>
              <a:latin typeface="Century Gothic" panose="020B0702020202020204" pitchFamily="34" charset="0"/>
            </a:endParaRPr>
          </a:p>
        </p:txBody>
      </p:sp>
      <p:sp>
        <p:nvSpPr>
          <p:cNvPr id="16" name="Rectangle 15"/>
          <p:cNvSpPr/>
          <p:nvPr/>
        </p:nvSpPr>
        <p:spPr>
          <a:xfrm>
            <a:off x="6078742" y="239920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Using This Analysis</a:t>
            </a:r>
            <a:endParaRPr lang="en-US" sz="1000" b="1" dirty="0">
              <a:solidFill>
                <a:srgbClr val="002060"/>
              </a:solidFill>
              <a:latin typeface="Century Gothic" panose="020B0702020202020204" pitchFamily="34" charset="0"/>
            </a:endParaRPr>
          </a:p>
        </p:txBody>
      </p:sp>
      <p:sp>
        <p:nvSpPr>
          <p:cNvPr id="17" name="Rectangle 16"/>
          <p:cNvSpPr/>
          <p:nvPr/>
        </p:nvSpPr>
        <p:spPr>
          <a:xfrm>
            <a:off x="6078742" y="5727436"/>
            <a:ext cx="5340375" cy="513471"/>
          </a:xfrm>
          <a:prstGeom prst="rect">
            <a:avLst/>
          </a:prstGeom>
          <a:solidFill>
            <a:schemeClr val="bg1">
              <a:lumMod val="95000"/>
            </a:schemeClr>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704020202020204" pitchFamily="34" charset="0"/>
              <a:buChar char="•"/>
            </a:pPr>
            <a:r>
              <a:rPr lang="en-US" sz="800" u="sng" strike="noStrike" dirty="0">
                <a:solidFill>
                  <a:srgbClr val="0070C0"/>
                </a:solidFill>
                <a:effectLst/>
                <a:latin typeface="Century Gothic" panose="020B0702020202020204" pitchFamily="34" charset="0"/>
                <a:hlinkClick r:id="rId3" action="ppaction://hlinkfile"/>
              </a:rPr>
              <a:t>https://github.com/pawan-pro/quantwater-tech-investments/blob/main/QuantPulse</a:t>
            </a:r>
            <a:endParaRPr lang="en-US" sz="800" u="sng" strike="noStrike" dirty="0">
              <a:solidFill>
                <a:srgbClr val="0070C0"/>
              </a:solidFill>
              <a:effectLst/>
              <a:latin typeface="Century Gothic" panose="020B0702020202020204" pitchFamily="34" charset="0"/>
            </a:endParaRPr>
          </a:p>
          <a:p>
            <a:pPr marL="171450" indent="-171450">
              <a:buFont typeface="Arial" panose="020B0704020202020204" pitchFamily="34" charset="0"/>
              <a:buChar char="•"/>
            </a:pPr>
            <a:r>
              <a:rPr lang="en-US" sz="800" u="sng" dirty="0">
                <a:solidFill>
                  <a:srgbClr val="0070C0"/>
                </a:solidFill>
                <a:latin typeface="Century Gothic" panose="020B0702020202020204" pitchFamily="34" charset="0"/>
                <a:hlinkClick r:id="rId4"/>
              </a:rPr>
              <a:t>https://quantwatertech.netlify.app/research</a:t>
            </a:r>
            <a:endParaRPr lang="en-US" sz="800" u="sng" dirty="0">
              <a:solidFill>
                <a:srgbClr val="0070C0"/>
              </a:solidFill>
              <a:latin typeface="Century Gothic" panose="020B0702020202020204" pitchFamily="34" charset="0"/>
            </a:endParaRPr>
          </a:p>
          <a:p>
            <a:pPr marL="171450" indent="-171450">
              <a:buFont typeface="Arial" panose="020B0704020202020204" pitchFamily="34" charset="0"/>
              <a:buChar char="•"/>
            </a:pPr>
            <a:r>
              <a:rPr lang="en-US" sz="800" u="sng" dirty="0">
                <a:solidFill>
                  <a:srgbClr val="0070C0"/>
                </a:solidFill>
                <a:latin typeface="Century Gothic" panose="020B0702020202020204" pitchFamily="34" charset="0"/>
                <a:hlinkClick r:id="rId5"/>
              </a:rPr>
              <a:t>https://quantwater.tech/blog</a:t>
            </a:r>
            <a:endParaRPr lang="en-US" sz="800" u="sng" dirty="0">
              <a:solidFill>
                <a:srgbClr val="0070C0"/>
              </a:solidFill>
              <a:latin typeface="Century Gothic" panose="020B0702020202020204" pitchFamily="34" charset="0"/>
            </a:endParaRPr>
          </a:p>
        </p:txBody>
      </p:sp>
      <p:sp>
        <p:nvSpPr>
          <p:cNvPr id="18" name="Rectangle 17"/>
          <p:cNvSpPr/>
          <p:nvPr/>
        </p:nvSpPr>
        <p:spPr>
          <a:xfrm>
            <a:off x="6078741" y="5160245"/>
            <a:ext cx="5340376" cy="366084"/>
          </a:xfrm>
          <a:prstGeom prst="rect">
            <a:avLst/>
          </a:prstGeom>
          <a:solidFill>
            <a:schemeClr val="accent2"/>
          </a:solidFill>
          <a:scene3d>
            <a:camera prst="orthographicFront"/>
            <a:lightRig rig="threePt" dir="t"/>
          </a:scene3d>
          <a:sp3d>
            <a:contourClr>
              <a:srgbClr val="000000"/>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rgbClr val="002060"/>
                </a:solidFill>
                <a:latin typeface="Century Gothic" panose="020B0702020202020204" pitchFamily="34" charset="0"/>
              </a:rPr>
              <a:t>Resources</a:t>
            </a:r>
            <a:endParaRPr lang="en-US" sz="1000" b="1" dirty="0">
              <a:solidFill>
                <a:srgbClr val="002060"/>
              </a:solidFill>
              <a:latin typeface="Century Gothic" panose="020B0702020202020204" pitchFamily="34" charset="0"/>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8606" y="376150"/>
            <a:ext cx="5877454" cy="1765801"/>
          </a:xfrm>
        </p:spPr>
        <p:txBody>
          <a:bodyPr>
            <a:normAutofit/>
          </a:bodyPr>
          <a:lstStyle/>
          <a:p>
            <a:r>
              <a:rPr lang="en-US" dirty="0">
                <a:solidFill>
                  <a:schemeClr val="accent5">
                    <a:lumMod val="50000"/>
                  </a:schemeClr>
                </a:solidFill>
                <a:latin typeface="Century Gothic" panose="020B0702020202020204" pitchFamily="34" charset="0"/>
                <a:cs typeface="Century Gothic" panose="020B0702020202020204" pitchFamily="34" charset="0"/>
              </a:rPr>
              <a:t>Thank You!</a:t>
            </a:r>
            <a:endParaRPr lang="en-US" sz="1100" dirty="0">
              <a:solidFill>
                <a:schemeClr val="accent5">
                  <a:lumMod val="50000"/>
                </a:schemeClr>
              </a:solidFill>
              <a:latin typeface="Century Gothic" panose="020B0702020202020204" pitchFamily="34" charset="0"/>
              <a:cs typeface="Century Gothic" panose="020B0702020202020204" pitchFamily="34" charset="0"/>
            </a:endParaRPr>
          </a:p>
        </p:txBody>
      </p:sp>
      <p:sp>
        <p:nvSpPr>
          <p:cNvPr id="5" name="Subtitle 2"/>
          <p:cNvSpPr txBox="1"/>
          <p:nvPr/>
        </p:nvSpPr>
        <p:spPr>
          <a:xfrm>
            <a:off x="7820661" y="5001613"/>
            <a:ext cx="7746332" cy="9674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704020202020204" pitchFamily="34" charset="0"/>
              <a:buNone/>
              <a:defRPr sz="2000" kern="1200">
                <a:solidFill>
                  <a:schemeClr val="bg1"/>
                </a:solidFill>
                <a:latin typeface="Arial" panose="020B0704020202020204" pitchFamily="34" charset="0"/>
                <a:ea typeface="+mn-ea"/>
                <a:cs typeface="+mn-cs"/>
              </a:defRPr>
            </a:lvl1pPr>
            <a:lvl2pPr marL="457200" indent="0" algn="ctr" defTabSz="914400" rtl="0" eaLnBrk="1" latinLnBrk="0" hangingPunct="1">
              <a:lnSpc>
                <a:spcPct val="90000"/>
              </a:lnSpc>
              <a:spcBef>
                <a:spcPts val="500"/>
              </a:spcBef>
              <a:buFont typeface="Arial" panose="020B0704020202020204" pitchFamily="34" charset="0"/>
              <a:buNone/>
              <a:defRPr sz="2000" kern="1200">
                <a:solidFill>
                  <a:srgbClr val="0E1120"/>
                </a:solidFill>
                <a:latin typeface="Arial" panose="020B0704020202020204" pitchFamily="34" charset="0"/>
                <a:ea typeface="+mn-ea"/>
                <a:cs typeface="+mn-cs"/>
              </a:defRPr>
            </a:lvl2pPr>
            <a:lvl3pPr marL="914400" indent="0" algn="ctr" defTabSz="914400" rtl="0" eaLnBrk="1" latinLnBrk="0" hangingPunct="1">
              <a:lnSpc>
                <a:spcPct val="90000"/>
              </a:lnSpc>
              <a:spcBef>
                <a:spcPts val="500"/>
              </a:spcBef>
              <a:buFont typeface="Arial" panose="020B0704020202020204" pitchFamily="34" charset="0"/>
              <a:buNone/>
              <a:defRPr sz="1800" kern="1200">
                <a:solidFill>
                  <a:srgbClr val="0E1120"/>
                </a:solidFill>
                <a:latin typeface="Arial" panose="020B0704020202020204" pitchFamily="34" charset="0"/>
                <a:ea typeface="+mn-ea"/>
                <a:cs typeface="+mn-cs"/>
              </a:defRPr>
            </a:lvl3pPr>
            <a:lvl4pPr marL="13716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4pPr>
            <a:lvl5pPr marL="1828800" indent="0" algn="ctr" defTabSz="914400" rtl="0" eaLnBrk="1" latinLnBrk="0" hangingPunct="1">
              <a:lnSpc>
                <a:spcPct val="90000"/>
              </a:lnSpc>
              <a:spcBef>
                <a:spcPts val="500"/>
              </a:spcBef>
              <a:buFont typeface="Arial" panose="020B0704020202020204" pitchFamily="34" charset="0"/>
              <a:buNone/>
              <a:defRPr sz="1600" kern="1200">
                <a:solidFill>
                  <a:srgbClr val="0E1120"/>
                </a:solidFill>
                <a:latin typeface="Arial" panose="020B0704020202020204" pitchFamily="34" charset="0"/>
                <a:ea typeface="+mn-ea"/>
                <a:cs typeface="+mn-cs"/>
              </a:defRPr>
            </a:lvl5pPr>
            <a:lvl6pPr marL="22860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7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704020202020204" pitchFamily="34" charset="0"/>
              <a:buNone/>
              <a:defRPr/>
            </a:pPr>
            <a:endParaRPr kumimoji="0" lang="en-US" sz="1800" b="1" i="0" u="none" strike="noStrike" kern="1200" cap="none" spc="0" normalizeH="0" baseline="0" noProof="0" dirty="0">
              <a:ln>
                <a:noFill/>
              </a:ln>
              <a:solidFill>
                <a:srgbClr val="111121"/>
              </a:solidFill>
              <a:effectLst/>
              <a:uLnTx/>
              <a:uFillTx/>
              <a:latin typeface="Century Gothic" panose="020B0702020202020204" pitchFamily="34" charset="0"/>
              <a:ea typeface="+mn-ea"/>
              <a:cs typeface="Century Gothic" panose="020B0702020202020204" pitchFamily="34" charset="0"/>
            </a:endParaRPr>
          </a:p>
        </p:txBody>
      </p:sp>
      <p:sp>
        <p:nvSpPr>
          <p:cNvPr id="9" name="Rectangle 8"/>
          <p:cNvSpPr/>
          <p:nvPr/>
        </p:nvSpPr>
        <p:spPr>
          <a:xfrm>
            <a:off x="1452282" y="6002963"/>
            <a:ext cx="8785412" cy="588337"/>
          </a:xfrm>
          <a:prstGeom prst="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Century Gothic" panose="020B0702020202020204" pitchFamily="34" charset="0"/>
              <a:ea typeface="+mn-ea"/>
              <a:cs typeface="Century Gothic" panose="020B0702020202020204" pitchFamily="34" charset="0"/>
            </a:endParaRPr>
          </a:p>
        </p:txBody>
      </p:sp>
      <p:pic>
        <p:nvPicPr>
          <p:cNvPr id="7" name="Picture 6" descr="A line drawn on a white background&#10;&#10;Description automatically generated"/>
          <p:cNvPicPr>
            <a:picLocks noChangeAspect="1"/>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b="15261"/>
          <a:stretch>
            <a:fillRect/>
          </a:stretch>
        </p:blipFill>
        <p:spPr>
          <a:xfrm>
            <a:off x="0" y="-24903"/>
            <a:ext cx="12192000" cy="5849438"/>
          </a:xfrm>
          <a:prstGeom prst="rect">
            <a:avLst/>
          </a:prstGeom>
        </p:spPr>
      </p:pic>
      <p:sp>
        <p:nvSpPr>
          <p:cNvPr id="10" name="Title 1"/>
          <p:cNvSpPr txBox="1"/>
          <p:nvPr/>
        </p:nvSpPr>
        <p:spPr>
          <a:xfrm>
            <a:off x="648606" y="376151"/>
            <a:ext cx="6046662" cy="181213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3300" dirty="0">
                <a:solidFill>
                  <a:schemeClr val="accent3"/>
                </a:solidFill>
                <a:latin typeface="Century Gothic" panose="020B0702020202020204" pitchFamily="34" charset="0"/>
                <a:cs typeface="Century Gothic" panose="020B0702020202020204" pitchFamily="34" charset="0"/>
              </a:rPr>
              <a:t>Thank You!</a:t>
            </a:r>
            <a:endParaRPr lang="en-US" sz="3300" dirty="0">
              <a:solidFill>
                <a:schemeClr val="accent3"/>
              </a:solidFill>
              <a:latin typeface="Century Gothic" panose="020B0702020202020204" pitchFamily="34" charset="0"/>
              <a:cs typeface="Century Gothic" panose="020B0702020202020204" pitchFamily="34" charset="0"/>
            </a:endParaRPr>
          </a:p>
        </p:txBody>
      </p:sp>
      <p:sp>
        <p:nvSpPr>
          <p:cNvPr id="4" name="Title 1"/>
          <p:cNvSpPr txBox="1"/>
          <p:nvPr/>
        </p:nvSpPr>
        <p:spPr>
          <a:xfrm>
            <a:off x="1654446" y="6340302"/>
            <a:ext cx="8583248" cy="512781"/>
          </a:xfrm>
          <a:prstGeom prst="rect">
            <a:avLst/>
          </a:prstGeom>
          <a:solidFill>
            <a:schemeClr val="bg1"/>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pPr algn="ctr"/>
            <a:r>
              <a:rPr lang="en-US" sz="3300" dirty="0">
                <a:solidFill>
                  <a:schemeClr val="accent5"/>
                </a:solidFill>
                <a:latin typeface="Century Gothic" panose="020B0702020202020204" pitchFamily="34" charset="0"/>
                <a:cs typeface="Century Gothic" panose="020B0702020202020204" pitchFamily="34" charset="0"/>
              </a:rPr>
              <a:t>Quantwater Tech Investments</a:t>
            </a:r>
            <a:endParaRPr lang="en-US" sz="3300" dirty="0">
              <a:solidFill>
                <a:schemeClr val="accent5"/>
              </a:solidFill>
              <a:latin typeface="Century Gothic" panose="020B0702020202020204" pitchFamily="34" charset="0"/>
              <a:cs typeface="Century Gothic" panose="020B0702020202020204" pitchFamily="34" charset="0"/>
            </a:endParaRPr>
          </a:p>
        </p:txBody>
      </p:sp>
      <p:sp>
        <p:nvSpPr>
          <p:cNvPr id="3" name="Title 1"/>
          <p:cNvSpPr txBox="1"/>
          <p:nvPr/>
        </p:nvSpPr>
        <p:spPr>
          <a:xfrm>
            <a:off x="731838" y="5575874"/>
            <a:ext cx="1653553" cy="666778"/>
          </a:xfrm>
          <a:prstGeom prst="rect">
            <a:avLst/>
          </a:prstGeom>
          <a:solidFill>
            <a:schemeClr val="bg1">
              <a:lumMod val="95000"/>
            </a:schemeClr>
          </a:solidFill>
          <a:effectLst>
            <a:outerShdw blurRad="50800" dist="38100" dir="2700000" algn="tl" rotWithShape="0">
              <a:prstClr val="black">
                <a:alpha val="40000"/>
              </a:prstClr>
            </a:outerShdw>
          </a:effectLst>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2800" b="1" kern="1200">
                <a:solidFill>
                  <a:schemeClr val="bg1"/>
                </a:solidFill>
                <a:latin typeface="Arial" panose="020B0704020202020204" pitchFamily="34" charset="0"/>
                <a:ea typeface="+mj-ea"/>
                <a:cs typeface="Arial" panose="020B0704020202020204" pitchFamily="34" charset="0"/>
              </a:defRPr>
            </a:lvl1pPr>
          </a:lstStyle>
          <a:p>
            <a:r>
              <a:rPr lang="en-US" sz="1500" dirty="0">
                <a:solidFill>
                  <a:schemeClr val="bg1">
                    <a:lumMod val="50000"/>
                  </a:schemeClr>
                </a:solidFill>
                <a:latin typeface="Century Gothic" panose="020B0702020202020204" pitchFamily="34" charset="0"/>
                <a:cs typeface="Century Gothic" panose="020B0702020202020204" pitchFamily="34" charset="0"/>
              </a:rPr>
              <a:t>Pawan Jatale</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r>
              <a:rPr lang="en-US" sz="1500" dirty="0">
                <a:solidFill>
                  <a:schemeClr val="bg1">
                    <a:lumMod val="50000"/>
                  </a:schemeClr>
                </a:solidFill>
                <a:latin typeface="Century Gothic" panose="020B0702020202020204" pitchFamily="34" charset="0"/>
                <a:cs typeface="Century Gothic" panose="020B0702020202020204" pitchFamily="34" charset="0"/>
              </a:rPr>
              <a:t>pawan@quantwater.tech</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endParaRPr lang="en-US" sz="1500" dirty="0">
              <a:solidFill>
                <a:schemeClr val="bg1">
                  <a:lumMod val="50000"/>
                </a:schemeClr>
              </a:solidFill>
              <a:latin typeface="Century Gothic" panose="020B0702020202020204" pitchFamily="34" charset="0"/>
              <a:cs typeface="Century Gothic" panose="020B0702020202020204" pitchFamily="34" charset="0"/>
            </a:endParaRPr>
          </a:p>
          <a:p>
            <a:r>
              <a:rPr lang="en-US" sz="1500" dirty="0">
                <a:solidFill>
                  <a:schemeClr val="bg1">
                    <a:lumMod val="50000"/>
                  </a:schemeClr>
                </a:solidFill>
                <a:latin typeface="Century Gothic" panose="020B0702020202020204" pitchFamily="34" charset="0"/>
                <a:cs typeface="Century Gothic" panose="020B0702020202020204" pitchFamily="34" charset="0"/>
              </a:rPr>
              <a:t>Founder</a:t>
            </a:r>
            <a:endParaRPr lang="en-US" sz="1500" dirty="0">
              <a:solidFill>
                <a:schemeClr val="bg1">
                  <a:lumMod val="50000"/>
                </a:schemeClr>
              </a:solidFill>
              <a:latin typeface="Century Gothic" panose="020B0702020202020204" pitchFamily="34" charset="0"/>
              <a:cs typeface="Century Gothic" panose="020B0702020202020204" pitchFamily="34" charset="0"/>
            </a:endParaRPr>
          </a:p>
        </p:txBody>
      </p:sp>
    </p:spTree>
  </p:cSld>
  <p:clrMapOvr>
    <a:masterClrMapping/>
  </p:clrMapOvr>
</p:sld>
</file>

<file path=ppt/theme/theme1.xml><?xml version="1.0" encoding="utf-8"?>
<a:theme xmlns:a="http://schemas.openxmlformats.org/drawingml/2006/main" name="TAQA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58190</Words>
  <Application>WPS Presentation</Application>
  <PresentationFormat>Widescreen</PresentationFormat>
  <Paragraphs>1579</Paragraphs>
  <Slides>165</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165</vt:i4>
      </vt:variant>
    </vt:vector>
  </HeadingPairs>
  <TitlesOfParts>
    <vt:vector size="180" baseType="lpstr">
      <vt:lpstr>Arial</vt:lpstr>
      <vt:lpstr>SimSun</vt:lpstr>
      <vt:lpstr>Wingdings</vt:lpstr>
      <vt:lpstr>Century Gothic</vt:lpstr>
      <vt:lpstr>Verdana</vt:lpstr>
      <vt:lpstr>Arial</vt:lpstr>
      <vt:lpstr>Century Gothic</vt:lpstr>
      <vt:lpstr>Microsoft YaHei</vt:lpstr>
      <vt:lpstr>汉仪旗黑</vt:lpstr>
      <vt:lpstr>Arial Unicode MS</vt:lpstr>
      <vt:lpstr>Aptos</vt:lpstr>
      <vt:lpstr>Helvetica Neue</vt:lpstr>
      <vt:lpstr>宋体-简</vt:lpstr>
      <vt:lpstr>Calibri</vt:lpstr>
      <vt:lpstr>TAQA Template</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 Project Spider  Accelerating the Energy Transition  4thMar 2024  Pawan Quantwater Tech Investments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J</dc:creator>
  <cp:lastModifiedBy>Pawan Jatale</cp:lastModifiedBy>
  <cp:revision>44</cp:revision>
  <dcterms:created xsi:type="dcterms:W3CDTF">2025-10-12T14:20:16Z</dcterms:created>
  <dcterms:modified xsi:type="dcterms:W3CDTF">2025-10-12T14:20:16Z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63899919E5896F35FEABEB688230BA1F_43</vt:lpwstr>
  </property>
  <property fmtid="{D5CDD505-2E9C-101B-9397-08002B2CF9AE}" pid="3" name="KSOProductBuildVer">
    <vt:lpwstr>1033-12.1.22533.22533</vt:lpwstr>
  </property>
</Properties>
</file>