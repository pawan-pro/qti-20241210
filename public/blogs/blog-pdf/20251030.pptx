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5"/>
  </p:notesMasterIdLst>
  <p:sldIdLst>
    <p:sldId id="4102425" r:id="rId3"/>
    <p:sldId id="4102427" r:id="rId4"/>
    <p:sldId id="4102400" r:id="rId6"/>
    <p:sldId id="4102444" r:id="rId7"/>
    <p:sldId id="4102445" r:id="rId8"/>
    <p:sldId id="4102010" r:id="rId9"/>
    <p:sldId id="4102446" r:id="rId10"/>
    <p:sldId id="4102447" r:id="rId11"/>
    <p:sldId id="4102448" r:id="rId12"/>
    <p:sldId id="4102449" r:id="rId13"/>
    <p:sldId id="4102450" r:id="rId14"/>
    <p:sldId id="4102451" r:id="rId15"/>
    <p:sldId id="4102452" r:id="rId16"/>
    <p:sldId id="4102453" r:id="rId17"/>
    <p:sldId id="4102454" r:id="rId18"/>
    <p:sldId id="4102455" r:id="rId19"/>
    <p:sldId id="4102456" r:id="rId20"/>
    <p:sldId id="4102457" r:id="rId21"/>
    <p:sldId id="4102458" r:id="rId22"/>
    <p:sldId id="4102459" r:id="rId23"/>
    <p:sldId id="4102460" r:id="rId24"/>
    <p:sldId id="4102461" r:id="rId25"/>
    <p:sldId id="4102462" r:id="rId26"/>
    <p:sldId id="4102463" r:id="rId27"/>
    <p:sldId id="4102464" r:id="rId28"/>
    <p:sldId id="4102465" r:id="rId29"/>
    <p:sldId id="4102466" r:id="rId30"/>
    <p:sldId id="4102467" r:id="rId31"/>
    <p:sldId id="4102468" r:id="rId32"/>
    <p:sldId id="4102469" r:id="rId33"/>
    <p:sldId id="4102470" r:id="rId34"/>
    <p:sldId id="4102471" r:id="rId35"/>
    <p:sldId id="4102472" r:id="rId36"/>
    <p:sldId id="4102473" r:id="rId37"/>
    <p:sldId id="4102474" r:id="rId38"/>
    <p:sldId id="4102475" r:id="rId39"/>
    <p:sldId id="4102476" r:id="rId40"/>
    <p:sldId id="4102477" r:id="rId41"/>
    <p:sldId id="4102478" r:id="rId42"/>
    <p:sldId id="4102479" r:id="rId43"/>
    <p:sldId id="4102480" r:id="rId44"/>
    <p:sldId id="4102481" r:id="rId45"/>
    <p:sldId id="4102482" r:id="rId46"/>
    <p:sldId id="4102483" r:id="rId47"/>
    <p:sldId id="4102484" r:id="rId48"/>
    <p:sldId id="4102485" r:id="rId49"/>
    <p:sldId id="4102486" r:id="rId50"/>
    <p:sldId id="4102487" r:id="rId51"/>
    <p:sldId id="4102488" r:id="rId52"/>
    <p:sldId id="4102489" r:id="rId53"/>
    <p:sldId id="4102490" r:id="rId54"/>
    <p:sldId id="4102491" r:id="rId55"/>
    <p:sldId id="4102492" r:id="rId56"/>
    <p:sldId id="4102493" r:id="rId57"/>
    <p:sldId id="4102494" r:id="rId58"/>
    <p:sldId id="4102495" r:id="rId59"/>
    <p:sldId id="4102496" r:id="rId60"/>
    <p:sldId id="4102497" r:id="rId61"/>
    <p:sldId id="4102498" r:id="rId62"/>
    <p:sldId id="4102499" r:id="rId63"/>
    <p:sldId id="4102500" r:id="rId64"/>
    <p:sldId id="4102501" r:id="rId65"/>
    <p:sldId id="4102502" r:id="rId66"/>
    <p:sldId id="4102503" r:id="rId67"/>
    <p:sldId id="4102504" r:id="rId68"/>
    <p:sldId id="4102505" r:id="rId69"/>
    <p:sldId id="4102506" r:id="rId70"/>
    <p:sldId id="4102507" r:id="rId71"/>
    <p:sldId id="4102508" r:id="rId72"/>
    <p:sldId id="4102509" r:id="rId73"/>
    <p:sldId id="4102510" r:id="rId74"/>
    <p:sldId id="4102511" r:id="rId75"/>
    <p:sldId id="4102512" r:id="rId76"/>
    <p:sldId id="4102513" r:id="rId77"/>
    <p:sldId id="4102514" r:id="rId78"/>
    <p:sldId id="4102515" r:id="rId79"/>
    <p:sldId id="4102516" r:id="rId80"/>
    <p:sldId id="4102517" r:id="rId81"/>
    <p:sldId id="4102518" r:id="rId82"/>
    <p:sldId id="4102519" r:id="rId83"/>
    <p:sldId id="4102520" r:id="rId84"/>
    <p:sldId id="41025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29"/>
    <p:restoredTop sz="94682"/>
  </p:normalViewPr>
  <p:slideViewPr>
    <p:cSldViewPr snapToGrid="0" showGuides="1">
      <p:cViewPr>
        <p:scale>
          <a:sx n="90" d="100"/>
          <a:sy n="90" d="100"/>
        </p:scale>
        <p:origin x="-32" y="81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8" Type="http://schemas.openxmlformats.org/officeDocument/2006/relationships/tableStyles" Target="tableStyles.xml"/><Relationship Id="rId87" Type="http://schemas.openxmlformats.org/officeDocument/2006/relationships/viewProps" Target="viewProps.xml"/><Relationship Id="rId86" Type="http://schemas.openxmlformats.org/officeDocument/2006/relationships/presProps" Target="presProps.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notesMaster" Target="notesMasters/notesMaster1.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406E5E-8587-7944-A611-EE9F859B850F}"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A3D73E-6582-8C42-9592-FC2CEFA619E6}"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95B7C-AFC1-574C-80B2-E15C5CF966D6}"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image2.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image5.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image6.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microsoft.com/office/2007/relationships/hdphoto" Target="../media/image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7" name="Title 1"/>
          <p:cNvSpPr txBox="1"/>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t>Click to edit Master title style</a:t>
            </a:r>
            <a:endParaRPr lang="en-US" dirty="0"/>
          </a:p>
        </p:txBody>
      </p:sp>
      <p:sp>
        <p:nvSpPr>
          <p:cNvPr id="6" name="Title 1"/>
          <p:cNvSpPr txBox="1"/>
          <p:nvPr userDrawn="1"/>
        </p:nvSpPr>
        <p:spPr>
          <a:xfrm>
            <a:off x="6059020" y="3501931"/>
            <a:ext cx="5443870" cy="220035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dirty="0">
                <a:solidFill>
                  <a:schemeClr val="bg1">
                    <a:lumMod val="50000"/>
                  </a:schemeClr>
                </a:solidFill>
              </a:rPr>
              <a:t>[Date]</a:t>
            </a:r>
            <a:endParaRPr lang="en-US" sz="3300" dirty="0">
              <a:solidFill>
                <a:schemeClr val="bg1">
                  <a:lumMod val="50000"/>
                </a:schemeClr>
              </a:solidFill>
            </a:endParaRPr>
          </a:p>
          <a:p>
            <a:endParaRPr lang="en-US" sz="3300" dirty="0">
              <a:solidFill>
                <a:schemeClr val="bg1">
                  <a:lumMod val="50000"/>
                </a:schemeClr>
              </a:solidFill>
            </a:endParaRPr>
          </a:p>
          <a:p>
            <a:r>
              <a:rPr lang="en-US" sz="3300" dirty="0">
                <a:solidFill>
                  <a:schemeClr val="bg1">
                    <a:lumMod val="50000"/>
                  </a:schemeClr>
                </a:solidFill>
              </a:rPr>
              <a:t>Economic Data Releases &amp; Their Historical Impact on Assets</a:t>
            </a:r>
            <a:endParaRPr lang="en-US" sz="3300" dirty="0">
              <a:solidFill>
                <a:schemeClr val="bg1">
                  <a:lumMod val="50000"/>
                </a:schemeClr>
              </a:solidFill>
            </a:endParaRPr>
          </a:p>
        </p:txBody>
      </p:sp>
      <p:sp>
        <p:nvSpPr>
          <p:cNvPr id="8" name="TextBox 7"/>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3" name="Rectangle 2"/>
          <p:cNvSpPr/>
          <p:nvPr userDrawn="1"/>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Brief</a:t>
            </a:r>
            <a:endParaRPr lang="en-US" b="1" dirty="0">
              <a:solidFill>
                <a:srgbClr val="002060"/>
              </a:solidFill>
              <a:latin typeface="Century Gothic" panose="020B0702020202020204" pitchFamily="34" charset="0"/>
            </a:endParaRPr>
          </a:p>
        </p:txBody>
      </p:sp>
      <p:graphicFrame>
        <p:nvGraphicFramePr>
          <p:cNvPr id="4" name="Table 3"/>
          <p:cNvGraphicFramePr>
            <a:graphicFrameLocks noGrp="1"/>
          </p:cNvGraphicFramePr>
          <p:nvPr userDrawn="1"/>
        </p:nvGraphicFramePr>
        <p:xfrm>
          <a:off x="439939" y="882757"/>
          <a:ext cx="11407299" cy="5810186"/>
        </p:xfrm>
        <a:graphic>
          <a:graphicData uri="http://schemas.openxmlformats.org/drawingml/2006/table">
            <a:tbl>
              <a:tblPr>
                <a:tableStyleId>{5C22544A-7EE6-4342-B048-85BDC9FD1C3A}</a:tableStyleId>
              </a:tblPr>
              <a:tblGrid>
                <a:gridCol w="1492493"/>
                <a:gridCol w="949772"/>
                <a:gridCol w="1283396"/>
                <a:gridCol w="927100"/>
                <a:gridCol w="723900"/>
                <a:gridCol w="6030638"/>
              </a:tblGrid>
              <a:tr h="276893">
                <a:tc>
                  <a:txBody>
                    <a:bodyPr/>
                    <a:lstStyle/>
                    <a:p>
                      <a:pPr algn="ctr" fontAlgn="ctr"/>
                      <a:r>
                        <a:rPr lang="en-US" sz="1050" b="1" i="0" u="none" strike="noStrike" dirty="0">
                          <a:solidFill>
                            <a:srgbClr val="002060"/>
                          </a:solidFill>
                          <a:effectLst/>
                          <a:latin typeface="Verdana" panose="020B0604030504040204" pitchFamily="34" charset="0"/>
                        </a:rPr>
                        <a:t>Date</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Day</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Time (IST)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Cur.</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Imp.</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Event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9153">
                <a:tc gridSpan="6">
                  <a:txBody>
                    <a:bodyPr/>
                    <a:lstStyle/>
                    <a:p>
                      <a:pPr lvl="0" algn="ctr" fontAlgn="ctr"/>
                      <a:endParaRPr lang="en-US" sz="8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
        <p:nvSpPr>
          <p:cNvPr id="6" name="TextBox 5"/>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7" name="Title 1"/>
          <p:cNvSpPr txBox="1"/>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a:t>Click to edit Master title style</a:t>
            </a:r>
            <a:endParaRPr lang="en-US" dirty="0"/>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p:txBody>
      </p:sp>
      <p:sp>
        <p:nvSpPr>
          <p:cNvPr id="9" name="TextBox 8"/>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Main Title 02">
    <p:bg>
      <p:bgRef idx="1001">
        <a:schemeClr val="bg2"/>
      </p:bgRef>
    </p:bg>
    <p:spTree>
      <p:nvGrpSpPr>
        <p:cNvPr id="1" name=""/>
        <p:cNvGrpSpPr/>
        <p:nvPr/>
      </p:nvGrpSpPr>
      <p:grpSpPr>
        <a:xfrm>
          <a:off x="0" y="0"/>
          <a:ext cx="0" cy="0"/>
          <a:chOff x="0" y="0"/>
          <a:chExt cx="0" cy="0"/>
        </a:xfrm>
      </p:grpSpPr>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8" name="Rectangle 7"/>
          <p:cNvSpPr/>
          <p:nvPr userDrawn="1"/>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702020202020204" pitchFamily="34" charset="0"/>
              </a:rPr>
              <a:t>[Event Name]</a:t>
            </a:r>
            <a:endParaRPr lang="en-US" sz="1800" b="1" dirty="0">
              <a:solidFill>
                <a:srgbClr val="002060"/>
              </a:solidFill>
              <a:latin typeface="Century Gothic" panose="020B0702020202020204" pitchFamily="34" charset="0"/>
            </a:endParaRPr>
          </a:p>
        </p:txBody>
      </p:sp>
      <p:graphicFrame>
        <p:nvGraphicFramePr>
          <p:cNvPr id="9" name="Table 8"/>
          <p:cNvGraphicFramePr>
            <a:graphicFrameLocks noGrp="1"/>
          </p:cNvGraphicFramePr>
          <p:nvPr userDrawn="1"/>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rtl="0" fontAlgn="ctr"/>
                      <a:r>
                        <a:rPr lang="en-US" sz="1800" b="1" i="0" u="none" strike="noStrike" dirty="0">
                          <a:solidFill>
                            <a:srgbClr val="000000"/>
                          </a:solidFill>
                          <a:effectLst/>
                          <a:latin typeface="Century Gothic" panose="020B0702020202020204" pitchFamily="34" charset="0"/>
                        </a:rPr>
                        <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702020202020204" pitchFamily="34" charset="0"/>
                        </a:rPr>
                        <a:t>[Event Name]</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rtl="0" fontAlgn="ctr"/>
                      <a:r>
                        <a:rPr lang="en-US" sz="1800" b="1" i="0" u="none" strike="noStrike">
                          <a:solidFill>
                            <a:srgbClr val="000000"/>
                          </a:solidFill>
                          <a:effectLst/>
                          <a:latin typeface="Century Gothic" panose="020B0702020202020204" pitchFamily="34" charset="0"/>
                        </a:rPr>
                        <a:t>Description</a:t>
                      </a:r>
                      <a:endParaRPr lang="en-US" sz="1800" b="1" i="0" u="none" strike="noStrike">
                        <a:solidFill>
                          <a:srgbClr val="000000"/>
                        </a:solidFill>
                        <a:effectLst/>
                        <a:latin typeface="Century Gothic" panose="020B070202020202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rtl="0" fontAlgn="ctr"/>
                      <a:endParaRPr lang="en-US" sz="900" b="0" i="0" u="none" strike="noStrike" dirty="0">
                        <a:solidFill>
                          <a:srgbClr val="000000"/>
                        </a:solidFill>
                        <a:effectLst/>
                        <a:latin typeface="Century Gothic" panose="020B0702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Previous:</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Time (GMT):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Release Date</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dirty="0">
                          <a:solidFill>
                            <a:srgbClr val="000000"/>
                          </a:solidFill>
                          <a:effectLst/>
                          <a:latin typeface="Century Gothic" panose="020B0702020202020204" pitchFamily="34" charset="0"/>
                        </a:rPr>
                        <a:t>Previous</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dirty="0">
                          <a:solidFill>
                            <a:srgbClr val="000000"/>
                          </a:solidFill>
                          <a:effectLst/>
                          <a:latin typeface="Century Gothic" panose="020B0702020202020204" pitchFamily="34" charset="0"/>
                        </a:rPr>
                        <a:t>[date]</a:t>
                      </a:r>
                      <a:endParaRPr lang="en-US" sz="1800" b="1" i="0" u="none" strike="noStrike" dirty="0">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
        <p:nvSpPr>
          <p:cNvPr id="11" name="TextBox 10"/>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[asset name 1]</a:t>
            </a:r>
            <a:endParaRPr lang="en-US" sz="2000" b="1" dirty="0">
              <a:solidFill>
                <a:srgbClr val="002060"/>
              </a:solidFill>
              <a:latin typeface="Century Gothic" panose="020B0702020202020204" pitchFamily="34" charset="0"/>
            </a:endParaRPr>
          </a:p>
        </p:txBody>
      </p:sp>
      <p:sp>
        <p:nvSpPr>
          <p:cNvPr id="9" name="TextBox 8"/>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5" name="TextBox 4"/>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Main Title 02">
    <p:bg>
      <p:bgRef idx="1001">
        <a:schemeClr val="bg2"/>
      </p:bgRef>
    </p:bg>
    <p:spTree>
      <p:nvGrpSpPr>
        <p:cNvPr id="1" name=""/>
        <p:cNvGrpSpPr/>
        <p:nvPr/>
      </p:nvGrpSpPr>
      <p:grpSpPr>
        <a:xfrm>
          <a:off x="0" y="0"/>
          <a:ext cx="0" cy="0"/>
          <a:chOff x="0" y="0"/>
          <a:chExt cx="0" cy="0"/>
        </a:xfrm>
      </p:grpSpPr>
      <p:sp>
        <p:nvSpPr>
          <p:cNvPr id="12" name="Title 1"/>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p:cNvPicPr>
            <a:picLocks noChangeAspect="1"/>
          </p:cNvPicPr>
          <p:nvPr userDrawn="1"/>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2470"/>
            <a:ext cx="12192000" cy="6902939"/>
          </a:xfrm>
          <a:prstGeom prst="rect">
            <a:avLst/>
          </a:prstGeom>
        </p:spPr>
      </p:pic>
      <p:sp>
        <p:nvSpPr>
          <p:cNvPr id="3" name="Rectangle 2"/>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p:cNvSpPr txBox="1"/>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endParaRPr lang="en-US" sz="1100" dirty="0">
              <a:solidFill>
                <a:schemeClr val="accent5">
                  <a:lumMod val="50000"/>
                </a:schemeClr>
              </a:solidFill>
            </a:endParaRPr>
          </a:p>
        </p:txBody>
      </p:sp>
      <p:sp>
        <p:nvSpPr>
          <p:cNvPr id="6" name="Title 1"/>
          <p:cNvSpPr txBox="1"/>
          <p:nvPr userDrawn="1"/>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[Event Name]</a:t>
            </a:r>
            <a:endParaRPr lang="en-US" sz="2000" b="1" dirty="0">
              <a:solidFill>
                <a:srgbClr val="002060"/>
              </a:solidFill>
              <a:latin typeface="Century Gothic" panose="020B0702020202020204" pitchFamily="34" charset="0"/>
            </a:endParaRPr>
          </a:p>
          <a:p>
            <a:r>
              <a:rPr lang="en-US" sz="2000" b="1" dirty="0">
                <a:solidFill>
                  <a:srgbClr val="002060"/>
                </a:solidFill>
                <a:latin typeface="Century Gothic" panose="020B0702020202020204" pitchFamily="34" charset="0"/>
              </a:rPr>
              <a:t>[asset name 2]</a:t>
            </a:r>
            <a:endParaRPr lang="en-US" sz="2000" b="1" dirty="0">
              <a:solidFill>
                <a:srgbClr val="002060"/>
              </a:solidFill>
              <a:latin typeface="Century Gothic" panose="020B0702020202020204" pitchFamily="34" charset="0"/>
            </a:endParaRPr>
          </a:p>
        </p:txBody>
      </p:sp>
      <p:sp>
        <p:nvSpPr>
          <p:cNvPr id="9" name="TextBox 8"/>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able of content">
    <p:spTree>
      <p:nvGrpSpPr>
        <p:cNvPr id="1" name=""/>
        <p:cNvGrpSpPr/>
        <p:nvPr/>
      </p:nvGrpSpPr>
      <p:grpSpPr>
        <a:xfrm>
          <a:off x="0" y="0"/>
          <a:ext cx="0" cy="0"/>
          <a:chOff x="0" y="0"/>
          <a:chExt cx="0" cy="0"/>
        </a:xfrm>
      </p:grpSpPr>
      <p:pic>
        <p:nvPicPr>
          <p:cNvPr id="68" name="Graphic 6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5" name="TextBox 4"/>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showMasterSp="0">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0"/>
            <a:ext cx="2743200" cy="365125"/>
          </a:xfrm>
          <a:prstGeom prst="rect">
            <a:avLst/>
          </a:prstGeom>
        </p:spPr>
        <p:txBody>
          <a:bodyPr/>
          <a:lstStyle/>
          <a:p>
            <a:fld id="{9C520731-65EA-CE43-94A5-88CA2912E5C8}"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424CBB0-FF61-A741-B66C-72250AAD4BCF}" type="slidenum">
              <a:rPr lang="en-US" smtClean="0"/>
            </a:fld>
            <a:endParaRPr lang="en-US"/>
          </a:p>
        </p:txBody>
      </p:sp>
      <p:sp>
        <p:nvSpPr>
          <p:cNvPr id="6" name="TextBox 5"/>
          <p:cNvSpPr txBox="1"/>
          <p:nvPr userDrawn="1"/>
        </p:nvSpPr>
        <p:spPr>
          <a:xfrm rot="5400000">
            <a:off x="11014010" y="1241867"/>
            <a:ext cx="2056958" cy="230832"/>
          </a:xfrm>
          <a:prstGeom prst="rect">
            <a:avLst/>
          </a:prstGeom>
          <a:noFill/>
        </p:spPr>
        <p:txBody>
          <a:bodyPr wrap="square">
            <a:spAutoFit/>
          </a:bodyPr>
          <a:lstStyle/>
          <a:p>
            <a:r>
              <a:rPr lang="en-US" sz="900" dirty="0">
                <a:solidFill>
                  <a:schemeClr val="accent4">
                    <a:lumMod val="75000"/>
                  </a:schemeClr>
                </a:solidFill>
                <a:latin typeface="Century Gothic" panose="020B0702020202020204" pitchFamily="34" charset="0"/>
              </a:rPr>
              <a:t>Quantwater Tech Investments </a:t>
            </a:r>
            <a:endParaRPr lang="en-US" sz="900" dirty="0">
              <a:solidFill>
                <a:schemeClr val="accent4">
                  <a:lumMod val="75000"/>
                </a:schemeClr>
              </a:solidFill>
              <a:latin typeface="Century Gothic" panose="020B0702020202020204" pitchFamily="34"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0"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66700" y="228600"/>
            <a:ext cx="11658600" cy="571500"/>
          </a:xfrm>
          <a:prstGeom prst="rect">
            <a:avLst/>
          </a:prstGeom>
        </p:spPr>
        <p:txBody>
          <a:bodyPr vert="horz" lIns="91440" tIns="45720" rIns="91440" bIns="45720" rtlCol="0" anchor="ctr">
            <a:normAutofit/>
          </a:bodyPr>
          <a:lstStyle/>
          <a:p>
            <a:r>
              <a:rPr lang="en-US" dirty="0"/>
              <a:t>Insert Text Here</a:t>
            </a:r>
            <a:endParaRPr lang="en-US" dirty="0"/>
          </a:p>
        </p:txBody>
      </p:sp>
      <p:sp>
        <p:nvSpPr>
          <p:cNvPr id="3" name="Text Placeholder 2"/>
          <p:cNvSpPr>
            <a:spLocks noGrp="1"/>
          </p:cNvSpPr>
          <p:nvPr>
            <p:ph type="body" idx="1"/>
          </p:nvPr>
        </p:nvSpPr>
        <p:spPr>
          <a:xfrm>
            <a:off x="266700" y="892098"/>
            <a:ext cx="11658600" cy="5343677"/>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a:solidFill>
                  <a:schemeClr val="tx1">
                    <a:tint val="75000"/>
                  </a:schemeClr>
                </a:solidFill>
                <a:latin typeface="Arial" panose="020B0704020202020204" pitchFamily="34" charset="0"/>
              </a:defRPr>
            </a:lvl1pPr>
          </a:lstStyle>
          <a:p>
            <a:endParaRPr lang="en-US" dirty="0"/>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100">
                <a:solidFill>
                  <a:schemeClr val="tx1">
                    <a:tint val="75000"/>
                  </a:schemeClr>
                </a:solidFill>
                <a:latin typeface="Arial" panose="020B0704020202020204" pitchFamily="34" charset="0"/>
              </a:defRPr>
            </a:lvl1pPr>
          </a:lstStyle>
          <a:p>
            <a:fld id="{743B1F26-96D9-40A6-83AD-00943405493D}"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914400" rtl="0" eaLnBrk="1" latinLnBrk="0" hangingPunct="1">
        <a:lnSpc>
          <a:spcPct val="90000"/>
        </a:lnSpc>
        <a:spcBef>
          <a:spcPct val="0"/>
        </a:spcBef>
        <a:buNone/>
        <a:defRPr sz="2800" b="1" kern="1200">
          <a:solidFill>
            <a:srgbClr val="0E1120"/>
          </a:solidFill>
          <a:latin typeface="Arial" panose="020B0704020202020204" pitchFamily="34" charset="0"/>
          <a:ea typeface="+mj-ea"/>
          <a:cs typeface="Arial" panose="020B0704020202020204" pitchFamily="34" charset="0"/>
        </a:defRPr>
      </a:lvl1pPr>
    </p:titleStyle>
    <p:bodyStyle>
      <a:lvl1pPr marL="0" indent="0" algn="l" defTabSz="914400" rtl="0" eaLnBrk="1" latinLnBrk="0" hangingPunct="1">
        <a:lnSpc>
          <a:spcPct val="90000"/>
        </a:lnSpc>
        <a:spcBef>
          <a:spcPts val="1000"/>
        </a:spcBef>
        <a:buFont typeface="Arial" panose="020B0704020202020204" pitchFamily="34" charset="0"/>
        <a:buNone/>
        <a:defRPr sz="2000" kern="1200">
          <a:solidFill>
            <a:srgbClr val="0E1120"/>
          </a:solidFill>
          <a:latin typeface="Arial" panose="020B0704020202020204" pitchFamily="34" charset="0"/>
          <a:ea typeface="+mn-ea"/>
          <a:cs typeface="+mn-cs"/>
        </a:defRPr>
      </a:lvl1pPr>
      <a:lvl2pPr marL="457200" indent="0" algn="l"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2pPr>
      <a:lvl3pPr marL="914400" indent="0" algn="l"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3pPr>
      <a:lvl4pPr marL="1371600" indent="0" algn="l" defTabSz="914400" rtl="0" eaLnBrk="1" latinLnBrk="0" hangingPunct="1">
        <a:lnSpc>
          <a:spcPct val="90000"/>
        </a:lnSpc>
        <a:spcBef>
          <a:spcPts val="500"/>
        </a:spcBef>
        <a:buFont typeface="Arial" panose="020B0704020202020204" pitchFamily="34" charset="0"/>
        <a:buNone/>
        <a:defRPr sz="1400" kern="1200">
          <a:solidFill>
            <a:srgbClr val="0E1120"/>
          </a:solidFill>
          <a:latin typeface="Arial" panose="020B0704020202020204" pitchFamily="34" charset="0"/>
          <a:ea typeface="+mn-ea"/>
          <a:cs typeface="+mn-cs"/>
        </a:defRPr>
      </a:lvl4pPr>
      <a:lvl5pPr marL="1828800" indent="0" algn="l" defTabSz="914400" rtl="0" eaLnBrk="1" latinLnBrk="0" hangingPunct="1">
        <a:lnSpc>
          <a:spcPct val="90000"/>
        </a:lnSpc>
        <a:spcBef>
          <a:spcPts val="500"/>
        </a:spcBef>
        <a:buFont typeface="Arial" panose="020B0704020202020204" pitchFamily="34" charset="0"/>
        <a:buNone/>
        <a:defRPr sz="1400" kern="1200">
          <a:solidFill>
            <a:srgbClr val="0E1120"/>
          </a:solidFill>
          <a:latin typeface="Arial" panose="020B0704020202020204" pitchFamily="34" charset="0"/>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8.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9.wdp"/><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hdphoto" Target="../media/image10.wdp"/><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8.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0.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1.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3.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4.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7.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8.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9.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1.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2.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3.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4.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5.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6.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7.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8.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9.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0.pn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1.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2.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3.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4.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5.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6.png"/></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7.png"/></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8.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9.png"/></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0.png"/></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1.png"/></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2.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3.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4.png"/></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5.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6.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8.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9.pn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0.png"/></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1.png"/></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2.png"/></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3.png"/></Relationships>
</file>

<file path=ppt/slides/_rels/slide6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4.png"/></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5.png"/></Relationships>
</file>

<file path=ppt/slides/_rels/slide6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6.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7.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8.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9.png"/></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0.png"/></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1.png"/></Relationships>
</file>

<file path=ppt/slides/_rels/slide6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2.png"/></Relationships>
</file>

<file path=ppt/slides/_rels/slide6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3.png"/></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4.png"/></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5.png"/></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6.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7.png"/></Relationships>
</file>

<file path=ppt/slides/_rels/slide7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8.png"/></Relationships>
</file>

<file path=ppt/slides/_rels/slide7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9.png"/></Relationships>
</file>

<file path=ppt/slides/_rels/slide7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0.png"/></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1.png"/></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2.png"/></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3.png"/></Relationships>
</file>

<file path=ppt/slides/_rels/slide8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4.png"/></Relationships>
</file>

<file path=ppt/slides/_rels/slide8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5.png"/></Relationships>
</file>

<file path=ppt/slides/_rels/slide8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6059020" y="3501931"/>
            <a:ext cx="5443870" cy="220035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dirty="0">
                <a:solidFill>
                  <a:schemeClr val="bg1">
                    <a:lumMod val="50000"/>
                  </a:schemeClr>
                </a:solidFill>
              </a:rPr>
              <a:t>02</a:t>
            </a:r>
            <a:r>
              <a:rPr lang="en-US" sz="3300" baseline="30000" dirty="0">
                <a:solidFill>
                  <a:schemeClr val="bg1">
                    <a:lumMod val="50000"/>
                  </a:schemeClr>
                </a:solidFill>
              </a:rPr>
              <a:t>nd</a:t>
            </a:r>
            <a:r>
              <a:rPr lang="en-US" sz="3300" dirty="0">
                <a:solidFill>
                  <a:schemeClr val="bg1">
                    <a:lumMod val="50000"/>
                  </a:schemeClr>
                </a:solidFill>
              </a:rPr>
              <a:t> February 2025</a:t>
            </a:r>
            <a:endParaRPr lang="en-US" sz="3300" dirty="0">
              <a:solidFill>
                <a:schemeClr val="bg1">
                  <a:lumMod val="50000"/>
                </a:schemeClr>
              </a:solidFill>
            </a:endParaRPr>
          </a:p>
          <a:p>
            <a:endParaRPr lang="en-US" sz="3300" dirty="0">
              <a:solidFill>
                <a:schemeClr val="bg1">
                  <a:lumMod val="50000"/>
                </a:schemeClr>
              </a:solidFill>
            </a:endParaRPr>
          </a:p>
          <a:p>
            <a:r>
              <a:rPr lang="en-US" sz="3300" dirty="0">
                <a:solidFill>
                  <a:schemeClr val="bg1">
                    <a:lumMod val="50000"/>
                  </a:schemeClr>
                </a:solidFill>
              </a:rPr>
              <a:t>Economic Data Releases &amp; Their Historical Impact on Assets</a:t>
            </a:r>
            <a:endParaRPr lang="en-US" sz="3300" dirty="0">
              <a:solidFill>
                <a:schemeClr val="bg1">
                  <a:lumMod val="50000"/>
                </a:schemeClr>
              </a:solidFill>
            </a:endParaRPr>
          </a:p>
        </p:txBody>
      </p:sp>
      <p:sp>
        <p:nvSpPr>
          <p:cNvPr id="18" name="Rectangle 17"/>
          <p:cNvSpPr/>
          <p:nvPr/>
        </p:nvSpPr>
        <p:spPr>
          <a:xfrm>
            <a:off x="1606230" y="5820770"/>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Brief</a:t>
            </a:r>
            <a:endParaRPr lang="en-US"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8" name="Table 7"/>
          <p:cNvGraphicFramePr>
            <a:graphicFrameLocks noGrp="1"/>
          </p:cNvGraphicFramePr>
          <p:nvPr/>
        </p:nvGraphicFramePr>
        <p:xfrm>
          <a:off x="439939" y="882757"/>
          <a:ext cx="11407299" cy="5810186"/>
        </p:xfrm>
        <a:graphic>
          <a:graphicData uri="http://schemas.openxmlformats.org/drawingml/2006/table">
            <a:tbl>
              <a:tblPr>
                <a:tableStyleId>{5C22544A-7EE6-4342-B048-85BDC9FD1C3A}</a:tableStyleId>
              </a:tblPr>
              <a:tblGrid>
                <a:gridCol w="1492493"/>
                <a:gridCol w="949772"/>
                <a:gridCol w="1283396"/>
                <a:gridCol w="927100"/>
                <a:gridCol w="723900"/>
                <a:gridCol w="6030638"/>
              </a:tblGrid>
              <a:tr h="276893">
                <a:tc>
                  <a:txBody>
                    <a:bodyPr/>
                    <a:lstStyle/>
                    <a:p>
                      <a:pPr algn="ctr" fontAlgn="ctr"/>
                      <a:r>
                        <a:rPr lang="en-US" sz="1050" b="1" i="0" u="none" strike="noStrike" dirty="0">
                          <a:solidFill>
                            <a:srgbClr val="002060"/>
                          </a:solidFill>
                          <a:effectLst/>
                          <a:latin typeface="Verdana" panose="020B0604030504040204" pitchFamily="34" charset="0"/>
                        </a:rPr>
                        <a:t>Date</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Day</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Time (IST)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Cur.</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Imp.</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Verdana" panose="020B0604030504040204" pitchFamily="34" charset="0"/>
                        </a:rPr>
                        <a:t>Event</a:t>
                      </a:r>
                      <a:endParaRPr lang="en-US" sz="1050" b="1" i="0" u="none" strike="noStrike" dirty="0">
                        <a:solidFill>
                          <a:srgbClr val="00206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03-Feb-25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All Day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MXN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Holiday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MXN -Mexico - Constitution Day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03-Feb-25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All Day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CNY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Holiday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CNY - China - Chinese New Year</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03-Feb-25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15:30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EUR</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EUR - CPI (YoY) (Jan) P</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03-Feb-25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20:15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Manufacturing PMI (Jan)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03-Feb-25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20:30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ISM Manufacturing PMI (Jan)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03-Feb-25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20:30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ISM Manufacturing Prices (Jan)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04-Feb-25</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 Tue </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20:30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USD - JOLTs Job Openings (Dec)</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05-Feb-25</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 Wed </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02:00</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USD</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3</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USD – Alphabet </a:t>
                      </a:r>
                      <a:r>
                        <a:rPr lang="en-US" sz="1000" b="0" i="0" u="none" strike="noStrike">
                          <a:solidFill>
                            <a:srgbClr val="000000"/>
                          </a:solidFill>
                          <a:effectLst/>
                          <a:latin typeface="Verdana" panose="020B0604030504040204" pitchFamily="34" charset="0"/>
                        </a:rPr>
                        <a:t>Earnings Release</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dirty="0">
                          <a:solidFill>
                            <a:srgbClr val="000000"/>
                          </a:solidFill>
                          <a:effectLst/>
                          <a:latin typeface="Verdana" panose="020B0604030504040204" pitchFamily="34" charset="0"/>
                        </a:rPr>
                        <a:t>05-Feb-25</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 Wed </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18:45</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USD</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3</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USD - ADP Nonfarm Employment Change (Jan)</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05-Feb-25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Wed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20:15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USD - Services PMI (Jan)</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05-Feb-25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Wed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20:30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Non-ISM Manufacturing PMI (Jan)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05-Feb-25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Wed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20:30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Non-ISM Manufacturing Prices (Jan)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05-Feb-25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Wed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21:00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Crude Oil Inventories</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06-Feb-25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Thur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All Day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Holiday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New Zealand - National Day</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06-Feb-25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Thur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17:30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 - BoE Interest Rate Decision (Feb)</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06-Feb-25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Thur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19:00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Initial Jobless Claims</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07-Feb-25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Fri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19:00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Average Hourly Earnings (MoM) (Jan)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07-Feb-25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Fri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19:00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Nonfarm Payrolls (Jan)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07-Feb-25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Fri </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19:00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 Unemployment Rate (Jan)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63707">
                <a:tc>
                  <a:txBody>
                    <a:bodyPr/>
                    <a:lstStyle/>
                    <a:p>
                      <a:pPr algn="ctr" fontAlgn="ctr"/>
                      <a:r>
                        <a:rPr lang="en-US" sz="1000" b="0" i="0" u="none" strike="noStrike">
                          <a:solidFill>
                            <a:srgbClr val="000000"/>
                          </a:solidFill>
                          <a:effectLst/>
                          <a:latin typeface="Verdana" panose="020B0604030504040204" pitchFamily="34" charset="0"/>
                        </a:rPr>
                        <a:t>20-Mar-25</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 </a:t>
                      </a: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0:30</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3</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Fed Interest Rate Decision</a:t>
                      </a:r>
                      <a:endParaRPr lang="en-US" sz="1000" b="0" i="0" u="none" strike="noStrike">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59153">
                <a:tc gridSpan="6">
                  <a:txBody>
                    <a:bodyPr/>
                    <a:lstStyle/>
                    <a:p>
                      <a:pPr lvl="0" algn="ctr" fontAlgn="ctr"/>
                      <a:r>
                        <a:rPr lang="en-US" sz="800" b="0" i="0" u="none" strike="noStrike" dirty="0">
                          <a:solidFill>
                            <a:srgbClr val="000000"/>
                          </a:solidFill>
                          <a:effectLst/>
                          <a:latin typeface="Verdana" panose="020B0604030504040204" pitchFamily="34" charset="0"/>
                        </a:rPr>
                        <a:t>Annexure: Key Terms &amp; Links</a:t>
                      </a:r>
                      <a:endParaRPr lang="en-US" sz="8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000201" y="3097740"/>
            <a:ext cx="4191799" cy="2387600"/>
          </a:xfrm>
        </p:spPr>
        <p:txBody>
          <a:bodyPr>
            <a:normAutofit fontScale="90000"/>
          </a:bodyPr>
          <a:lstStyle/>
          <a:p>
            <a:br>
              <a:rPr lang="en-US" sz="3300" dirty="0">
                <a:solidFill>
                  <a:schemeClr val="bg1">
                    <a:lumMod val="50000"/>
                  </a:schemeClr>
                </a:solidFill>
              </a:rPr>
            </a:br>
            <a:r>
              <a:rPr lang="en-US" sz="3300" dirty="0">
                <a:solidFill>
                  <a:schemeClr val="bg1">
                    <a:lumMod val="50000"/>
                  </a:schemeClr>
                </a:solidFill>
              </a:rPr>
              <a:t>Project Spider</a:t>
            </a:r>
            <a:br>
              <a:rPr lang="en-US" dirty="0">
                <a:solidFill>
                  <a:schemeClr val="bg1">
                    <a:lumMod val="50000"/>
                  </a:schemeClr>
                </a:solidFill>
              </a:rPr>
            </a:br>
            <a:br>
              <a:rPr lang="en-US" dirty="0">
                <a:solidFill>
                  <a:schemeClr val="bg1">
                    <a:lumMod val="50000"/>
                  </a:schemeClr>
                </a:solidFill>
              </a:rPr>
            </a:br>
            <a:r>
              <a:rPr lang="en-US" sz="1200" b="0" dirty="0">
                <a:solidFill>
                  <a:schemeClr val="bg1">
                    <a:lumMod val="50000"/>
                  </a:schemeClr>
                </a:solidFill>
              </a:rPr>
              <a:t>Accelerating the E</a:t>
            </a:r>
            <a:r>
              <a:rPr lang="en-US" sz="1200" b="0" dirty="0">
                <a:solidFill>
                  <a:schemeClr val="bg1">
                    <a:lumMod val="50000"/>
                  </a:schemeClr>
                </a:solidFill>
              </a:rPr>
              <a:t>n</a:t>
            </a:r>
            <a:r>
              <a:rPr lang="en-US" sz="1200" b="0" dirty="0">
                <a:solidFill>
                  <a:schemeClr val="bg1">
                    <a:lumMod val="50000"/>
                  </a:schemeClr>
                </a:solidFill>
              </a:rPr>
              <a:t>ergy Transition</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US" sz="1100" b="1" dirty="0">
                <a:solidFill>
                  <a:schemeClr val="bg1">
                    <a:lumMod val="50000"/>
                  </a:schemeClr>
                </a:solidFill>
              </a:rPr>
            </a:br>
            <a:endParaRPr lang="en-US" sz="1100" dirty="0">
              <a:solidFill>
                <a:schemeClr val="bg1">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endParaRPr lang="en-US" sz="1800" b="1" dirty="0">
              <a:solidFill>
                <a:schemeClr val="bg2"/>
              </a:solidFill>
            </a:endParaRPr>
          </a:p>
        </p:txBody>
      </p:sp>
      <p:sp>
        <p:nvSpPr>
          <p:cNvPr id="9" name="Rectangle 8"/>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line drawn on a white background&#10;&#10;Description automatically generated"/>
          <p:cNvPicPr>
            <a:picLocks noChangeAspect="1"/>
          </p:cNvPicPr>
          <p:nvPr/>
        </p:nvPicPr>
        <p:blipFill>
          <a:blip r:embed="rId1">
            <a:duotone>
              <a:schemeClr val="bg2">
                <a:shade val="45000"/>
                <a:satMod val="135000"/>
              </a:schemeClr>
              <a:prstClr val="white"/>
            </a:duotone>
            <a:extLst>
              <a:ext uri="{BEBA8EAE-BF5A-486C-A8C5-ECC9F3942E4B}">
                <a14:imgProps xmlns:a14="http://schemas.microsoft.com/office/drawing/2010/main">
                  <a14:imgLayer r:embed="rId2">
                    <a14:imgEffect>
                      <a14:sharpenSoften amount="-60000"/>
                    </a14:imgEffect>
                  </a14:imgLayer>
                </a14:imgProps>
              </a:ext>
            </a:extLst>
          </a:blip>
          <a:stretch>
            <a:fillRect/>
          </a:stretch>
        </p:blipFill>
        <p:spPr>
          <a:xfrm>
            <a:off x="0" y="-27641"/>
            <a:ext cx="12192000" cy="6902939"/>
          </a:xfrm>
          <a:prstGeom prst="rect">
            <a:avLst/>
          </a:prstGeom>
        </p:spPr>
      </p:pic>
      <p:sp>
        <p:nvSpPr>
          <p:cNvPr id="17" name="Title 1"/>
          <p:cNvSpPr txBox="1"/>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2000" b="1" dirty="0">
                <a:solidFill>
                  <a:srgbClr val="002060"/>
                </a:solidFill>
                <a:latin typeface="Century Gothic" panose="020B0702020202020204" pitchFamily="34" charset="0"/>
              </a:rPr>
              <a:t>EUR - CPI (YoY) (Jan) P</a:t>
            </a:r>
            <a:endParaRPr lang="en-US" sz="2000" b="1" dirty="0">
              <a:solidFill>
                <a:srgbClr val="002060"/>
              </a:solidFill>
              <a:latin typeface="Century Gothic" panose="020B0702020202020204" pitchFamily="34" charset="0"/>
            </a:endParaRPr>
          </a:p>
        </p:txBody>
      </p:sp>
      <p:sp>
        <p:nvSpPr>
          <p:cNvPr id="18" name="Rectangle 17"/>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702020202020204" pitchFamily="34" charset="0"/>
              </a:rPr>
              <a:t>EUR - CPI (YoY) (Jan) P</a:t>
            </a:r>
            <a:endParaRPr lang="en-US" sz="1800"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graphicFrame>
        <p:nvGraphicFramePr>
          <p:cNvPr id="15" name="Table 14"/>
          <p:cNvGraphicFramePr>
            <a:graphicFrameLocks noGrp="1"/>
          </p:cNvGraphicFramePr>
          <p:nvPr/>
        </p:nvGraphicFramePr>
        <p:xfrm>
          <a:off x="266699" y="889350"/>
          <a:ext cx="11658602" cy="5598000"/>
        </p:xfrm>
        <a:graphic>
          <a:graphicData uri="http://schemas.openxmlformats.org/drawingml/2006/table">
            <a:tbl>
              <a:tblPr/>
              <a:tblGrid>
                <a:gridCol w="1550788"/>
                <a:gridCol w="1765406"/>
                <a:gridCol w="1765406"/>
                <a:gridCol w="1765406"/>
                <a:gridCol w="4811596"/>
              </a:tblGrid>
              <a:tr h="466500">
                <a:tc>
                  <a:txBody>
                    <a:bodyPr/>
                    <a:lstStyle/>
                    <a:p>
                      <a:pPr algn="l" rtl="0" fontAlgn="ctr"/>
                      <a:r>
                        <a:rPr lang="en-US" sz="1800" b="1" i="0" u="none" strike="noStrike">
                          <a:solidFill>
                            <a:srgbClr val="000000"/>
                          </a:solidFill>
                          <a:effectLst/>
                          <a:latin typeface="Century Gothic" panose="020B0702020202020204" pitchFamily="34" charset="0"/>
                        </a:rPr>
                        <a:t>Event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702020202020204" pitchFamily="34" charset="0"/>
                        </a:rPr>
                        <a:t>EUR - CPI (YoY) (Jan) P</a:t>
                      </a:r>
                      <a:endParaRPr lang="en-US" sz="1800" b="1"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c hMerge="1">
                  <a:tcPr/>
                </a:tc>
                <a:tc hMerge="1">
                  <a:tcPr/>
                </a:tc>
                <a:tc>
                  <a:txBody>
                    <a:bodyPr/>
                    <a:lstStyle/>
                    <a:p>
                      <a:pPr algn="ctr" rtl="0" fontAlgn="ctr"/>
                      <a:r>
                        <a:rPr lang="en-US" sz="1800" b="1" i="0" u="none" strike="noStrike">
                          <a:solidFill>
                            <a:srgbClr val="000000"/>
                          </a:solidFill>
                          <a:effectLst/>
                          <a:latin typeface="Century Gothic" panose="020B0702020202020204" pitchFamily="34" charset="0"/>
                        </a:rPr>
                        <a:t>Description</a:t>
                      </a:r>
                      <a:endParaRPr lang="en-US" sz="1800" b="1" i="0" u="none" strike="noStrike">
                        <a:solidFill>
                          <a:srgbClr val="000000"/>
                        </a:solidFill>
                        <a:effectLst/>
                        <a:latin typeface="Century Gothic" panose="020B070202020202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9D9D9"/>
                    </a:solid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rowSpan="11">
                  <a:txBody>
                    <a:bodyPr/>
                    <a:lstStyle/>
                    <a:p>
                      <a:pPr algn="ctr" rtl="0" fontAlgn="ctr"/>
                      <a:r>
                        <a:rPr lang="en-US" sz="900" b="0" i="0" u="none" strike="noStrike" dirty="0">
                          <a:solidFill>
                            <a:srgbClr val="000000"/>
                          </a:solidFill>
                          <a:effectLst/>
                          <a:latin typeface="Century Gothic" panose="020B0702020202020204" pitchFamily="34" charset="0"/>
                        </a:rPr>
                        <a:t>European inflation rose from 2.2% in November to 2.4% in December, but this didn't stop the European Central Bank from continuing its interest rate cut cycle at its last meeting. </a:t>
                      </a:r>
                      <a:endParaRPr lang="en-US" sz="900" b="0" i="0" u="none" strike="noStrike" dirty="0">
                        <a:solidFill>
                          <a:srgbClr val="000000"/>
                        </a:solidFill>
                        <a:effectLst/>
                        <a:latin typeface="Century Gothic" panose="020B0702020202020204" pitchFamily="34" charset="0"/>
                      </a:endParaRPr>
                    </a:p>
                    <a:p>
                      <a:pPr algn="ctr" rtl="0" fontAlgn="ctr"/>
                      <a:endParaRPr lang="en-US" sz="900" b="0" i="0" u="none" strike="noStrike" dirty="0">
                        <a:solidFill>
                          <a:srgbClr val="000000"/>
                        </a:solidFill>
                        <a:effectLst/>
                        <a:latin typeface="Century Gothic" panose="020B0702020202020204" pitchFamily="34" charset="0"/>
                      </a:endParaRPr>
                    </a:p>
                    <a:p>
                      <a:pPr algn="ctr" rtl="0" fontAlgn="ctr"/>
                      <a:endParaRPr lang="en-US" sz="900" b="0" i="0" u="none" strike="noStrike" dirty="0">
                        <a:solidFill>
                          <a:srgbClr val="000000"/>
                        </a:solidFill>
                        <a:effectLst/>
                        <a:latin typeface="Century Gothic" panose="020B0702020202020204" pitchFamily="34" charset="0"/>
                      </a:endParaRPr>
                    </a:p>
                    <a:p>
                      <a:pPr algn="ctr" rtl="0" fontAlgn="ctr"/>
                      <a:endParaRPr lang="en-US" sz="900" b="0" i="0" u="none" strike="noStrike" dirty="0">
                        <a:solidFill>
                          <a:srgbClr val="000000"/>
                        </a:solidFill>
                        <a:effectLst/>
                        <a:latin typeface="Century Gothic" panose="020B0702020202020204" pitchFamily="34" charset="0"/>
                      </a:endParaRPr>
                    </a:p>
                    <a:p>
                      <a:pPr algn="ctr" rtl="0" fontAlgn="ctr"/>
                      <a:r>
                        <a:rPr lang="en-US" sz="900" b="0" i="0" u="none" strike="noStrike" dirty="0">
                          <a:solidFill>
                            <a:srgbClr val="000000"/>
                          </a:solidFill>
                          <a:effectLst/>
                          <a:latin typeface="Century Gothic" panose="020B0702020202020204" pitchFamily="34" charset="0"/>
                        </a:rPr>
                        <a:t>Bloomberg expects the ECB to cut rates again in March, but inflation nearing 3% could complicate further easing. Additionally, growing concerns about a potential trade war between the U.S. and Europe - sparked by President Trump's plans to impose tariffs on European goods - could prompt retaliatory measures from the EU. This escalation may drive inflation higher and hinder the ECB's ability to continue cutting rates, impacting negatively on European stock indices such as the DAX 40. </a:t>
                      </a:r>
                      <a:endParaRPr lang="en-US" sz="900" b="0" i="0" u="none" strike="noStrike" dirty="0">
                        <a:solidFill>
                          <a:srgbClr val="000000"/>
                        </a:solidFill>
                        <a:effectLst/>
                        <a:latin typeface="Century Gothic" panose="020B0702020202020204" pitchFamily="34" charset="0"/>
                      </a:endParaRPr>
                    </a:p>
                    <a:p>
                      <a:pPr algn="ctr" rtl="0" fontAlgn="ctr"/>
                      <a:endParaRPr lang="en-US" sz="900" b="0" i="0" u="none" strike="noStrike" dirty="0">
                        <a:solidFill>
                          <a:srgbClr val="000000"/>
                        </a:solidFill>
                        <a:effectLst/>
                        <a:latin typeface="Century Gothic" panose="020B0702020202020204" pitchFamily="34" charset="0"/>
                      </a:endParaRPr>
                    </a:p>
                    <a:p>
                      <a:pPr algn="ctr" rtl="0" fontAlgn="ctr"/>
                      <a:endParaRPr lang="en-US" sz="900" b="0" i="0" u="none" strike="noStrike" dirty="0">
                        <a:solidFill>
                          <a:srgbClr val="000000"/>
                        </a:solidFill>
                        <a:effectLst/>
                        <a:latin typeface="Century Gothic" panose="020B0702020202020204" pitchFamily="34" charset="0"/>
                      </a:endParaRPr>
                    </a:p>
                    <a:p>
                      <a:pPr algn="ctr" rtl="0" fontAlgn="ctr"/>
                      <a:endParaRPr lang="en-US" sz="900" b="0" i="0" u="none" strike="noStrike" dirty="0">
                        <a:solidFill>
                          <a:srgbClr val="000000"/>
                        </a:solidFill>
                        <a:effectLst/>
                        <a:latin typeface="Century Gothic" panose="020B0702020202020204" pitchFamily="34" charset="0"/>
                      </a:endParaRPr>
                    </a:p>
                    <a:p>
                      <a:pPr algn="ctr" rtl="0" fontAlgn="ctr"/>
                      <a:r>
                        <a:rPr lang="en-US" sz="900" b="0" i="0" u="none" strike="noStrike" dirty="0">
                          <a:solidFill>
                            <a:srgbClr val="000000"/>
                          </a:solidFill>
                          <a:effectLst/>
                          <a:latin typeface="Century Gothic" panose="020B0702020202020204" pitchFamily="34" charset="0"/>
                        </a:rPr>
                        <a:t>Learn More: EURJPY, EURUSD, DAX 40</a:t>
                      </a:r>
                      <a:endParaRPr lang="en-US" sz="900" b="0" i="0" u="none" strike="noStrike" dirty="0">
                        <a:solidFill>
                          <a:srgbClr val="000000"/>
                        </a:solidFill>
                        <a:effectLst/>
                        <a:latin typeface="Century Gothic" panose="020B0702020202020204" pitchFamily="3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r>
              <a:tr h="466500">
                <a:tc>
                  <a:txBody>
                    <a:bodyPr/>
                    <a:lstStyle/>
                    <a:p>
                      <a:pPr algn="l"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 </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Previous:</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2.40%</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Time (GMT):</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702020202020204" pitchFamily="34" charset="0"/>
                        </a:rPr>
                        <a:t>10:00</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cPr/>
                </a:tc>
                <a:tc hMerge="1">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Release Date</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Actual</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Forecast</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702020202020204" pitchFamily="34" charset="0"/>
                        </a:rPr>
                        <a:t>Previous</a:t>
                      </a:r>
                      <a:endParaRPr lang="en-US" sz="1800" b="1"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17-Jan-25</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2.40%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2.4% </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2.20%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07-Jan-25</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2.40%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2.4% </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2.20%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18-Dec-24</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2.20%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2.3% </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2.00%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29-Nov-24</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2.30%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2.3% </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2.00%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19-Nov-24</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2.00%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2.0% </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2.00%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r h="466500">
                <a:tc>
                  <a:txBody>
                    <a:bodyPr/>
                    <a:lstStyle/>
                    <a:p>
                      <a:pPr algn="l" rtl="0" fontAlgn="ctr"/>
                      <a:r>
                        <a:rPr lang="en-US" sz="1800" b="1" i="0" u="none" strike="noStrike">
                          <a:solidFill>
                            <a:srgbClr val="000000"/>
                          </a:solidFill>
                          <a:effectLst/>
                          <a:latin typeface="Century Gothic" panose="020B0702020202020204" pitchFamily="34" charset="0"/>
                        </a:rPr>
                        <a:t>31-Oct-24</a:t>
                      </a:r>
                      <a:endParaRPr lang="en-US" sz="1800" b="1" i="0" u="none" strike="noStrike">
                        <a:solidFill>
                          <a:srgbClr val="000000"/>
                        </a:solidFill>
                        <a:effectLst/>
                        <a:latin typeface="Century Gothic" panose="020B0702020202020204" pitchFamily="34" charset="0"/>
                      </a:endParaRPr>
                    </a:p>
                  </a:txBody>
                  <a:tcPr marL="5715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2.00%</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a:solidFill>
                            <a:srgbClr val="000000"/>
                          </a:solidFill>
                          <a:effectLst/>
                          <a:latin typeface="Century Gothic" panose="020B0702020202020204" pitchFamily="34" charset="0"/>
                        </a:rPr>
                        <a:t>1.9% </a:t>
                      </a:r>
                      <a:endParaRPr lang="en-US" sz="1800" b="0" i="0" u="none" strike="noStrike">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r" rtl="0" fontAlgn="ctr"/>
                      <a:r>
                        <a:rPr lang="en-US" sz="1800" b="0" i="0" u="none" strike="noStrike" dirty="0">
                          <a:solidFill>
                            <a:srgbClr val="000000"/>
                          </a:solidFill>
                          <a:effectLst/>
                          <a:latin typeface="Century Gothic" panose="020B0702020202020204" pitchFamily="34" charset="0"/>
                        </a:rPr>
                        <a:t>1.70%</a:t>
                      </a:r>
                      <a:endParaRPr lang="en-US" sz="1800" b="0" i="0" u="none" strike="noStrike" dirty="0">
                        <a:solidFill>
                          <a:srgbClr val="000000"/>
                        </a:solidFill>
                        <a:effectLst/>
                        <a:latin typeface="Century Gothic" panose="020B0702020202020204" pitchFamily="34" charset="0"/>
                      </a:endParaRPr>
                    </a:p>
                  </a:txBody>
                  <a:tcPr marL="0" marR="1143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00" i="1" dirty="0">
                <a:solidFill>
                  <a:srgbClr val="002060"/>
                </a:solidFill>
                <a:latin typeface="Century Gothic" panose="020B0702020202020204" pitchFamily="34" charset="0"/>
              </a:rPr>
              <a:t> </a:t>
            </a:r>
            <a:endParaRPr lang="en-US" sz="600" i="1" dirty="0">
              <a:solidFill>
                <a:srgbClr val="002060"/>
              </a:solidFill>
              <a:latin typeface="Century Gothic" panose="020B0702020202020204" pitchFamily="34" charset="0"/>
            </a:endParaRPr>
          </a:p>
        </p:txBody>
      </p:sp>
      <p:sp>
        <p:nvSpPr>
          <p:cNvPr id="5" name="Rectangle 4"/>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702020202020204" pitchFamily="34" charset="0"/>
              </a:rPr>
              <a:t>Important Information</a:t>
            </a:r>
            <a:endParaRPr lang="en-US" b="1" dirty="0">
              <a:solidFill>
                <a:srgbClr val="002060"/>
              </a:solidFill>
              <a:latin typeface="Century Gothic" panose="020B0702020202020204" pitchFamily="34" charset="0"/>
            </a:endParaRPr>
          </a:p>
        </p:txBody>
      </p:sp>
      <p:sp>
        <p:nvSpPr>
          <p:cNvPr id="7" name="Rectangle 3"/>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br>
              <a:rPr kumimoji="0" lang="en-US" altLang="en-US" sz="1800" b="0" i="0" u="none" strike="noStrike" cap="none" normalizeH="0" baseline="0">
                <a:ln>
                  <a:noFill/>
                </a:ln>
                <a:solidFill>
                  <a:schemeClr val="tx1"/>
                </a:solidFill>
                <a:effectLst/>
                <a:latin typeface="Arial" panose="020B0704020202020204" pitchFamily="34" charset="0"/>
              </a:rPr>
            </a:br>
            <a:br>
              <a:rPr kumimoji="0" lang="en-US" altLang="en-US" sz="1800" b="0" i="0" u="none" strike="noStrike" cap="none" normalizeH="0" baseline="0">
                <a:ln>
                  <a:noFill/>
                </a:ln>
                <a:solidFill>
                  <a:schemeClr val="tx1"/>
                </a:solidFill>
                <a:effectLst/>
                <a:latin typeface="Arial" panose="020B0704020202020204" pitchFamily="34" charset="0"/>
              </a:rPr>
            </a:br>
            <a:endParaRPr kumimoji="0" lang="en-US" altLang="en-US" sz="1800" b="0" i="0" u="none" strike="noStrike" cap="none" normalizeH="0" baseline="0">
              <a:ln>
                <a:noFill/>
              </a:ln>
              <a:solidFill>
                <a:schemeClr val="tx1"/>
              </a:solidFill>
              <a:effectLst/>
              <a:latin typeface="Arial" panose="020B0704020202020204" pitchFamily="34" charset="0"/>
            </a:endParaRPr>
          </a:p>
        </p:txBody>
      </p:sp>
      <p:sp>
        <p:nvSpPr>
          <p:cNvPr id="2" name="TextBox 1"/>
          <p:cNvSpPr txBox="1"/>
          <p:nvPr/>
        </p:nvSpPr>
        <p:spPr>
          <a:xfrm>
            <a:off x="738730" y="1563002"/>
            <a:ext cx="10206773" cy="2585323"/>
          </a:xfrm>
          <a:prstGeom prst="rect">
            <a:avLst/>
          </a:prstGeom>
          <a:noFill/>
        </p:spPr>
        <p:txBody>
          <a:bodyPr wrap="square">
            <a:spAutoFit/>
          </a:bodyPr>
          <a:lstStyle/>
          <a:p>
            <a:pPr algn="just"/>
            <a:endParaRPr lang="en-US" sz="900" dirty="0">
              <a:latin typeface="Century Gothic" panose="020B0702020202020204" pitchFamily="34" charset="0"/>
            </a:endParaRPr>
          </a:p>
          <a:p>
            <a:pPr algn="just"/>
            <a:r>
              <a:rPr lang="en-US" sz="900" b="1" dirty="0">
                <a:latin typeface="Century Gothic" panose="020B0702020202020204" pitchFamily="34" charset="0"/>
              </a:rPr>
              <a:t>Quantwater Tech Investments</a:t>
            </a:r>
            <a:endParaRPr lang="en-US" sz="900" b="1" dirty="0">
              <a:latin typeface="Century Gothic" panose="020B0702020202020204" pitchFamily="34" charset="0"/>
            </a:endParaRPr>
          </a:p>
          <a:p>
            <a:pPr algn="just"/>
            <a:r>
              <a:rPr lang="en-US" sz="900" b="1" dirty="0">
                <a:latin typeface="Century Gothic" panose="020B0702020202020204" pitchFamily="34" charset="0"/>
              </a:rPr>
              <a:t>Data Release Deck – 05th November 2024</a:t>
            </a:r>
            <a:endParaRPr lang="en-US" sz="900" b="1" dirty="0">
              <a:latin typeface="Century Gothic" panose="020B0702020202020204" pitchFamily="34" charset="0"/>
            </a:endParaRPr>
          </a:p>
          <a:p>
            <a:pPr algn="just"/>
            <a:endParaRPr lang="en-US" sz="900" dirty="0">
              <a:latin typeface="Century Gothic" panose="020B0702020202020204" pitchFamily="34" charset="0"/>
            </a:endParaRPr>
          </a:p>
          <a:p>
            <a:pPr algn="just"/>
            <a:r>
              <a:rPr lang="en-US" sz="900" dirty="0">
                <a:latin typeface="Century Gothic" panose="020B0702020202020204" pitchFamily="34" charset="0"/>
              </a:rPr>
              <a:t>This document is for informational purposes only and does not constitute investment advice, an offer, or a solicitation to buy or sell any securities or financial instruments.</a:t>
            </a:r>
            <a:endParaRPr lang="en-US" sz="900" dirty="0">
              <a:latin typeface="Century Gothic" panose="020B0702020202020204" pitchFamily="34" charset="0"/>
            </a:endParaRPr>
          </a:p>
          <a:p>
            <a:pPr algn="just"/>
            <a:br>
              <a:rPr lang="en-US" sz="900" dirty="0">
                <a:latin typeface="Century Gothic" panose="020B0702020202020204" pitchFamily="34" charset="0"/>
              </a:rPr>
            </a:br>
            <a:endParaRPr lang="en-US" sz="900" dirty="0">
              <a:latin typeface="Century Gothic" panose="020B0702020202020204" pitchFamily="34" charset="0"/>
            </a:endParaRPr>
          </a:p>
          <a:p>
            <a:pPr algn="just"/>
            <a:r>
              <a:rPr lang="en-US" sz="900" dirty="0">
                <a:latin typeface="Century Gothic" panose="020B0702020202020204" pitchFamily="34" charset="0"/>
              </a:rPr>
              <a:t>Past performance is not indicative of future results. Investments involve inherent risks, including the possible loss of principal. No representation or warranty, express or implied, is made regarding the accuracy, completeness, or reliability of the information contained herein.</a:t>
            </a:r>
            <a:endParaRPr lang="en-US" sz="900" dirty="0">
              <a:latin typeface="Century Gothic" panose="020B0702020202020204" pitchFamily="34" charset="0"/>
            </a:endParaRPr>
          </a:p>
          <a:p>
            <a:pPr algn="just"/>
            <a:br>
              <a:rPr lang="en-US" sz="900" dirty="0">
                <a:latin typeface="Century Gothic" panose="020B0702020202020204" pitchFamily="34" charset="0"/>
              </a:rPr>
            </a:br>
            <a:endParaRPr lang="en-US" sz="900" dirty="0">
              <a:latin typeface="Century Gothic" panose="020B0702020202020204" pitchFamily="34" charset="0"/>
            </a:endParaRPr>
          </a:p>
          <a:p>
            <a:pPr algn="just"/>
            <a:r>
              <a:rPr lang="en-US" sz="900" dirty="0">
                <a:latin typeface="Century Gothic" panose="020B0702020202020204" pitchFamily="34" charset="0"/>
              </a:rPr>
              <a:t>The information in this presentation is derived from publicly available sources and internal analysis as of the date indicated and is subject to change without notice. Quantwater Tech Investments and its affiliates do not undertake any obligation to update or revise this material.</a:t>
            </a:r>
            <a:endParaRPr lang="en-US" sz="900" dirty="0">
              <a:latin typeface="Century Gothic" panose="020B0702020202020204" pitchFamily="34" charset="0"/>
            </a:endParaRPr>
          </a:p>
          <a:p>
            <a:pPr algn="just"/>
            <a:br>
              <a:rPr lang="en-US" sz="900" dirty="0">
                <a:latin typeface="Century Gothic" panose="020B0702020202020204" pitchFamily="34" charset="0"/>
              </a:rPr>
            </a:br>
            <a:endParaRPr lang="en-US" sz="900" dirty="0">
              <a:latin typeface="Century Gothic" panose="020B0702020202020204" pitchFamily="34" charset="0"/>
            </a:endParaRPr>
          </a:p>
          <a:p>
            <a:pPr algn="just"/>
            <a:r>
              <a:rPr lang="en-US" sz="900" dirty="0">
                <a:latin typeface="Century Gothic" panose="020B0702020202020204" pitchFamily="34" charset="0"/>
              </a:rPr>
              <a:t>Neither Quantwater Tech Investments nor any of its affiliates, officers, or employees shall be liable for any direct or indirect losses arising from the use of this information. Any misrepresentation is strictly prohibited.</a:t>
            </a:r>
            <a:endParaRPr lang="en-US" sz="900" dirty="0">
              <a:latin typeface="Century Gothic" panose="020B0702020202020204" pitchFamily="34" charset="0"/>
            </a:endParaRPr>
          </a:p>
          <a:p>
            <a:pPr algn="just"/>
            <a:endParaRPr lang="en-US" sz="900" dirty="0">
              <a:latin typeface="Century Gothic" panose="020B0702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48606" y="376150"/>
            <a:ext cx="5877454" cy="1765801"/>
          </a:xfrm>
        </p:spPr>
        <p:txBody>
          <a:bodyPr>
            <a:normAutofit/>
          </a:bodyPr>
          <a:lstStyle/>
          <a:p>
            <a:r>
              <a:rPr lang="en-US" dirty="0">
                <a:solidFill>
                  <a:schemeClr val="accent5">
                    <a:lumMod val="50000"/>
                  </a:schemeClr>
                </a:solidFill>
              </a:rPr>
              <a:t>Thank You!</a:t>
            </a:r>
            <a:endParaRPr lang="en-US" sz="1100" dirty="0">
              <a:solidFill>
                <a:schemeClr val="accent5">
                  <a:lumMod val="50000"/>
                </a:schemeClr>
              </a:solidFill>
            </a:endParaRPr>
          </a:p>
        </p:txBody>
      </p:sp>
      <p:sp>
        <p:nvSpPr>
          <p:cNvPr id="5" name="Subtitle 2"/>
          <p:cNvSpPr txBox="1"/>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704020202020204" pitchFamily="34" charset="0"/>
              <a:buNone/>
              <a:defRPr sz="2000" kern="1200">
                <a:solidFill>
                  <a:schemeClr val="bg1"/>
                </a:solidFill>
                <a:latin typeface="Arial" panose="020B0704020202020204" pitchFamily="34" charset="0"/>
                <a:ea typeface="+mn-ea"/>
                <a:cs typeface="+mn-cs"/>
              </a:defRPr>
            </a:lvl1pPr>
            <a:lvl2pPr marL="457200" indent="0" algn="ctr" defTabSz="914400" rtl="0" eaLnBrk="1" latinLnBrk="0" hangingPunct="1">
              <a:lnSpc>
                <a:spcPct val="90000"/>
              </a:lnSpc>
              <a:spcBef>
                <a:spcPts val="500"/>
              </a:spcBef>
              <a:buFont typeface="Arial" panose="020B0704020202020204" pitchFamily="34" charset="0"/>
              <a:buNone/>
              <a:defRPr sz="2000" kern="1200">
                <a:solidFill>
                  <a:srgbClr val="0E1120"/>
                </a:solidFill>
                <a:latin typeface="Arial" panose="020B0704020202020204" pitchFamily="34" charset="0"/>
                <a:ea typeface="+mn-ea"/>
                <a:cs typeface="+mn-cs"/>
              </a:defRPr>
            </a:lvl2pPr>
            <a:lvl3pPr marL="914400" indent="0" algn="ctr" defTabSz="914400" rtl="0" eaLnBrk="1" latinLnBrk="0" hangingPunct="1">
              <a:lnSpc>
                <a:spcPct val="90000"/>
              </a:lnSpc>
              <a:spcBef>
                <a:spcPts val="500"/>
              </a:spcBef>
              <a:buFont typeface="Arial" panose="020B0704020202020204" pitchFamily="34" charset="0"/>
              <a:buNone/>
              <a:defRPr sz="1800" kern="1200">
                <a:solidFill>
                  <a:srgbClr val="0E1120"/>
                </a:solidFill>
                <a:latin typeface="Arial" panose="020B0704020202020204" pitchFamily="34" charset="0"/>
                <a:ea typeface="+mn-ea"/>
                <a:cs typeface="+mn-cs"/>
              </a:defRPr>
            </a:lvl3pPr>
            <a:lvl4pPr marL="13716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4pPr>
            <a:lvl5pPr marL="1828800" indent="0" algn="ctr" defTabSz="914400" rtl="0" eaLnBrk="1" latinLnBrk="0" hangingPunct="1">
              <a:lnSpc>
                <a:spcPct val="90000"/>
              </a:lnSpc>
              <a:spcBef>
                <a:spcPts val="500"/>
              </a:spcBef>
              <a:buFont typeface="Arial" panose="020B0704020202020204" pitchFamily="34" charset="0"/>
              <a:buNone/>
              <a:defRPr sz="1600" kern="1200">
                <a:solidFill>
                  <a:srgbClr val="0E1120"/>
                </a:solidFill>
                <a:latin typeface="Arial" panose="020B0704020202020204" pitchFamily="34" charset="0"/>
                <a:ea typeface="+mn-ea"/>
                <a:cs typeface="+mn-cs"/>
              </a:defRPr>
            </a:lvl5pPr>
            <a:lvl6pPr marL="22860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7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704020202020204" pitchFamily="34" charset="0"/>
              <a:buNone/>
              <a:defRPr/>
            </a:pPr>
            <a:endParaRPr kumimoji="0" lang="en-US" sz="1800" b="1" i="0" u="none" strike="noStrike" kern="1200" cap="none" spc="0" normalizeH="0" baseline="0" noProof="0" dirty="0">
              <a:ln>
                <a:noFill/>
              </a:ln>
              <a:solidFill>
                <a:srgbClr val="111121"/>
              </a:solidFill>
              <a:effectLst/>
              <a:uLnTx/>
              <a:uFillTx/>
              <a:latin typeface="Arial" panose="020B0704020202020204" pitchFamily="34" charset="0"/>
              <a:ea typeface="+mn-ea"/>
              <a:cs typeface="Arial" panose="020B0704020202020204"/>
            </a:endParaRPr>
          </a:p>
        </p:txBody>
      </p:sp>
      <p:sp>
        <p:nvSpPr>
          <p:cNvPr id="9" name="Rectangle 8"/>
          <p:cNvSpPr/>
          <p:nvPr/>
        </p:nvSpPr>
        <p:spPr>
          <a:xfrm>
            <a:off x="1452282" y="6002963"/>
            <a:ext cx="8785412" cy="588337"/>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srgbClr val="FFFFFF"/>
              </a:solidFill>
              <a:effectLst/>
              <a:uLnTx/>
              <a:uFillTx/>
              <a:latin typeface="Arial" panose="020B0704020202020204"/>
              <a:ea typeface="+mn-ea"/>
              <a:cs typeface="Arial" panose="020B0704020202020204"/>
            </a:endParaRPr>
          </a:p>
        </p:txBody>
      </p:sp>
      <p:pic>
        <p:nvPicPr>
          <p:cNvPr id="7" name="Picture 6" descr="A line drawn on a white background&#10;&#10;Description automatically generated"/>
          <p:cNvPicPr>
            <a:picLocks noChangeAspect="1"/>
          </p:cNvPicPr>
          <p:nvPr/>
        </p:nvPicPr>
        <p:blipFill>
          <a:blip r:embed="rId1">
            <a:extLst>
              <a:ext uri="{BEBA8EAE-BF5A-486C-A8C5-ECC9F3942E4B}">
                <a14:imgProps xmlns:a14="http://schemas.microsoft.com/office/drawing/2010/main">
                  <a14:imgLayer r:embed="rId2">
                    <a14:imgEffect>
                      <a14:sharpenSoften amount="-60000"/>
                    </a14:imgEffect>
                  </a14:imgLayer>
                </a14:imgProps>
              </a:ext>
            </a:extLst>
          </a:blip>
          <a:srcRect b="15261"/>
          <a:stretch>
            <a:fillRect/>
          </a:stretch>
        </p:blipFill>
        <p:spPr>
          <a:xfrm>
            <a:off x="0" y="-24903"/>
            <a:ext cx="12192000" cy="5849438"/>
          </a:xfrm>
          <a:prstGeom prst="rect">
            <a:avLst/>
          </a:prstGeom>
        </p:spPr>
      </p:pic>
      <p:sp>
        <p:nvSpPr>
          <p:cNvPr id="10" name="Title 1"/>
          <p:cNvSpPr txBox="1"/>
          <p:nvPr/>
        </p:nvSpPr>
        <p:spPr>
          <a:xfrm>
            <a:off x="648606" y="376151"/>
            <a:ext cx="6046662" cy="18121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3300" dirty="0">
                <a:solidFill>
                  <a:schemeClr val="accent3"/>
                </a:solidFill>
              </a:rPr>
              <a:t>Thank You!</a:t>
            </a:r>
            <a:endParaRPr lang="en-US" sz="3300" dirty="0">
              <a:solidFill>
                <a:schemeClr val="accent3"/>
              </a:solidFill>
            </a:endParaRPr>
          </a:p>
        </p:txBody>
      </p:sp>
      <p:sp>
        <p:nvSpPr>
          <p:cNvPr id="4" name="Title 1"/>
          <p:cNvSpPr txBox="1"/>
          <p:nvPr/>
        </p:nvSpPr>
        <p:spPr>
          <a:xfrm>
            <a:off x="1654446" y="6340302"/>
            <a:ext cx="8583248" cy="512781"/>
          </a:xfrm>
          <a:prstGeom prst="rect">
            <a:avLst/>
          </a:prstGeom>
          <a:solidFill>
            <a:schemeClr val="bg1"/>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pPr algn="ctr"/>
            <a:r>
              <a:rPr lang="en-US" sz="3300" dirty="0">
                <a:solidFill>
                  <a:schemeClr val="accent5"/>
                </a:solidFill>
              </a:rPr>
              <a:t>Quantwater Tech Investments</a:t>
            </a:r>
            <a:endParaRPr lang="en-US" sz="3300" dirty="0">
              <a:solidFill>
                <a:schemeClr val="accent5"/>
              </a:solidFill>
            </a:endParaRPr>
          </a:p>
        </p:txBody>
      </p:sp>
      <p:sp>
        <p:nvSpPr>
          <p:cNvPr id="3" name="Title 1"/>
          <p:cNvSpPr txBox="1"/>
          <p:nvPr/>
        </p:nvSpPr>
        <p:spPr>
          <a:xfrm>
            <a:off x="731838" y="5575874"/>
            <a:ext cx="1653553" cy="666778"/>
          </a:xfrm>
          <a:prstGeom prst="rect">
            <a:avLst/>
          </a:prstGeom>
          <a:solidFill>
            <a:schemeClr val="bg1">
              <a:lumMod val="95000"/>
            </a:schemeClr>
          </a:solidFill>
          <a:effectLst>
            <a:outerShdw blurRad="50800" dist="38100" dir="2700000" algn="tl" rotWithShape="0">
              <a:prstClr val="black">
                <a:alpha val="40000"/>
              </a:prstClr>
            </a:outerShdw>
          </a:effectLst>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2800" b="1" kern="1200">
                <a:solidFill>
                  <a:schemeClr val="bg1"/>
                </a:solidFill>
                <a:latin typeface="Arial" panose="020B0704020202020204" pitchFamily="34" charset="0"/>
                <a:ea typeface="+mj-ea"/>
                <a:cs typeface="Arial" panose="020B0704020202020204" pitchFamily="34" charset="0"/>
              </a:defRPr>
            </a:lvl1pPr>
          </a:lstStyle>
          <a:p>
            <a:r>
              <a:rPr lang="en-US" sz="1500" dirty="0">
                <a:solidFill>
                  <a:schemeClr val="bg1">
                    <a:lumMod val="50000"/>
                  </a:schemeClr>
                </a:solidFill>
              </a:rPr>
              <a:t>Pawan Jatale</a:t>
            </a:r>
            <a:endParaRPr lang="en-US" sz="1500" dirty="0">
              <a:solidFill>
                <a:schemeClr val="bg1">
                  <a:lumMod val="50000"/>
                </a:schemeClr>
              </a:solidFill>
            </a:endParaRPr>
          </a:p>
          <a:p>
            <a:endParaRPr lang="en-US" sz="1500" dirty="0">
              <a:solidFill>
                <a:schemeClr val="bg1">
                  <a:lumMod val="50000"/>
                </a:schemeClr>
              </a:solidFill>
            </a:endParaRPr>
          </a:p>
          <a:p>
            <a:r>
              <a:rPr lang="en-US" sz="1500" dirty="0">
                <a:solidFill>
                  <a:schemeClr val="bg1">
                    <a:lumMod val="50000"/>
                  </a:schemeClr>
                </a:solidFill>
              </a:rPr>
              <a:t>pawan@quantwater.tech</a:t>
            </a:r>
            <a:endParaRPr lang="en-US" sz="1500" dirty="0">
              <a:solidFill>
                <a:schemeClr val="bg1">
                  <a:lumMod val="50000"/>
                </a:schemeClr>
              </a:solidFill>
            </a:endParaRPr>
          </a:p>
          <a:p>
            <a:endParaRPr lang="en-US" sz="1500" dirty="0">
              <a:solidFill>
                <a:schemeClr val="bg1">
                  <a:lumMod val="50000"/>
                </a:schemeClr>
              </a:solidFill>
            </a:endParaRPr>
          </a:p>
          <a:p>
            <a:r>
              <a:rPr lang="en-US" sz="1500" dirty="0">
                <a:solidFill>
                  <a:schemeClr val="bg1">
                    <a:lumMod val="50000"/>
                  </a:schemeClr>
                </a:solidFill>
              </a:rPr>
              <a:t>Founder</a:t>
            </a:r>
            <a:endParaRPr lang="en-US" sz="1500" dirty="0">
              <a:solidFill>
                <a:schemeClr val="bg1">
                  <a:lumMod val="5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23_134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218_03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401_03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520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708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812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JPY_20250930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430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4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2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30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4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1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5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6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7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8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09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USDJPY_20251024_134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206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320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508_1102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619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807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JPY_20250918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23_134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2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1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218_03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401_03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520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708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812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AUDUSD_20250930_043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430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4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2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30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4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1_121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5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6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7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805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0904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03_14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EURUSD_20251024_1345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206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320_12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508_1102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619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807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pic>
        <p:nvPicPr>
          <p:cNvPr id="4" name="Picture 3" descr="GBPUSD_20250918_110000.png"/>
          <p:cNvPicPr>
            <a:picLocks noChangeAspect="1"/>
          </p:cNvPicPr>
          <p:nvPr/>
        </p:nvPicPr>
        <p:blipFill>
          <a:blip r:embed="rId1"/>
          <a:stretch>
            <a:fillRect/>
          </a:stretch>
        </p:blipFill>
        <p:spPr>
          <a:xfrm>
            <a:off x="0" y="0"/>
            <a:ext cx="11049000" cy="6858000"/>
          </a:xfrm>
          <a:prstGeom prst="rect">
            <a:avLst/>
          </a:prstGeom>
        </p:spPr>
      </p:pic>
    </p:spTree>
  </p:cSld>
  <p:clrMapOvr>
    <a:masterClrMapping/>
  </p:clrMapOvr>
</p:sld>
</file>

<file path=ppt/theme/theme1.xml><?xml version="1.0" encoding="utf-8"?>
<a:theme xmlns:a="http://schemas.openxmlformats.org/drawingml/2006/main" name="TAQA Templat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0">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10821</Words>
  <Application>WPS Sheets</Application>
  <PresentationFormat>Widescreen</PresentationFormat>
  <Paragraphs>524</Paragraphs>
  <Slides>82</Slides>
  <Notes>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82</vt:i4>
      </vt:variant>
    </vt:vector>
  </HeadingPairs>
  <TitlesOfParts>
    <vt:vector size="94" baseType="lpstr">
      <vt:lpstr>Arial</vt:lpstr>
      <vt:lpstr>SimSun</vt:lpstr>
      <vt:lpstr>Wingdings</vt:lpstr>
      <vt:lpstr>Century Gothic</vt:lpstr>
      <vt:lpstr>Verdana</vt:lpstr>
      <vt:lpstr>Arial</vt:lpstr>
      <vt:lpstr>Microsoft YaHei</vt:lpstr>
      <vt:lpstr>汉仪旗黑</vt:lpstr>
      <vt:lpstr>Arial Unicode MS</vt:lpstr>
      <vt:lpstr>Aptos</vt:lpstr>
      <vt:lpstr>Helvetica Neue</vt:lpstr>
      <vt:lpstr>TAQA Template</vt:lpstr>
      <vt:lpstr> Project Spider  Accelerating the Energy Transition  4thMar 2024  Pawan Quantwater Tech Investments  </vt:lpstr>
      <vt:lpstr>PowerPoint 演示文稿</vt:lpstr>
      <vt:lpstr> Project Spider  Accelerating the Energy Transition  4thMar 2024  Pawan Quantwater Tech Investments  </vt:lpstr>
      <vt:lpstr>PowerPoint 演示文稿</vt:lpstr>
      <vt:lpstr>PowerPoint 演示文稿</vt:lpstr>
      <vt:lpstr>Thank You!</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Pawan J</dc:creator>
  <cp:lastModifiedBy>pawan</cp:lastModifiedBy>
  <cp:revision>21</cp:revision>
  <dcterms:created xsi:type="dcterms:W3CDTF">2025-10-30T15:06:27Z</dcterms:created>
  <dcterms:modified xsi:type="dcterms:W3CDTF">2025-10-30T15:06:27Z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FA766F850FD2FE2CF27E036913F05596_43</vt:lpwstr>
  </property>
  <property fmtid="{D5CDD505-2E9C-101B-9397-08002B2CF9AE}" pid="3" name="KSOProductBuildVer">
    <vt:lpwstr>1033-12.1.23143.23143</vt:lpwstr>
  </property>
</Properties>
</file>