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103832" r:id="rId3"/>
  </p:sldIdLst>
  <p:sldSz cx="12192000" cy="6858000"/>
  <p:notesSz cx="6858000" cy="9144000"/>
  <p:embeddedFontLst>
    <p:embeddedFont>
      <p:font typeface="Century Gothic" panose="020B0702020202020204" pitchFamily="34" charset="0"/>
      <p:regular r:id="rId9"/>
    </p:embeddedFont>
    <p:embeddedFont>
      <p:font typeface="Century Gothic" panose="020B070202020202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" userDrawn="1">
          <p15:clr>
            <a:srgbClr val="A4A3A4"/>
          </p15:clr>
        </p15:guide>
        <p15:guide id="2" pos="1300" userDrawn="1">
          <p15:clr>
            <a:srgbClr val="A4A3A4"/>
          </p15:clr>
        </p15:guide>
        <p15:guide id="3" orient="horz" pos="560" userDrawn="1">
          <p15:clr>
            <a:srgbClr val="A4A3A4"/>
          </p15:clr>
        </p15:guide>
        <p15:guide id="4" pos="7512" userDrawn="1">
          <p15:clr>
            <a:srgbClr val="A4A3A4"/>
          </p15:clr>
        </p15:guide>
        <p15:guide id="5" pos="2343" userDrawn="1">
          <p15:clr>
            <a:srgbClr val="A4A3A4"/>
          </p15:clr>
        </p15:guide>
        <p15:guide id="6" pos="3443" userDrawn="1">
          <p15:clr>
            <a:srgbClr val="A4A3A4"/>
          </p15:clr>
        </p15:guide>
        <p15:guide id="7" pos="2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9"/>
    <p:restoredTop sz="94682"/>
  </p:normalViewPr>
  <p:slideViewPr>
    <p:cSldViewPr showGuides="1">
      <p:cViewPr>
        <p:scale>
          <a:sx n="90" d="100"/>
          <a:sy n="90" d="100"/>
        </p:scale>
        <p:origin x="-32" y="816"/>
      </p:cViewPr>
      <p:guideLst>
        <p:guide orient="horz" pos="436"/>
        <p:guide pos="1300"/>
        <p:guide orient="horz" pos="560"/>
        <p:guide pos="7512"/>
        <p:guide pos="2343"/>
        <p:guide pos="3443"/>
        <p:guide pos="2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06E5E-8587-7944-A611-EE9F859B850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3D73E-6582-8C42-9592-FC2CEFA619E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5B7C-AFC1-574C-80B2-E15C5CF966D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image5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image6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image7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 0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53066" y="1550090"/>
            <a:ext cx="7746332" cy="2387600"/>
          </a:xfrm>
        </p:spPr>
        <p:txBody>
          <a:bodyPr anchor="ctr"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353066" y="4029765"/>
            <a:ext cx="7746332" cy="96745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" name="Picture 1" descr="A line drawn on a white background&#10;&#10;Description automatically generated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2470"/>
            <a:ext cx="12192000" cy="6902939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604682" y="6017577"/>
            <a:ext cx="8785412" cy="666778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 txBox="1"/>
          <p:nvPr userDrawn="1"/>
        </p:nvSpPr>
        <p:spPr>
          <a:xfrm>
            <a:off x="801006" y="528550"/>
            <a:ext cx="3622769" cy="176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endParaRPr lang="en-US" sz="11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itle 1"/>
          <p:cNvSpPr txBox="1"/>
          <p:nvPr userDrawn="1"/>
        </p:nvSpPr>
        <p:spPr>
          <a:xfrm>
            <a:off x="266700" y="875170"/>
            <a:ext cx="6062980" cy="686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itle 1"/>
          <p:cNvSpPr txBox="1"/>
          <p:nvPr userDrawn="1"/>
        </p:nvSpPr>
        <p:spPr>
          <a:xfrm>
            <a:off x="6059020" y="3501931"/>
            <a:ext cx="5443870" cy="2200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r>
              <a:rPr lang="en-US" sz="3300" dirty="0">
                <a:solidFill>
                  <a:schemeClr val="bg1">
                    <a:lumMod val="50000"/>
                  </a:schemeClr>
                </a:solidFill>
              </a:rPr>
              <a:t>[Date]</a:t>
            </a:r>
            <a:endParaRPr lang="en-US" sz="330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33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3300" dirty="0">
                <a:solidFill>
                  <a:schemeClr val="bg1">
                    <a:lumMod val="50000"/>
                  </a:schemeClr>
                </a:solidFill>
              </a:rPr>
              <a:t>Economic Data Releases &amp; Their Historical Impact on Assets</a:t>
            </a:r>
            <a:endParaRPr lang="en-US" sz="33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 rot="5400000">
            <a:off x="11014010" y="1241867"/>
            <a:ext cx="20569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4">
                    <a:lumMod val="75000"/>
                  </a:schemeClr>
                </a:solidFill>
                <a:latin typeface="Century Gothic" panose="020B0702020202020204" pitchFamily="34" charset="0"/>
              </a:rPr>
              <a:t>Quantwater Tech Investments </a:t>
            </a:r>
            <a:endParaRPr lang="en-US" sz="900" dirty="0">
              <a:solidFill>
                <a:schemeClr val="accent4">
                  <a:lumMod val="75000"/>
                </a:schemeClr>
              </a:solidFill>
              <a:latin typeface="Century Gothic" panose="020B0702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raphic 6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031" y="356848"/>
            <a:ext cx="1499507" cy="36195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439940" y="428750"/>
            <a:ext cx="11407299" cy="366084"/>
          </a:xfrm>
          <a:prstGeom prst="rect">
            <a:avLst/>
          </a:prstGeom>
          <a:solidFill>
            <a:schemeClr val="accent2"/>
          </a:solidFill>
          <a:scene3d>
            <a:camera prst="orthographicFront"/>
            <a:lightRig rig="threePt" dir="t"/>
          </a:scene3d>
          <a:sp3d>
            <a:contourClr>
              <a:srgbClr val="000000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  <a:latin typeface="Century Gothic" panose="020B0702020202020204" pitchFamily="34" charset="0"/>
              </a:rPr>
              <a:t>Brief</a:t>
            </a:r>
            <a:endParaRPr lang="en-US" b="1" dirty="0">
              <a:solidFill>
                <a:srgbClr val="002060"/>
              </a:solidFill>
              <a:latin typeface="Century Gothic" panose="020B0702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 userDrawn="1"/>
        </p:nvGraphicFramePr>
        <p:xfrm>
          <a:off x="439939" y="882757"/>
          <a:ext cx="11407299" cy="58101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2493"/>
                <a:gridCol w="949772"/>
                <a:gridCol w="1283396"/>
                <a:gridCol w="927100"/>
                <a:gridCol w="723900"/>
                <a:gridCol w="6030638"/>
              </a:tblGrid>
              <a:tr h="2768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</a:rPr>
                        <a:t>Date</a:t>
                      </a:r>
                      <a:endParaRPr lang="en-US" sz="1050" b="1" i="0" u="none" strike="noStrike" dirty="0">
                        <a:solidFill>
                          <a:srgbClr val="00206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</a:rPr>
                        <a:t>Day</a:t>
                      </a:r>
                      <a:endParaRPr lang="en-US" sz="1050" b="1" i="0" u="none" strike="noStrike" dirty="0">
                        <a:solidFill>
                          <a:srgbClr val="00206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</a:rPr>
                        <a:t>Time (IST)</a:t>
                      </a:r>
                      <a:endParaRPr lang="en-US" sz="1050" b="1" i="0" u="none" strike="noStrike" dirty="0">
                        <a:solidFill>
                          <a:srgbClr val="00206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</a:rPr>
                        <a:t>Cur.</a:t>
                      </a:r>
                      <a:endParaRPr lang="en-US" sz="1050" b="1" i="0" u="none" strike="noStrike" dirty="0">
                        <a:solidFill>
                          <a:srgbClr val="00206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</a:rPr>
                        <a:t>Imp.</a:t>
                      </a:r>
                      <a:endParaRPr lang="en-US" sz="1050" b="1" i="0" u="none" strike="noStrike" dirty="0">
                        <a:solidFill>
                          <a:srgbClr val="00206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</a:rPr>
                        <a:t>Event</a:t>
                      </a:r>
                      <a:endParaRPr lang="en-US" sz="1050" b="1" i="0" u="none" strike="noStrike" dirty="0">
                        <a:solidFill>
                          <a:srgbClr val="00206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153">
                <a:tc gridSpan="6">
                  <a:txBody>
                    <a:bodyPr/>
                    <a:lstStyle/>
                    <a:p>
                      <a:pPr lvl="0"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 userDrawn="1"/>
        </p:nvSpPr>
        <p:spPr>
          <a:xfrm rot="16200000">
            <a:off x="10969560" y="1558732"/>
            <a:ext cx="20569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4">
                    <a:lumMod val="75000"/>
                  </a:schemeClr>
                </a:solidFill>
                <a:latin typeface="Century Gothic" panose="020B0702020202020204" pitchFamily="34" charset="0"/>
              </a:rPr>
              <a:t>Quantwater Tech Investments </a:t>
            </a:r>
            <a:endParaRPr lang="en-US" sz="900" dirty="0">
              <a:solidFill>
                <a:schemeClr val="accent4">
                  <a:lumMod val="75000"/>
                </a:schemeClr>
              </a:solidFill>
              <a:latin typeface="Century Gothic" panose="020B0702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Title 0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53066" y="1550090"/>
            <a:ext cx="7746332" cy="2387600"/>
          </a:xfrm>
        </p:spPr>
        <p:txBody>
          <a:bodyPr anchor="ctr"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353066" y="4029765"/>
            <a:ext cx="7746332" cy="96745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" name="Picture 1" descr="A line drawn on a white background&#10;&#10;Description automatically generated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2470"/>
            <a:ext cx="12192000" cy="6902939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604682" y="6017577"/>
            <a:ext cx="8785412" cy="666778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 txBox="1"/>
          <p:nvPr userDrawn="1"/>
        </p:nvSpPr>
        <p:spPr>
          <a:xfrm>
            <a:off x="801006" y="528550"/>
            <a:ext cx="3622769" cy="176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endParaRPr lang="en-US" sz="11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itle 1"/>
          <p:cNvSpPr txBox="1"/>
          <p:nvPr userDrawn="1"/>
        </p:nvSpPr>
        <p:spPr>
          <a:xfrm>
            <a:off x="266700" y="875170"/>
            <a:ext cx="6062980" cy="686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itle 1"/>
          <p:cNvSpPr txBox="1"/>
          <p:nvPr userDrawn="1"/>
        </p:nvSpPr>
        <p:spPr>
          <a:xfrm>
            <a:off x="484910" y="525923"/>
            <a:ext cx="5184370" cy="1217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r>
              <a:rPr lang="en-US" sz="2000" b="1" dirty="0">
                <a:solidFill>
                  <a:srgbClr val="002060"/>
                </a:solidFill>
                <a:latin typeface="Century Gothic" panose="020B0702020202020204" pitchFamily="34" charset="0"/>
              </a:rPr>
              <a:t>[Event Name]</a:t>
            </a:r>
            <a:endParaRPr lang="en-US" sz="2000" b="1" dirty="0">
              <a:solidFill>
                <a:srgbClr val="002060"/>
              </a:solidFill>
              <a:latin typeface="Century Gothic" panose="020B0702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in Title 0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 userDrawn="1"/>
        </p:nvSpPr>
        <p:spPr>
          <a:xfrm>
            <a:off x="801006" y="528550"/>
            <a:ext cx="3622769" cy="176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endParaRPr lang="en-US" sz="11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266700" y="428751"/>
            <a:ext cx="11658600" cy="366076"/>
          </a:xfrm>
          <a:prstGeom prst="rect">
            <a:avLst/>
          </a:prstGeom>
          <a:solidFill>
            <a:schemeClr val="accent2"/>
          </a:solidFill>
          <a:scene3d>
            <a:camera prst="orthographicFront"/>
            <a:lightRig rig="threePt" dir="t"/>
          </a:scene3d>
          <a:sp3d>
            <a:contourClr>
              <a:srgbClr val="000000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rgbClr val="002060"/>
                </a:solidFill>
                <a:latin typeface="Century Gothic" panose="020B0702020202020204" pitchFamily="34" charset="0"/>
              </a:rPr>
              <a:t>[Event Name]</a:t>
            </a:r>
            <a:endParaRPr lang="en-US" sz="1800" b="1" dirty="0">
              <a:solidFill>
                <a:srgbClr val="002060"/>
              </a:solidFill>
              <a:latin typeface="Century Gothic" panose="020B070202020202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 userDrawn="1"/>
        </p:nvGraphicFramePr>
        <p:xfrm>
          <a:off x="266699" y="889350"/>
          <a:ext cx="11658602" cy="5598000"/>
        </p:xfrm>
        <a:graphic>
          <a:graphicData uri="http://schemas.openxmlformats.org/drawingml/2006/table">
            <a:tbl>
              <a:tblPr/>
              <a:tblGrid>
                <a:gridCol w="1550788"/>
                <a:gridCol w="1765406"/>
                <a:gridCol w="1765406"/>
                <a:gridCol w="1765406"/>
                <a:gridCol w="4811596"/>
              </a:tblGrid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[Event Name]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Description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Actual: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 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rowSpan="11"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Forecast: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 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Previous: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r" rtl="0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Time (GMT):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r" rtl="0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Release Date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Actual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Forecast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Previous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[date]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[date]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[date]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[date]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[date]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  <a:tr h="466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702020202020204" pitchFamily="34" charset="0"/>
                        </a:rPr>
                        <a:t>[date]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5715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702020202020204" pitchFamily="34" charset="0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2" name="TextBox 5"/>
          <p:cNvSpPr txBox="1"/>
          <p:nvPr userDrawn="1"/>
        </p:nvSpPr>
        <p:spPr>
          <a:xfrm rot="16200000">
            <a:off x="11014010" y="1358707"/>
            <a:ext cx="2056958" cy="2308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900" dirty="0">
                <a:solidFill>
                  <a:schemeClr val="accent4">
                    <a:lumMod val="75000"/>
                  </a:schemeClr>
                </a:solidFill>
                <a:latin typeface="Century Gothic" panose="020B0702020202020204" pitchFamily="34" charset="0"/>
              </a:rPr>
              <a:t>Quantwater Tech Investments </a:t>
            </a:r>
            <a:endParaRPr lang="en-US" sz="900" dirty="0">
              <a:solidFill>
                <a:schemeClr val="accent4">
                  <a:lumMod val="75000"/>
                </a:schemeClr>
              </a:solidFill>
              <a:latin typeface="Century Gothic" panose="020B0702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ain Title 0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53066" y="1550090"/>
            <a:ext cx="7746332" cy="2387600"/>
          </a:xfrm>
        </p:spPr>
        <p:txBody>
          <a:bodyPr anchor="ctr"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353066" y="4029765"/>
            <a:ext cx="7746332" cy="96745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" name="Picture 1" descr="A line drawn on a white background&#10;&#10;Description automatically generated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2470"/>
            <a:ext cx="12192000" cy="6902939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604682" y="6017577"/>
            <a:ext cx="8785412" cy="666778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 txBox="1"/>
          <p:nvPr userDrawn="1"/>
        </p:nvSpPr>
        <p:spPr>
          <a:xfrm>
            <a:off x="801006" y="528550"/>
            <a:ext cx="3622769" cy="176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endParaRPr lang="en-US" sz="11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Title 1"/>
          <p:cNvSpPr txBox="1"/>
          <p:nvPr userDrawn="1"/>
        </p:nvSpPr>
        <p:spPr>
          <a:xfrm>
            <a:off x="484910" y="525923"/>
            <a:ext cx="5184370" cy="1217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r>
              <a:rPr lang="en-US" sz="2000" b="1" dirty="0">
                <a:solidFill>
                  <a:srgbClr val="002060"/>
                </a:solidFill>
                <a:latin typeface="Century Gothic" panose="020B0702020202020204" pitchFamily="34" charset="0"/>
              </a:rPr>
              <a:t>[Event Name]</a:t>
            </a:r>
            <a:endParaRPr lang="en-US" sz="2000" b="1" dirty="0">
              <a:solidFill>
                <a:srgbClr val="002060"/>
              </a:solidFill>
              <a:latin typeface="Century Gothic" panose="020B0702020202020204" pitchFamily="34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Century Gothic" panose="020B0702020202020204" pitchFamily="34" charset="0"/>
              </a:rPr>
              <a:t>[asset name 1]</a:t>
            </a:r>
            <a:endParaRPr lang="en-US" sz="2000" b="1" dirty="0">
              <a:solidFill>
                <a:srgbClr val="002060"/>
              </a:solidFill>
              <a:latin typeface="Century Gothic" panose="020B0702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raphic 6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031" y="356848"/>
            <a:ext cx="1499507" cy="361950"/>
          </a:xfrm>
          <a:prstGeom prst="rect">
            <a:avLst/>
          </a:prstGeom>
        </p:spPr>
      </p:pic>
      <p:sp>
        <p:nvSpPr>
          <p:cNvPr id="2" name="TextBox 5"/>
          <p:cNvSpPr txBox="1"/>
          <p:nvPr userDrawn="1"/>
        </p:nvSpPr>
        <p:spPr>
          <a:xfrm rot="16200000">
            <a:off x="11014010" y="1358707"/>
            <a:ext cx="20569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4">
                    <a:lumMod val="75000"/>
                  </a:schemeClr>
                </a:solidFill>
                <a:latin typeface="Century Gothic" panose="020B0702020202020204" pitchFamily="34" charset="0"/>
              </a:rPr>
              <a:t>Quantwater Tech Investments </a:t>
            </a:r>
            <a:endParaRPr lang="en-US" sz="900" dirty="0">
              <a:solidFill>
                <a:schemeClr val="accent4">
                  <a:lumMod val="75000"/>
                </a:schemeClr>
              </a:solidFill>
              <a:latin typeface="Century Gothic" panose="020B0702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ain Title 0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53066" y="1550090"/>
            <a:ext cx="7746332" cy="2387600"/>
          </a:xfrm>
        </p:spPr>
        <p:txBody>
          <a:bodyPr anchor="ctr"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353066" y="4029765"/>
            <a:ext cx="7746332" cy="96745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" name="Picture 1" descr="A line drawn on a white background&#10;&#10;Description automatically generated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2470"/>
            <a:ext cx="12192000" cy="6902939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604682" y="6017577"/>
            <a:ext cx="8785412" cy="666778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 txBox="1"/>
          <p:nvPr userDrawn="1"/>
        </p:nvSpPr>
        <p:spPr>
          <a:xfrm>
            <a:off x="801006" y="528550"/>
            <a:ext cx="3622769" cy="176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endParaRPr lang="en-US" sz="11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Title 1"/>
          <p:cNvSpPr txBox="1"/>
          <p:nvPr userDrawn="1"/>
        </p:nvSpPr>
        <p:spPr>
          <a:xfrm>
            <a:off x="484910" y="525923"/>
            <a:ext cx="5184370" cy="1217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704020202020204" pitchFamily="34" charset="0"/>
                <a:ea typeface="+mj-ea"/>
                <a:cs typeface="Arial" panose="020B0704020202020204" pitchFamily="34" charset="0"/>
              </a:defRPr>
            </a:lvl1pPr>
          </a:lstStyle>
          <a:p>
            <a:r>
              <a:rPr lang="en-US" sz="2000" b="1" dirty="0">
                <a:solidFill>
                  <a:srgbClr val="002060"/>
                </a:solidFill>
                <a:latin typeface="Century Gothic" panose="020B0702020202020204" pitchFamily="34" charset="0"/>
              </a:rPr>
              <a:t>[Event Name]</a:t>
            </a:r>
            <a:endParaRPr lang="en-US" sz="2000" b="1" dirty="0">
              <a:solidFill>
                <a:srgbClr val="002060"/>
              </a:solidFill>
              <a:latin typeface="Century Gothic" panose="020B0702020202020204" pitchFamily="34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Century Gothic" panose="020B0702020202020204" pitchFamily="34" charset="0"/>
              </a:rPr>
              <a:t>[asset name 2]</a:t>
            </a:r>
            <a:endParaRPr lang="en-US" sz="2000" b="1" dirty="0">
              <a:solidFill>
                <a:srgbClr val="002060"/>
              </a:solidFill>
              <a:latin typeface="Century Gothic" panose="020B0702020202020204" pitchFamily="34" charset="0"/>
            </a:endParaRPr>
          </a:p>
        </p:txBody>
      </p:sp>
      <p:sp>
        <p:nvSpPr>
          <p:cNvPr id="5" name="TextBox 5"/>
          <p:cNvSpPr txBox="1"/>
          <p:nvPr userDrawn="1"/>
        </p:nvSpPr>
        <p:spPr>
          <a:xfrm rot="16200000">
            <a:off x="11014010" y="905952"/>
            <a:ext cx="20569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4">
                    <a:lumMod val="75000"/>
                  </a:schemeClr>
                </a:solidFill>
                <a:latin typeface="Century Gothic" panose="020B0702020202020204" pitchFamily="34" charset="0"/>
              </a:rPr>
              <a:t>Quantwater Tech Investments </a:t>
            </a:r>
            <a:endParaRPr lang="en-US" sz="900" dirty="0">
              <a:solidFill>
                <a:schemeClr val="accent4">
                  <a:lumMod val="75000"/>
                </a:schemeClr>
              </a:solidFill>
              <a:latin typeface="Century Gothic" panose="020B0702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raphic 6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031" y="356848"/>
            <a:ext cx="1499507" cy="361950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 rot="16200000">
            <a:off x="11014010" y="1502217"/>
            <a:ext cx="20569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4">
                    <a:lumMod val="75000"/>
                  </a:schemeClr>
                </a:solidFill>
                <a:latin typeface="Century Gothic" panose="020B0702020202020204" pitchFamily="34" charset="0"/>
              </a:rPr>
              <a:t>Quantwater Tech Investments </a:t>
            </a:r>
            <a:endParaRPr lang="en-US" sz="900" dirty="0">
              <a:solidFill>
                <a:schemeClr val="accent4">
                  <a:lumMod val="75000"/>
                </a:schemeClr>
              </a:solidFill>
              <a:latin typeface="Century Gothic" panose="020B0702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520731-65EA-CE43-94A5-88CA2912E5C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4CBB0-FF61-A741-B66C-72250AAD4BCF}" type="slidenum">
              <a:rPr lang="en-US" smtClean="0"/>
            </a:fld>
            <a:endParaRPr lang="en-US"/>
          </a:p>
        </p:txBody>
      </p:sp>
      <p:sp>
        <p:nvSpPr>
          <p:cNvPr id="5" name="TextBox 5"/>
          <p:cNvSpPr txBox="1"/>
          <p:nvPr userDrawn="1"/>
        </p:nvSpPr>
        <p:spPr>
          <a:xfrm rot="16200000">
            <a:off x="11023535" y="1514282"/>
            <a:ext cx="2056958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  <a:latin typeface="Century Gothic" panose="020B0702020202020204" pitchFamily="34" charset="0"/>
              </a:rPr>
              <a:t>Quantwater Tech Investments 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Century Gothic" panose="020B0702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6700" y="228600"/>
            <a:ext cx="116586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Insert Text Here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892098"/>
            <a:ext cx="11658600" cy="5343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39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</a:defRPr>
            </a:lvl1pPr>
          </a:lstStyle>
          <a:p>
            <a:fld id="{743B1F26-96D9-40A6-83AD-00943405493D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E1120"/>
          </a:solidFill>
          <a:latin typeface="Arial" panose="020B0704020202020204" pitchFamily="34" charset="0"/>
          <a:ea typeface="+mj-ea"/>
          <a:cs typeface="Arial" panose="020B07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None/>
        <a:defRPr sz="2000" kern="1200">
          <a:solidFill>
            <a:srgbClr val="0E1120"/>
          </a:solidFill>
          <a:latin typeface="Arial" panose="020B0704020202020204" pitchFamily="34" charset="0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None/>
        <a:defRPr sz="1800" kern="1200">
          <a:solidFill>
            <a:srgbClr val="0E1120"/>
          </a:solidFill>
          <a:latin typeface="Arial" panose="020B0704020202020204" pitchFamily="34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None/>
        <a:defRPr sz="1600" kern="1200">
          <a:solidFill>
            <a:srgbClr val="0E1120"/>
          </a:solidFill>
          <a:latin typeface="Arial" panose="020B0704020202020204" pitchFamily="34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None/>
        <a:defRPr sz="1400" kern="1200">
          <a:solidFill>
            <a:srgbClr val="0E1120"/>
          </a:solidFill>
          <a:latin typeface="Arial" panose="020B0704020202020204" pitchFamily="34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None/>
        <a:defRPr sz="1400" kern="1200">
          <a:solidFill>
            <a:srgbClr val="0E1120"/>
          </a:solidFill>
          <a:latin typeface="Arial" panose="020B07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>
          <a:xfrm>
            <a:off x="479422" y="6483366"/>
            <a:ext cx="3750321" cy="366084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contourClr>
              <a:srgbClr val="000000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 i="1" dirty="0">
                <a:solidFill>
                  <a:srgbClr val="002060"/>
                </a:solidFill>
                <a:highlight>
                  <a:srgbClr val="FFFF00"/>
                </a:highlight>
                <a:latin typeface="Century Gothic" panose="020B0702020202020204" pitchFamily="34" charset="0"/>
                <a:cs typeface="Century Gothic" panose="020B0702020202020204" pitchFamily="34" charset="0"/>
              </a:rPr>
              <a:t> </a:t>
            </a:r>
            <a:endParaRPr lang="en-US" sz="600" i="1" dirty="0">
              <a:solidFill>
                <a:srgbClr val="002060"/>
              </a:solidFill>
              <a:highlight>
                <a:srgbClr val="FFFF00"/>
              </a:highlight>
              <a:latin typeface="Century Gothic" panose="020B0702020202020204" pitchFamily="34" charset="0"/>
              <a:cs typeface="Century Gothic" panose="020B0702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64680" y="134110"/>
            <a:ext cx="11407299" cy="366084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contourClr>
              <a:srgbClr val="00000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2060"/>
                </a:solidFill>
                <a:latin typeface="Century Gothic" panose="020B0702020202020204" pitchFamily="34" charset="0"/>
                <a:cs typeface="Century Gothic" panose="020B0702020202020204" pitchFamily="34" charset="0"/>
              </a:rPr>
              <a:t>Overview</a:t>
            </a:r>
            <a:endParaRPr lang="en-US" sz="2400" b="1" dirty="0">
              <a:solidFill>
                <a:srgbClr val="002060"/>
              </a:solidFill>
              <a:latin typeface="Century Gothic" panose="020B0702020202020204" pitchFamily="34" charset="0"/>
              <a:cs typeface="Century Gothic" panose="020B0702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279775" y="1762125"/>
            <a:ext cx="12192000" cy="0"/>
          </a:xfrm>
          <a:prstGeom prst="rect">
            <a:avLst/>
          </a:prstGeom>
          <a:solidFill>
            <a:srgbClr val="EDB23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Century Gothic" panose="020B0702020202020204" pitchFamily="34" charset="0"/>
                <a:cs typeface="Century Gothic" panose="020B0702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Century Gothic" panose="020B0702020202020204" pitchFamily="34" charset="0"/>
                <a:cs typeface="Century Gothic" panose="020B0702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Century Gothic" panose="020B0702020202020204" pitchFamily="34" charset="0"/>
              <a:cs typeface="Century Gothic" panose="020B0702020202020204" pitchFamily="34" charset="0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>
            <a:off x="368300" y="689610"/>
            <a:ext cx="11920220" cy="25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0215" y="889635"/>
          <a:ext cx="11475085" cy="5419090"/>
        </p:xfrm>
        <a:graphic>
          <a:graphicData uri="http://schemas.openxmlformats.org/drawingml/2006/table">
            <a:tbl>
              <a:tblPr/>
              <a:tblGrid>
                <a:gridCol w="1275080"/>
                <a:gridCol w="1275080"/>
                <a:gridCol w="1275080"/>
                <a:gridCol w="1275080"/>
                <a:gridCol w="1274445"/>
                <a:gridCol w="5100320"/>
              </a:tblGrid>
              <a:tr h="318770">
                <a:tc>
                  <a:txBody>
                    <a:bodyPr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highlight>
                            <a:srgbClr val="000000">
                              <a:alpha val="0"/>
                            </a:srgbClr>
                          </a:highlight>
                          <a:latin typeface="Century Gothic" panose="020B0702020202020204" pitchFamily="34" charset="0"/>
                          <a:cs typeface="Century Gothic" panose="020B0702020202020204" pitchFamily="34" charset="0"/>
                        </a:rPr>
                        <a:t>Date</a:t>
                      </a:r>
                      <a:endParaRPr lang="en-US" sz="1000" b="1" i="0" u="none" strike="noStrike" dirty="0">
                        <a:solidFill>
                          <a:srgbClr val="002060"/>
                        </a:solidFill>
                        <a:effectLst/>
                        <a:highlight>
                          <a:srgbClr val="000000">
                            <a:alpha val="0"/>
                          </a:srgbClr>
                        </a:highlight>
                        <a:latin typeface="Century Gothic" panose="020B0702020202020204" pitchFamily="34" charset="0"/>
                        <a:cs typeface="Century Gothic" panose="020B07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highlight>
                            <a:srgbClr val="000000">
                              <a:alpha val="0"/>
                            </a:srgbClr>
                          </a:highlight>
                          <a:latin typeface="Century Gothic" panose="020B0702020202020204" pitchFamily="34" charset="0"/>
                          <a:cs typeface="Century Gothic" panose="020B0702020202020204" pitchFamily="34" charset="0"/>
                        </a:rPr>
                        <a:t>Day</a:t>
                      </a:r>
                      <a:endParaRPr lang="en-US" sz="1000" b="1" i="0" u="none" strike="noStrike" dirty="0">
                        <a:solidFill>
                          <a:srgbClr val="002060"/>
                        </a:solidFill>
                        <a:effectLst/>
                        <a:highlight>
                          <a:srgbClr val="000000">
                            <a:alpha val="0"/>
                          </a:srgbClr>
                        </a:highlight>
                        <a:latin typeface="Century Gothic" panose="020B0702020202020204" pitchFamily="34" charset="0"/>
                        <a:cs typeface="Century Gothic" panose="020B07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highlight>
                            <a:srgbClr val="000000">
                              <a:alpha val="0"/>
                            </a:srgbClr>
                          </a:highlight>
                          <a:latin typeface="Century Gothic" panose="020B0702020202020204" pitchFamily="34" charset="0"/>
                          <a:cs typeface="Century Gothic" panose="020B0702020202020204" pitchFamily="34" charset="0"/>
                        </a:rPr>
                        <a:t>Time (IST)</a:t>
                      </a:r>
                      <a:endParaRPr lang="en-US" sz="1000" b="1" i="0" u="none" strike="noStrike" dirty="0">
                        <a:solidFill>
                          <a:srgbClr val="002060"/>
                        </a:solidFill>
                        <a:effectLst/>
                        <a:highlight>
                          <a:srgbClr val="000000">
                            <a:alpha val="0"/>
                          </a:srgbClr>
                        </a:highlight>
                        <a:latin typeface="Century Gothic" panose="020B0702020202020204" pitchFamily="34" charset="0"/>
                        <a:cs typeface="Century Gothic" panose="020B07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highlight>
                            <a:srgbClr val="000000">
                              <a:alpha val="0"/>
                            </a:srgbClr>
                          </a:highlight>
                          <a:latin typeface="Century Gothic" panose="020B0702020202020204" pitchFamily="34" charset="0"/>
                          <a:cs typeface="Century Gothic" panose="020B0702020202020204" pitchFamily="34" charset="0"/>
                        </a:rPr>
                        <a:t>Cur.</a:t>
                      </a:r>
                      <a:endParaRPr lang="en-US" sz="1000" b="1" i="0" u="none" strike="noStrike" dirty="0">
                        <a:solidFill>
                          <a:srgbClr val="002060"/>
                        </a:solidFill>
                        <a:effectLst/>
                        <a:highlight>
                          <a:srgbClr val="000000">
                            <a:alpha val="0"/>
                          </a:srgbClr>
                        </a:highlight>
                        <a:latin typeface="Century Gothic" panose="020B0702020202020204" pitchFamily="34" charset="0"/>
                        <a:cs typeface="Century Gothic" panose="020B07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highlight>
                            <a:srgbClr val="000000">
                              <a:alpha val="0"/>
                            </a:srgbClr>
                          </a:highlight>
                          <a:latin typeface="Century Gothic" panose="020B0702020202020204" pitchFamily="34" charset="0"/>
                          <a:cs typeface="Century Gothic" panose="020B0702020202020204" pitchFamily="34" charset="0"/>
                        </a:rPr>
                        <a:t>Imp.</a:t>
                      </a:r>
                      <a:endParaRPr lang="en-US" sz="1000" b="1" i="0" u="none" strike="noStrike" dirty="0">
                        <a:solidFill>
                          <a:srgbClr val="002060"/>
                        </a:solidFill>
                        <a:effectLst/>
                        <a:highlight>
                          <a:srgbClr val="000000">
                            <a:alpha val="0"/>
                          </a:srgbClr>
                        </a:highlight>
                        <a:latin typeface="Century Gothic" panose="020B0702020202020204" pitchFamily="34" charset="0"/>
                        <a:cs typeface="Century Gothic" panose="020B07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highlight>
                            <a:srgbClr val="000000">
                              <a:alpha val="0"/>
                            </a:srgbClr>
                          </a:highlight>
                          <a:latin typeface="Century Gothic" panose="020B0702020202020204" pitchFamily="34" charset="0"/>
                          <a:cs typeface="Century Gothic" panose="020B0702020202020204" pitchFamily="34" charset="0"/>
                        </a:rPr>
                        <a:t>Event</a:t>
                      </a:r>
                      <a:endParaRPr lang="en-US" sz="1000" b="1" i="0" u="none" strike="noStrike" dirty="0">
                        <a:solidFill>
                          <a:srgbClr val="002060"/>
                        </a:solidFill>
                        <a:effectLst/>
                        <a:highlight>
                          <a:srgbClr val="000000">
                            <a:alpha val="0"/>
                          </a:srgbClr>
                        </a:highlight>
                        <a:latin typeface="Century Gothic" panose="020B0702020202020204" pitchFamily="34" charset="0"/>
                        <a:cs typeface="Century Gothic" panose="020B07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1877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03-Nov-25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 Mon 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All Day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Holiday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Japan - Culture Day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03-Nov-25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 Mon 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All Day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Holiday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Russia - Holiday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03-Nov-25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 Mon 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20:15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USD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3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S&amp;P Global Manufacturing PMI (Oct)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03-Nov-25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 Mon 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20:30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USD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3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ISM Manufacturing PMI (Oct)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03-Nov-25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 Mon 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20:30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USD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3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ISM Manufacturing Prices (Oct)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04-Nov-25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 Tue 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All Day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Holiday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Russia - Unity Day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04-Nov-25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 Tue 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09:00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AUD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3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RBA Interest Rate Decision (Nov)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highlight>
                            <a:srgbClr val="FFFF00"/>
                          </a:highlight>
                          <a:latin typeface="Century Gothic" panose="020B0702020202020204"/>
                          <a:ea typeface="Century Gothic" panose="020B0702020202020204"/>
                        </a:rPr>
                        <a:t>04-Nov-25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highlight>
                          <a:srgbClr val="FFFF00"/>
                        </a:highlight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highlight>
                            <a:srgbClr val="FFFF00"/>
                          </a:highlight>
                          <a:latin typeface="Century Gothic" panose="020B0702020202020204"/>
                          <a:ea typeface="Century Gothic" panose="020B0702020202020204"/>
                        </a:rPr>
                        <a:t> Tue 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highlight>
                          <a:srgbClr val="FFFF00"/>
                        </a:highlight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highlight>
                            <a:srgbClr val="FFFF00"/>
                          </a:highlight>
                          <a:latin typeface="Century Gothic" panose="020B0702020202020204"/>
                          <a:ea typeface="Century Gothic" panose="020B0702020202020204"/>
                        </a:rPr>
                        <a:t>20:30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highlight>
                          <a:srgbClr val="FFFF00"/>
                        </a:highlight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highlight>
                            <a:srgbClr val="FFFF00"/>
                          </a:highlight>
                          <a:latin typeface="Century Gothic" panose="020B0702020202020204"/>
                          <a:ea typeface="Century Gothic" panose="020B0702020202020204"/>
                        </a:rPr>
                        <a:t>USD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highlight>
                          <a:srgbClr val="FFFF00"/>
                        </a:highlight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highlight>
                            <a:srgbClr val="FFFF00"/>
                          </a:highlight>
                          <a:latin typeface="Century Gothic" panose="020B0702020202020204"/>
                          <a:ea typeface="Century Gothic" panose="020B0702020202020204"/>
                        </a:rPr>
                        <a:t>3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highlight>
                          <a:srgbClr val="FFFF00"/>
                        </a:highlight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highlight>
                            <a:srgbClr val="FFFF00"/>
                          </a:highlight>
                          <a:latin typeface="Century Gothic" panose="020B0702020202020204"/>
                          <a:ea typeface="Century Gothic" panose="020B0702020202020204"/>
                        </a:rPr>
                        <a:t>JOLTS </a:t>
                      </a:r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highlight>
                            <a:srgbClr val="FFFF00"/>
                          </a:highlight>
                          <a:latin typeface="Century Gothic" panose="020B0702020202020204"/>
                          <a:ea typeface="Century Gothic" panose="020B0702020202020204"/>
                        </a:rPr>
                        <a:t>Job Openings (Sep)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highlight>
                          <a:srgbClr val="FFFF00"/>
                        </a:highlight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05-Nov-25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 Wed 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All Day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Holiday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India - Guru Nanak Jayanti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05-Nov-25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 Wed 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18:45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USD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3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ADP Nonfarm Employment Change (Oct)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05-Nov-25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 Wed 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19:30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USD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3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ISM Non-Manufacturing PMI (Oct)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highlight>
                            <a:srgbClr val="FFFF00"/>
                          </a:highlight>
                          <a:latin typeface="Century Gothic" panose="020B0702020202020204"/>
                          <a:ea typeface="Century Gothic" panose="020B0702020202020204"/>
                        </a:rPr>
                        <a:t>05-Nov-25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highlight>
                          <a:srgbClr val="FFFF00"/>
                        </a:highlight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highlight>
                            <a:srgbClr val="FFFF00"/>
                          </a:highlight>
                          <a:latin typeface="Century Gothic" panose="020B0702020202020204"/>
                          <a:ea typeface="Century Gothic" panose="020B0702020202020204"/>
                        </a:rPr>
                        <a:t> Wed 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highlight>
                          <a:srgbClr val="FFFF00"/>
                        </a:highlight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highlight>
                            <a:srgbClr val="FFFF00"/>
                          </a:highlight>
                          <a:latin typeface="Century Gothic" panose="020B0702020202020204"/>
                          <a:ea typeface="Century Gothic" panose="020B0702020202020204"/>
                        </a:rPr>
                        <a:t>19:30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highlight>
                          <a:srgbClr val="FFFF00"/>
                        </a:highlight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highlight>
                            <a:srgbClr val="FFFF00"/>
                          </a:highlight>
                          <a:latin typeface="Century Gothic" panose="020B0702020202020204"/>
                          <a:ea typeface="Century Gothic" panose="020B0702020202020204"/>
                        </a:rPr>
                        <a:t>USD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highlight>
                          <a:srgbClr val="FFFF00"/>
                        </a:highlight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highlight>
                            <a:srgbClr val="FFFF00"/>
                          </a:highlight>
                          <a:latin typeface="Century Gothic" panose="020B0702020202020204"/>
                          <a:ea typeface="Century Gothic" panose="020B0702020202020204"/>
                        </a:rPr>
                        <a:t>3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highlight>
                          <a:srgbClr val="FFFF00"/>
                        </a:highlight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highlight>
                            <a:srgbClr val="FFFF00"/>
                          </a:highlight>
                          <a:latin typeface="Century Gothic" panose="020B0702020202020204"/>
                          <a:ea typeface="Century Gothic" panose="020B0702020202020204"/>
                        </a:rPr>
                        <a:t>ISM Non-Manufacturing Prices (Oct)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highlight>
                          <a:srgbClr val="FFFF00"/>
                        </a:highlight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05-Nov-25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 Wed 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20:15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USD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3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S&amp;P Global Services PMI (Oct)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05-Nov-25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 Wed 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21:00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USD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3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Crude Oil Inventories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06-Nov-25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 Thu 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17:30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GBP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3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entury Gothic" panose="020B0702020202020204"/>
                          <a:ea typeface="Century Gothic" panose="020B0702020202020204"/>
                        </a:rPr>
                        <a:t>BoE Interest Rate Decision (Nov)</a:t>
                      </a:r>
                      <a:endParaRPr sz="10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entury Gothic" panose="020B0702020202020204"/>
                        <a:ea typeface="Century Gothic" panose="020B0702020202020204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 gridSpan="6"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effectLst/>
                          <a:highlight>
                            <a:srgbClr val="000000">
                              <a:alpha val="0"/>
                            </a:srgbClr>
                          </a:highlight>
                          <a:latin typeface="Century Gothic" panose="020B0702020202020204" pitchFamily="34" charset="0"/>
                          <a:cs typeface="Century Gothic" panose="020B0702020202020204" pitchFamily="34" charset="0"/>
                          <a:sym typeface="+mn-ea"/>
                        </a:rPr>
                        <a:t>Annexure: Key Terms &amp; Links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highlight>
                          <a:srgbClr val="000000">
                            <a:alpha val="0"/>
                          </a:srgbClr>
                        </a:highlight>
                        <a:latin typeface="Century Gothic" panose="020B0702020202020204" pitchFamily="34" charset="0"/>
                        <a:ea typeface="Century Gothic" panose="020B0702020202020204"/>
                        <a:cs typeface="Century Gothic" panose="020B0702020202020204" pitchFamily="34" charset="0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 anchorCtr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 anchorCtr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 anchorCtr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 anchorCtr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 anchorCtr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AQA Templat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10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976</Words>
  <Application>WPS Writer</Application>
  <PresentationFormat>Widescreen</PresentationFormat>
  <Paragraphs>202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SimSun</vt:lpstr>
      <vt:lpstr>Wingdings</vt:lpstr>
      <vt:lpstr>Century Gothic</vt:lpstr>
      <vt:lpstr>Verdana</vt:lpstr>
      <vt:lpstr>Arial</vt:lpstr>
      <vt:lpstr>Century Gothic</vt:lpstr>
      <vt:lpstr>Microsoft YaHei</vt:lpstr>
      <vt:lpstr>汉仪旗黑</vt:lpstr>
      <vt:lpstr>Arial Unicode MS</vt:lpstr>
      <vt:lpstr>Aptos</vt:lpstr>
      <vt:lpstr>Helvetica Neue</vt:lpstr>
      <vt:lpstr>Calibri</vt:lpstr>
      <vt:lpstr>宋体-简</vt:lpstr>
      <vt:lpstr>TAQA Template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Pawan J</dc:creator>
  <cp:lastModifiedBy>Pawan Jatale</cp:lastModifiedBy>
  <cp:revision>118</cp:revision>
  <dcterms:created xsi:type="dcterms:W3CDTF">2025-11-01T18:10:00Z</dcterms:created>
  <dcterms:modified xsi:type="dcterms:W3CDTF">2025-11-01T18:10:00Z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9D9D6FB2C1F9D25002C00469C599ACBB_43</vt:lpwstr>
  </property>
  <property fmtid="{D5CDD505-2E9C-101B-9397-08002B2CF9AE}" pid="3" name="KSOProductBuildVer">
    <vt:lpwstr>1033-12.1.23143.23143</vt:lpwstr>
  </property>
</Properties>
</file>