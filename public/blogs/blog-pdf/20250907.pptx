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225"/>
  </p:handoutMasterIdLst>
  <p:sldIdLst>
    <p:sldId id="4102425" r:id="rId3"/>
    <p:sldId id="4102427" r:id="rId4"/>
    <p:sldId id="4102525" r:id="rId6"/>
    <p:sldId id="4102444" r:id="rId7"/>
    <p:sldId id="4102400" r:id="rId8"/>
    <p:sldId id="4102578" r:id="rId9"/>
    <p:sldId id="4102579" r:id="rId10"/>
    <p:sldId id="4102580" r:id="rId11"/>
    <p:sldId id="4102581" r:id="rId12"/>
    <p:sldId id="4102582" r:id="rId13"/>
    <p:sldId id="4102583" r:id="rId14"/>
    <p:sldId id="4102524" r:id="rId15"/>
    <p:sldId id="4102748" r:id="rId16"/>
    <p:sldId id="4102749" r:id="rId17"/>
    <p:sldId id="4102750" r:id="rId18"/>
    <p:sldId id="4102751" r:id="rId19"/>
    <p:sldId id="4102752" r:id="rId20"/>
    <p:sldId id="4102753" r:id="rId21"/>
    <p:sldId id="4102526" r:id="rId22"/>
    <p:sldId id="4102527" r:id="rId23"/>
    <p:sldId id="4102528" r:id="rId24"/>
    <p:sldId id="4102584" r:id="rId25"/>
    <p:sldId id="4102585" r:id="rId26"/>
    <p:sldId id="4102586" r:id="rId27"/>
    <p:sldId id="4102587" r:id="rId28"/>
    <p:sldId id="4102588" r:id="rId29"/>
    <p:sldId id="4102589" r:id="rId30"/>
    <p:sldId id="4102529" r:id="rId31"/>
    <p:sldId id="4102656" r:id="rId32"/>
    <p:sldId id="4102657" r:id="rId33"/>
    <p:sldId id="4102658" r:id="rId34"/>
    <p:sldId id="4102659" r:id="rId35"/>
    <p:sldId id="4102660" r:id="rId36"/>
    <p:sldId id="4102661" r:id="rId37"/>
    <p:sldId id="4102574" r:id="rId38"/>
    <p:sldId id="4102575" r:id="rId39"/>
    <p:sldId id="4102576" r:id="rId40"/>
    <p:sldId id="4102730" r:id="rId41"/>
    <p:sldId id="4102731" r:id="rId42"/>
    <p:sldId id="4102732" r:id="rId43"/>
    <p:sldId id="4102733" r:id="rId44"/>
    <p:sldId id="4102734" r:id="rId45"/>
    <p:sldId id="4102735" r:id="rId46"/>
    <p:sldId id="4102530" r:id="rId47"/>
    <p:sldId id="4102531" r:id="rId48"/>
    <p:sldId id="4102532" r:id="rId49"/>
    <p:sldId id="4102590" r:id="rId50"/>
    <p:sldId id="4102591" r:id="rId51"/>
    <p:sldId id="4102592" r:id="rId52"/>
    <p:sldId id="4102593" r:id="rId53"/>
    <p:sldId id="4102594" r:id="rId54"/>
    <p:sldId id="4102595" r:id="rId55"/>
    <p:sldId id="4102533" r:id="rId56"/>
    <p:sldId id="4102663" r:id="rId57"/>
    <p:sldId id="4102664" r:id="rId58"/>
    <p:sldId id="4102665" r:id="rId59"/>
    <p:sldId id="4102666" r:id="rId60"/>
    <p:sldId id="4102667" r:id="rId61"/>
    <p:sldId id="4102668" r:id="rId62"/>
    <p:sldId id="4102534" r:id="rId63"/>
    <p:sldId id="4102535" r:id="rId64"/>
    <p:sldId id="4102536" r:id="rId65"/>
    <p:sldId id="4102596" r:id="rId66"/>
    <p:sldId id="4102597" r:id="rId67"/>
    <p:sldId id="4102598" r:id="rId68"/>
    <p:sldId id="4102599" r:id="rId69"/>
    <p:sldId id="4102600" r:id="rId70"/>
    <p:sldId id="4102601" r:id="rId71"/>
    <p:sldId id="4102537" r:id="rId72"/>
    <p:sldId id="4102669" r:id="rId73"/>
    <p:sldId id="4102670" r:id="rId74"/>
    <p:sldId id="4102671" r:id="rId75"/>
    <p:sldId id="4102672" r:id="rId76"/>
    <p:sldId id="4102673" r:id="rId77"/>
    <p:sldId id="4102674" r:id="rId78"/>
    <p:sldId id="4102538" r:id="rId79"/>
    <p:sldId id="4102539" r:id="rId80"/>
    <p:sldId id="4102540" r:id="rId81"/>
    <p:sldId id="4102602" r:id="rId82"/>
    <p:sldId id="4102603" r:id="rId83"/>
    <p:sldId id="4102604" r:id="rId84"/>
    <p:sldId id="4102605" r:id="rId85"/>
    <p:sldId id="4102606" r:id="rId86"/>
    <p:sldId id="4102607" r:id="rId87"/>
    <p:sldId id="4102541" r:id="rId88"/>
    <p:sldId id="4102675" r:id="rId89"/>
    <p:sldId id="4102676" r:id="rId90"/>
    <p:sldId id="4102677" r:id="rId91"/>
    <p:sldId id="4102678" r:id="rId92"/>
    <p:sldId id="4102679" r:id="rId93"/>
    <p:sldId id="4102680" r:id="rId94"/>
    <p:sldId id="4102542" r:id="rId95"/>
    <p:sldId id="4102543" r:id="rId96"/>
    <p:sldId id="4102544" r:id="rId97"/>
    <p:sldId id="4102608" r:id="rId98"/>
    <p:sldId id="4102609" r:id="rId99"/>
    <p:sldId id="4102610" r:id="rId100"/>
    <p:sldId id="4102611" r:id="rId101"/>
    <p:sldId id="4102612" r:id="rId102"/>
    <p:sldId id="4102613" r:id="rId103"/>
    <p:sldId id="4102545" r:id="rId104"/>
    <p:sldId id="4102681" r:id="rId105"/>
    <p:sldId id="4102682" r:id="rId106"/>
    <p:sldId id="4102683" r:id="rId107"/>
    <p:sldId id="4102684" r:id="rId108"/>
    <p:sldId id="4102685" r:id="rId109"/>
    <p:sldId id="4102686" r:id="rId110"/>
    <p:sldId id="4102546" r:id="rId111"/>
    <p:sldId id="4102547" r:id="rId112"/>
    <p:sldId id="4102548" r:id="rId113"/>
    <p:sldId id="4102614" r:id="rId114"/>
    <p:sldId id="4102615" r:id="rId115"/>
    <p:sldId id="4102616" r:id="rId116"/>
    <p:sldId id="4102617" r:id="rId117"/>
    <p:sldId id="4102618" r:id="rId118"/>
    <p:sldId id="4102619" r:id="rId119"/>
    <p:sldId id="4102549" r:id="rId120"/>
    <p:sldId id="4102687" r:id="rId121"/>
    <p:sldId id="4102688" r:id="rId122"/>
    <p:sldId id="4102689" r:id="rId123"/>
    <p:sldId id="4102690" r:id="rId124"/>
    <p:sldId id="4102691" r:id="rId125"/>
    <p:sldId id="4102692" r:id="rId126"/>
    <p:sldId id="4102550" r:id="rId127"/>
    <p:sldId id="4102551" r:id="rId128"/>
    <p:sldId id="4102552" r:id="rId129"/>
    <p:sldId id="4102736" r:id="rId130"/>
    <p:sldId id="4102737" r:id="rId131"/>
    <p:sldId id="4102738" r:id="rId132"/>
    <p:sldId id="4102739" r:id="rId133"/>
    <p:sldId id="4102740" r:id="rId134"/>
    <p:sldId id="4102741" r:id="rId135"/>
    <p:sldId id="4102553" r:id="rId136"/>
    <p:sldId id="4102742" r:id="rId137"/>
    <p:sldId id="4102743" r:id="rId138"/>
    <p:sldId id="4102744" r:id="rId139"/>
    <p:sldId id="4102745" r:id="rId140"/>
    <p:sldId id="4102746" r:id="rId141"/>
    <p:sldId id="4102747" r:id="rId142"/>
    <p:sldId id="4102554" r:id="rId143"/>
    <p:sldId id="4102555" r:id="rId144"/>
    <p:sldId id="4102556" r:id="rId145"/>
    <p:sldId id="4102626" r:id="rId146"/>
    <p:sldId id="4102627" r:id="rId147"/>
    <p:sldId id="4102628" r:id="rId148"/>
    <p:sldId id="4102629" r:id="rId149"/>
    <p:sldId id="4102630" r:id="rId150"/>
    <p:sldId id="4102631" r:id="rId151"/>
    <p:sldId id="4102557" r:id="rId152"/>
    <p:sldId id="4102700" r:id="rId153"/>
    <p:sldId id="4102701" r:id="rId154"/>
    <p:sldId id="4102702" r:id="rId155"/>
    <p:sldId id="4102703" r:id="rId156"/>
    <p:sldId id="4102704" r:id="rId157"/>
    <p:sldId id="4102705" r:id="rId158"/>
    <p:sldId id="4102558" r:id="rId159"/>
    <p:sldId id="4102559" r:id="rId160"/>
    <p:sldId id="4102560" r:id="rId161"/>
    <p:sldId id="4102632" r:id="rId162"/>
    <p:sldId id="4102633" r:id="rId163"/>
    <p:sldId id="4102634" r:id="rId164"/>
    <p:sldId id="4102635" r:id="rId165"/>
    <p:sldId id="4102636" r:id="rId166"/>
    <p:sldId id="4102637" r:id="rId167"/>
    <p:sldId id="4102561" r:id="rId168"/>
    <p:sldId id="4102706" r:id="rId169"/>
    <p:sldId id="4102707" r:id="rId170"/>
    <p:sldId id="4102708" r:id="rId171"/>
    <p:sldId id="4102709" r:id="rId172"/>
    <p:sldId id="4102710" r:id="rId173"/>
    <p:sldId id="4102711" r:id="rId174"/>
    <p:sldId id="4102562" r:id="rId175"/>
    <p:sldId id="4102563" r:id="rId176"/>
    <p:sldId id="4102564" r:id="rId177"/>
    <p:sldId id="4102638" r:id="rId178"/>
    <p:sldId id="4102639" r:id="rId179"/>
    <p:sldId id="4102640" r:id="rId180"/>
    <p:sldId id="4102641" r:id="rId181"/>
    <p:sldId id="4102642" r:id="rId182"/>
    <p:sldId id="4102643" r:id="rId183"/>
    <p:sldId id="4102565" r:id="rId184"/>
    <p:sldId id="4102712" r:id="rId185"/>
    <p:sldId id="4102713" r:id="rId186"/>
    <p:sldId id="4102714" r:id="rId187"/>
    <p:sldId id="4102715" r:id="rId188"/>
    <p:sldId id="4102716" r:id="rId189"/>
    <p:sldId id="4102717" r:id="rId190"/>
    <p:sldId id="4102566" r:id="rId191"/>
    <p:sldId id="4102567" r:id="rId192"/>
    <p:sldId id="4102568" r:id="rId193"/>
    <p:sldId id="4102644" r:id="rId194"/>
    <p:sldId id="4102645" r:id="rId195"/>
    <p:sldId id="4102646" r:id="rId196"/>
    <p:sldId id="4102647" r:id="rId197"/>
    <p:sldId id="4102648" r:id="rId198"/>
    <p:sldId id="4102649" r:id="rId199"/>
    <p:sldId id="4102569" r:id="rId200"/>
    <p:sldId id="4102718" r:id="rId201"/>
    <p:sldId id="4102719" r:id="rId202"/>
    <p:sldId id="4102720" r:id="rId203"/>
    <p:sldId id="4102721" r:id="rId204"/>
    <p:sldId id="4102722" r:id="rId205"/>
    <p:sldId id="4102723" r:id="rId206"/>
    <p:sldId id="4102570" r:id="rId207"/>
    <p:sldId id="4102571" r:id="rId208"/>
    <p:sldId id="4102572" r:id="rId209"/>
    <p:sldId id="4102650" r:id="rId210"/>
    <p:sldId id="4102651" r:id="rId211"/>
    <p:sldId id="4102652" r:id="rId212"/>
    <p:sldId id="4102653" r:id="rId213"/>
    <p:sldId id="4102654" r:id="rId214"/>
    <p:sldId id="4102655" r:id="rId215"/>
    <p:sldId id="4102573" r:id="rId216"/>
    <p:sldId id="4102724" r:id="rId217"/>
    <p:sldId id="4102725" r:id="rId218"/>
    <p:sldId id="4102726" r:id="rId219"/>
    <p:sldId id="4102727" r:id="rId220"/>
    <p:sldId id="4102728" r:id="rId221"/>
    <p:sldId id="4102729" r:id="rId222"/>
    <p:sldId id="4102445" r:id="rId223"/>
    <p:sldId id="4102010" r:id="rId2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37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29"/>
    <p:restoredTop sz="94682"/>
  </p:normalViewPr>
  <p:slideViewPr>
    <p:cSldViewPr snapToGrid="0" showGuides="1">
      <p:cViewPr>
        <p:scale>
          <a:sx n="90" d="100"/>
          <a:sy n="90" d="100"/>
        </p:scale>
        <p:origin x="-32" y="816"/>
      </p:cViewPr>
      <p:guideLst>
        <p:guide orient="horz" pos="2156"/>
        <p:guide pos="37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8" Type="http://schemas.openxmlformats.org/officeDocument/2006/relationships/tableStyles" Target="tableStyles.xml"/><Relationship Id="rId227" Type="http://schemas.openxmlformats.org/officeDocument/2006/relationships/viewProps" Target="viewProps.xml"/><Relationship Id="rId226" Type="http://schemas.openxmlformats.org/officeDocument/2006/relationships/presProps" Target="presProps.xml"/><Relationship Id="rId225" Type="http://schemas.openxmlformats.org/officeDocument/2006/relationships/handoutMaster" Target="handoutMasters/handoutMaster1.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06E5E-8587-7944-A611-EE9F859B850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3D73E-6582-8C42-9592-FC2CEFA619E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6.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t>Click to edit Master title style</a:t>
            </a:r>
            <a:endParaRPr lang="en-US" dirty="0"/>
          </a:p>
        </p:txBody>
      </p:sp>
      <p:sp>
        <p:nvSpPr>
          <p:cNvPr id="6" name="Title 1"/>
          <p:cNvSpPr txBox="1"/>
          <p:nvPr userDrawn="1"/>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3300" dirty="0">
                <a:solidFill>
                  <a:schemeClr val="bg1">
                    <a:lumMod val="50000"/>
                  </a:schemeClr>
                </a:solidFill>
              </a:rPr>
              <a:t>[Date]</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8" name="TextBox 7"/>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3" name="Rectangle 2"/>
          <p:cNvSpPr/>
          <p:nvPr userDrawn="1"/>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Brief</a:t>
            </a:r>
            <a:endParaRPr lang="en-US" b="1" dirty="0">
              <a:solidFill>
                <a:srgbClr val="002060"/>
              </a:solidFill>
              <a:latin typeface="Century Gothic" panose="020B0502020202020204" pitchFamily="34" charset="0"/>
            </a:endParaRPr>
          </a:p>
        </p:txBody>
      </p:sp>
      <p:graphicFrame>
        <p:nvGraphicFramePr>
          <p:cNvPr id="4" name="Table 3"/>
          <p:cNvGraphicFramePr>
            <a:graphicFrameLocks noGrp="1"/>
          </p:cNvGraphicFramePr>
          <p:nvPr userDrawn="1"/>
        </p:nvGraphicFramePr>
        <p:xfrm>
          <a:off x="439939" y="882757"/>
          <a:ext cx="11407299" cy="5810186"/>
        </p:xfrm>
        <a:graphic>
          <a:graphicData uri="http://schemas.openxmlformats.org/drawingml/2006/table">
            <a:tbl>
              <a:tblPr>
                <a:tableStyleId>{5C22544A-7EE6-4342-B048-85BDC9FD1C3A}</a:tableStyleId>
              </a:tblPr>
              <a:tblGrid>
                <a:gridCol w="1492493"/>
                <a:gridCol w="949772"/>
                <a:gridCol w="1283396"/>
                <a:gridCol w="927100"/>
                <a:gridCol w="723900"/>
                <a:gridCol w="6030638"/>
              </a:tblGrid>
              <a:tr h="276893">
                <a:tc>
                  <a:txBody>
                    <a:bodyPr/>
                    <a:lstStyle/>
                    <a:p>
                      <a:pPr algn="ctr" fontAlgn="ctr"/>
                      <a:r>
                        <a:rPr lang="en-US" sz="1050" b="1" i="0" u="none" strike="noStrike" dirty="0">
                          <a:solidFill>
                            <a:srgbClr val="002060"/>
                          </a:solidFill>
                          <a:effectLst/>
                          <a:latin typeface="Verdana" panose="020B0804030504040204" pitchFamily="34" charset="0"/>
                        </a:rPr>
                        <a:t>Date</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Day</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Time (IST)</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Cur.</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Imp.</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Event</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804030504040204" pitchFamily="34" charset="0"/>
                        </a:rPr>
                        <a:t>[]</a:t>
                      </a:r>
                      <a:endParaRPr lang="en-US" sz="10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153">
                <a:tc gridSpan="6">
                  <a:txBody>
                    <a:bodyPr/>
                    <a:lstStyle/>
                    <a:p>
                      <a:pPr lvl="0" algn="ctr" fontAlgn="ctr"/>
                      <a:endParaRPr lang="en-US" sz="8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t>Click to edit Master title style</a:t>
            </a:r>
            <a:endParaRPr lang="en-US" dirty="0"/>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2000" b="1" dirty="0">
                <a:solidFill>
                  <a:srgbClr val="002060"/>
                </a:solidFill>
                <a:latin typeface="Century Gothic" panose="020B0502020202020204" pitchFamily="34" charset="0"/>
              </a:rPr>
              <a:t>[Event Name]</a:t>
            </a:r>
            <a:endParaRPr lang="en-US" sz="2000" b="1" dirty="0">
              <a:solidFill>
                <a:srgbClr val="002060"/>
              </a:solidFill>
              <a:latin typeface="Century Gothic" panose="020B05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Main Title 02">
    <p:bg>
      <p:bgRef idx="1001">
        <a:schemeClr val="bg2"/>
      </p:bgRef>
    </p:bg>
    <p:spTree>
      <p:nvGrpSpPr>
        <p:cNvPr id="1" name=""/>
        <p:cNvGrpSpPr/>
        <p:nvPr/>
      </p:nvGrpSpPr>
      <p:grpSpPr>
        <a:xfrm>
          <a:off x="0" y="0"/>
          <a:ext cx="0" cy="0"/>
          <a:chOff x="0" y="0"/>
          <a:chExt cx="0" cy="0"/>
        </a:xfrm>
      </p:grpSpPr>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8" name="Rectangle 7"/>
          <p:cNvSpPr/>
          <p:nvPr userDrawn="1"/>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502020202020204" pitchFamily="34" charset="0"/>
              </a:rPr>
              <a:t>[Event Name]</a:t>
            </a:r>
            <a:endParaRPr lang="en-US" sz="1800" b="1" dirty="0">
              <a:solidFill>
                <a:srgbClr val="002060"/>
              </a:solidFill>
              <a:latin typeface="Century Gothic" panose="020B0502020202020204" pitchFamily="34" charset="0"/>
            </a:endParaRPr>
          </a:p>
        </p:txBody>
      </p:sp>
      <p:graphicFrame>
        <p:nvGraphicFramePr>
          <p:cNvPr id="9" name="Table 8"/>
          <p:cNvGraphicFramePr>
            <a:graphicFrameLocks noGrp="1"/>
          </p:cNvGraphicFramePr>
          <p:nvPr userDrawn="1"/>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rtl="0" fontAlgn="ctr"/>
                      <a:r>
                        <a:rPr lang="en-US" sz="1800" b="1" i="0" u="none" strike="noStrike" dirty="0">
                          <a:solidFill>
                            <a:srgbClr val="000000"/>
                          </a:solidFill>
                          <a:effectLst/>
                          <a:latin typeface="Century Gothic" panose="020B0502020202020204" pitchFamily="34" charset="0"/>
                        </a:rPr>
                        <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502020202020204" pitchFamily="34" charset="0"/>
                        </a:rPr>
                        <a:t>[Event Name]</a:t>
                      </a:r>
                      <a:endParaRPr lang="en-US" sz="1800" b="1"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rtl="0" fontAlgn="ctr"/>
                      <a:r>
                        <a:rPr lang="en-US" sz="1800" b="1" i="0" u="none" strike="noStrike">
                          <a:solidFill>
                            <a:srgbClr val="000000"/>
                          </a:solidFill>
                          <a:effectLst/>
                          <a:latin typeface="Century Gothic" panose="020B0502020202020204" pitchFamily="34" charset="0"/>
                        </a:rPr>
                        <a:t>Description</a:t>
                      </a:r>
                      <a:endParaRPr lang="en-US" sz="1800" b="1" i="0" u="none" strike="noStrike">
                        <a:solidFill>
                          <a:srgbClr val="000000"/>
                        </a:solidFill>
                        <a:effectLst/>
                        <a:latin typeface="Century Gothic" panose="020B05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rtl="0" fontAlgn="ctr"/>
                      <a:r>
                        <a:rPr lang="en-US" sz="1800" b="1" i="0" u="none" strike="noStrike">
                          <a:solidFill>
                            <a:srgbClr val="000000"/>
                          </a:solidFill>
                          <a:effectLst/>
                          <a:latin typeface="Century Gothic" panose="020B0502020202020204" pitchFamily="34" charset="0"/>
                        </a:rPr>
                        <a:t>Actual:</a:t>
                      </a:r>
                      <a:endParaRPr lang="en-US" sz="1800" b="1" i="0" u="none" strike="noStrike">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502020202020204" pitchFamily="34" charset="0"/>
                        </a:rPr>
                        <a:t> </a:t>
                      </a:r>
                      <a:endParaRPr lang="en-US" sz="1800" b="1" i="0" u="none" strike="noStrike">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rtl="0" fontAlgn="ctr"/>
                      <a:endParaRPr lang="en-US" sz="900" b="0" i="0" u="none" strike="noStrike" dirty="0">
                        <a:solidFill>
                          <a:srgbClr val="000000"/>
                        </a:solidFill>
                        <a:effectLst/>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6500">
                <a:tc>
                  <a:txBody>
                    <a:bodyPr/>
                    <a:lstStyle/>
                    <a:p>
                      <a:pPr algn="l" rtl="0" fontAlgn="ctr"/>
                      <a:r>
                        <a:rPr lang="en-US" sz="1800" b="1" i="0" u="none" strike="noStrike">
                          <a:solidFill>
                            <a:srgbClr val="000000"/>
                          </a:solidFill>
                          <a:effectLst/>
                          <a:latin typeface="Century Gothic" panose="020B0502020202020204" pitchFamily="34" charset="0"/>
                        </a:rPr>
                        <a:t>Forecast:</a:t>
                      </a:r>
                      <a:endParaRPr lang="en-US" sz="1800" b="1" i="0" u="none" strike="noStrike">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502020202020204" pitchFamily="34" charset="0"/>
                        </a:rPr>
                        <a:t> </a:t>
                      </a:r>
                      <a:endParaRPr lang="en-US" sz="1800" b="1" i="0" u="none" strike="noStrike">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502020202020204" pitchFamily="34" charset="0"/>
                        </a:rPr>
                        <a:t>Previous:</a:t>
                      </a:r>
                      <a:endParaRPr lang="en-US" sz="1800" b="1" i="0" u="none" strike="noStrike">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502020202020204" pitchFamily="34" charset="0"/>
                        </a:rPr>
                        <a:t>Time (GMT):</a:t>
                      </a:r>
                      <a:endParaRPr lang="en-US" sz="1800" b="1" i="0" u="none" strike="noStrike">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502020202020204" pitchFamily="34" charset="0"/>
                        </a:rPr>
                        <a:t>Release Date</a:t>
                      </a:r>
                      <a:endParaRPr lang="en-US" sz="1800" b="1" i="0" u="none" strike="noStrike">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Actual</a:t>
                      </a:r>
                      <a:endParaRPr lang="en-US" sz="1800" b="1" i="0" u="none" strike="noStrike">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502020202020204" pitchFamily="34" charset="0"/>
                        </a:rPr>
                        <a:t>Forecast</a:t>
                      </a:r>
                      <a:endParaRPr lang="en-US" sz="1800" b="1" i="0" u="none" strike="noStrike">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dirty="0">
                          <a:solidFill>
                            <a:srgbClr val="000000"/>
                          </a:solidFill>
                          <a:effectLst/>
                          <a:latin typeface="Century Gothic" panose="020B0502020202020204" pitchFamily="34" charset="0"/>
                        </a:rPr>
                        <a:t>Previous</a:t>
                      </a:r>
                      <a:endParaRPr lang="en-US" sz="1800" b="1"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502020202020204" pitchFamily="34" charset="0"/>
                        </a:rPr>
                        <a:t>[date]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502020202020204" pitchFamily="34" charset="0"/>
                        </a:rPr>
                        <a:t>[date]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502020202020204" pitchFamily="34" charset="0"/>
                        </a:rPr>
                        <a:t>[date]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502020202020204" pitchFamily="34" charset="0"/>
                        </a:rPr>
                        <a:t>[date]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502020202020204" pitchFamily="34" charset="0"/>
                        </a:rPr>
                        <a:t>[date]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502020202020204" pitchFamily="34" charset="0"/>
                        </a:rPr>
                        <a:t>[date]</a:t>
                      </a:r>
                      <a:endParaRPr lang="en-US" sz="1800" b="1" i="0" u="none" strike="noStrike" dirty="0">
                        <a:solidFill>
                          <a:srgbClr val="000000"/>
                        </a:solidFill>
                        <a:effectLst/>
                        <a:latin typeface="Century Gothic" panose="020B05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5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
        <p:nvSpPr>
          <p:cNvPr id="11" name="TextBox 10"/>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2000" b="1" dirty="0">
                <a:solidFill>
                  <a:srgbClr val="002060"/>
                </a:solidFill>
                <a:latin typeface="Century Gothic" panose="020B0502020202020204" pitchFamily="34" charset="0"/>
              </a:rPr>
              <a:t>[Event Name]</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[asset name 1]</a:t>
            </a:r>
            <a:endParaRPr lang="en-US" sz="2000" b="1" dirty="0">
              <a:solidFill>
                <a:srgbClr val="002060"/>
              </a:solidFill>
              <a:latin typeface="Century Gothic" panose="020B05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2000" b="1" dirty="0">
                <a:solidFill>
                  <a:srgbClr val="002060"/>
                </a:solidFill>
                <a:latin typeface="Century Gothic" panose="020B0502020202020204" pitchFamily="34" charset="0"/>
              </a:rPr>
              <a:t>[Event Name]</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[asset name 2]</a:t>
            </a:r>
            <a:endParaRPr lang="en-US" sz="2000" b="1" dirty="0">
              <a:solidFill>
                <a:srgbClr val="002060"/>
              </a:solidFill>
              <a:latin typeface="Century Gothic" panose="020B05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fld id="{9C520731-65EA-CE43-94A5-88CA2912E5C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4CBB0-FF61-A741-B66C-72250AAD4BCF}" type="slidenum">
              <a:rPr lang="en-US" smtClean="0"/>
            </a:fld>
            <a:endParaRPr lang="en-US"/>
          </a:p>
        </p:txBody>
      </p:sp>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502020202020204" pitchFamily="34" charset="0"/>
              </a:rPr>
              <a:t>Quantwater Tech Investments </a:t>
            </a:r>
            <a:endParaRPr lang="en-US" sz="900" dirty="0">
              <a:solidFill>
                <a:schemeClr val="accent4">
                  <a:lumMod val="75000"/>
                </a:schemeClr>
              </a:solidFill>
              <a:latin typeface="Century Gothic" panose="020B0502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endParaRPr lang="en-US" dirty="0"/>
          </a:p>
        </p:txBody>
      </p:sp>
      <p:sp>
        <p:nvSpPr>
          <p:cNvPr id="3" name="Text Placeholder 2"/>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90204" pitchFamily="34" charset="0"/>
              </a:defRPr>
            </a:lvl1pPr>
          </a:lstStyle>
          <a:p>
            <a:endParaRPr lang="en-US" dirty="0"/>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604020202090204" pitchFamily="34" charset="0"/>
              </a:defRPr>
            </a:lvl1pPr>
          </a:lstStyle>
          <a:p>
            <a:fld id="{743B1F26-96D9-40A6-83AD-00943405493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604020202090204" pitchFamily="34" charset="0"/>
          <a:ea typeface="+mj-ea"/>
          <a:cs typeface="Arial" panose="020B0604020202090204" pitchFamily="34" charset="0"/>
        </a:defRPr>
      </a:lvl1pPr>
    </p:titleStyle>
    <p:bodyStyle>
      <a:lvl1pPr marL="0" indent="0" algn="l" defTabSz="914400" rtl="0" eaLnBrk="1" latinLnBrk="0" hangingPunct="1">
        <a:lnSpc>
          <a:spcPct val="90000"/>
        </a:lnSpc>
        <a:spcBef>
          <a:spcPts val="1000"/>
        </a:spcBef>
        <a:buFont typeface="Arial" panose="020B0604020202090204" pitchFamily="34" charset="0"/>
        <a:buNone/>
        <a:defRPr sz="2000" kern="1200">
          <a:solidFill>
            <a:srgbClr val="0E1120"/>
          </a:solidFill>
          <a:latin typeface="Arial" panose="020B0604020202090204" pitchFamily="34" charset="0"/>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400" kern="1200">
          <a:solidFill>
            <a:srgbClr val="0E1120"/>
          </a:solidFill>
          <a:latin typeface="Arial" panose="020B0604020202090204" pitchFamily="34" charset="0"/>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400" kern="1200">
          <a:solidFill>
            <a:srgbClr val="0E1120"/>
          </a:solidFill>
          <a:latin typeface="Arial" panose="020B0604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8.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5.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7.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8.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6.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4.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5.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6.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7.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8.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9.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0.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1.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2.pn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3.pn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4.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1.png"/></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2.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3.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4.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7.png"/></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8.png"/></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9.png"/></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1.pn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3.png"/></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4.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5.png"/></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6.png"/></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7.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8.png"/></Relationships>
</file>

<file path=ppt/slides/_rels/slide1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9.png"/></Relationships>
</file>

<file path=ppt/slides/_rels/slide1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0.png"/></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png"/></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2.png"/></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3.png"/></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4.png"/></Relationships>
</file>

<file path=ppt/slides/_rels/slide1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5.png"/></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6.png"/></Relationships>
</file>

<file path=ppt/slides/_rels/slide1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7.png"/></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8.png"/></Relationships>
</file>

<file path=ppt/slides/_rels/slide1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9.png"/></Relationships>
</file>

<file path=ppt/slides/_rels/slide1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0.png"/></Relationships>
</file>

<file path=ppt/slides/_rels/slide1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1.png"/></Relationships>
</file>

<file path=ppt/slides/_rels/slide1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2.png"/></Relationships>
</file>

<file path=ppt/slides/_rels/slide1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3.png"/></Relationships>
</file>

<file path=ppt/slides/_rels/slide1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4.png"/></Relationships>
</file>

<file path=ppt/slides/_rels/slide1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5.png"/></Relationships>
</file>

<file path=ppt/slides/_rels/slide1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6.png"/></Relationships>
</file>

<file path=ppt/slides/_rels/slide1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7.png"/></Relationships>
</file>

<file path=ppt/slides/_rels/slide1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8.png"/></Relationships>
</file>

<file path=ppt/slides/_rels/slide1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9.png"/></Relationships>
</file>

<file path=ppt/slides/_rels/slide1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0.png"/></Relationships>
</file>

<file path=ppt/slides/_rels/slide1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1.png"/></Relationships>
</file>

<file path=ppt/slides/_rels/slide1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2.png"/></Relationships>
</file>

<file path=ppt/slides/_rels/slide1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3.png"/></Relationships>
</file>

<file path=ppt/slides/_rels/slide1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4.png"/></Relationships>
</file>

<file path=ppt/slides/_rels/slide1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5.png"/></Relationships>
</file>

<file path=ppt/slides/_rels/slide1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6.png"/></Relationships>
</file>

<file path=ppt/slides/_rels/slide1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7.png"/></Relationships>
</file>

<file path=ppt/slides/_rels/slide1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8.png"/></Relationships>
</file>

<file path=ppt/slides/_rels/slide1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9.png"/></Relationships>
</file>

<file path=ppt/slides/_rels/slide1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0.png"/></Relationships>
</file>

<file path=ppt/slides/_rels/slide2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1.png"/></Relationships>
</file>

<file path=ppt/slides/_rels/slide2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2.png"/></Relationships>
</file>

<file path=ppt/slides/_rels/slide2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3.png"/></Relationships>
</file>

<file path=ppt/slides/_rels/slide2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4.png"/></Relationships>
</file>

<file path=ppt/slides/_rels/slide2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5.png"/></Relationships>
</file>

<file path=ppt/slides/_rels/slide2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6.png"/></Relationships>
</file>

<file path=ppt/slides/_rels/slide2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7.png"/></Relationships>
</file>

<file path=ppt/slides/_rels/slide2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8.png"/></Relationships>
</file>

<file path=ppt/slides/_rels/slide2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9.png"/></Relationships>
</file>

<file path=ppt/slides/_rels/slide2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0.png"/></Relationships>
</file>

<file path=ppt/slides/_rels/slide2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1.png"/></Relationships>
</file>

<file path=ppt/slides/_rels/slide2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2.png"/></Relationships>
</file>

<file path=ppt/slides/_rels/slide2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3.png"/></Relationships>
</file>

<file path=ppt/slides/_rels/slide2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4.png"/></Relationships>
</file>

<file path=ppt/slides/_rels/slide2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5.png"/></Relationships>
</file>

<file path=ppt/slides/_rels/slide2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6.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67.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3300" dirty="0">
                <a:solidFill>
                  <a:schemeClr val="bg1">
                    <a:lumMod val="50000"/>
                  </a:schemeClr>
                </a:solidFill>
              </a:rPr>
              <a:t>08</a:t>
            </a:r>
            <a:r>
              <a:rPr lang="en-US" sz="3300" baseline="30000" dirty="0">
                <a:solidFill>
                  <a:schemeClr val="bg1">
                    <a:lumMod val="50000"/>
                  </a:schemeClr>
                </a:solidFill>
              </a:rPr>
              <a:t>th</a:t>
            </a:r>
            <a:r>
              <a:rPr lang="en-US" sz="3300" dirty="0">
                <a:solidFill>
                  <a:schemeClr val="bg1">
                    <a:lumMod val="50000"/>
                  </a:schemeClr>
                </a:solidFill>
              </a:rPr>
              <a:t> September 2025</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18" name="Rectangle 17"/>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Brief</a:t>
            </a:r>
            <a:endParaRPr lang="en-US"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8" name="Table 7"/>
          <p:cNvGraphicFramePr>
            <a:graphicFrameLocks noGrp="1"/>
          </p:cNvGraphicFramePr>
          <p:nvPr/>
        </p:nvGraphicFramePr>
        <p:xfrm>
          <a:off x="440055" y="882650"/>
          <a:ext cx="11407140" cy="5600700"/>
        </p:xfrm>
        <a:graphic>
          <a:graphicData uri="http://schemas.openxmlformats.org/drawingml/2006/table">
            <a:tbl>
              <a:tblPr>
                <a:tableStyleId>{5C22544A-7EE6-4342-B048-85BDC9FD1C3A}</a:tableStyleId>
              </a:tblPr>
              <a:tblGrid>
                <a:gridCol w="1492250"/>
                <a:gridCol w="949960"/>
                <a:gridCol w="1283335"/>
                <a:gridCol w="927100"/>
                <a:gridCol w="723900"/>
                <a:gridCol w="6030595"/>
              </a:tblGrid>
              <a:tr h="345440">
                <a:tc>
                  <a:txBody>
                    <a:bodyPr/>
                    <a:lstStyle/>
                    <a:p>
                      <a:pPr algn="ctr" fontAlgn="ctr"/>
                      <a:r>
                        <a:rPr lang="en-US" sz="1050" b="1" i="0" u="none" strike="noStrike" dirty="0">
                          <a:solidFill>
                            <a:srgbClr val="002060"/>
                          </a:solidFill>
                          <a:effectLst/>
                          <a:latin typeface="Verdana" panose="020B0804030504040204" pitchFamily="34" charset="0"/>
                        </a:rPr>
                        <a:t>Date</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Day</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Time (IST)</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Cur.</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Imp.</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804030504040204" pitchFamily="34" charset="0"/>
                        </a:rPr>
                        <a:t>Event</a:t>
                      </a:r>
                      <a:endParaRPr lang="en-US" sz="1050" b="1" i="0" u="none" strike="noStrike" dirty="0">
                        <a:solidFill>
                          <a:srgbClr val="00206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08-Sep-25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Mon</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05:20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JPY</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JPY - GDP (QoQ) (Q2)</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9565">
                <a:tc>
                  <a:txBody>
                    <a:bodyPr/>
                    <a:lstStyle/>
                    <a:p>
                      <a:pPr algn="ctr" fontAlgn="ctr"/>
                      <a:r>
                        <a:rPr sz="1000" b="0" i="0">
                          <a:solidFill>
                            <a:srgbClr val="000000"/>
                          </a:solidFill>
                          <a:latin typeface="Century Gothic"/>
                          <a:ea typeface="Century Gothic"/>
                        </a:rPr>
                        <a:t>10-Sep-25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Wed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18:00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PPI (MoM) (Aug)</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10-Sep-25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Wed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22:30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Crude Oil Inventories</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930">
                <a:tc>
                  <a:txBody>
                    <a:bodyPr/>
                    <a:lstStyle/>
                    <a:p>
                      <a:pPr algn="ctr" fontAlgn="ctr"/>
                      <a:r>
                        <a:rPr sz="1000" b="0" i="0">
                          <a:solidFill>
                            <a:srgbClr val="000000"/>
                          </a:solidFill>
                          <a:latin typeface="Century Gothic"/>
                          <a:ea typeface="Century Gothic"/>
                        </a:rPr>
                        <a:t>10-Sep-25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Wed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22:30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- 10-Year Note Auction</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17:45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 - Deposit Facility Rate (Sep)</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9565">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17:45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 - ECB Interest Rate Decision (Sep)</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930">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18:00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Core CPI (MoM) (Aug)</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18:00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CPI (YoY) (Aug)</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9565">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18:00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CPI (MoM) (Aug)</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18:00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Initial Jobless Claims</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930">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18:15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 - ECB Press Conference</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11-Sep-25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Thur</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22:30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 - 30-Year Bond Auction</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9565">
                <a:tc>
                  <a:txBody>
                    <a:bodyPr/>
                    <a:lstStyle/>
                    <a:p>
                      <a:pPr algn="ctr" fontAlgn="ctr"/>
                      <a:r>
                        <a:rPr sz="1000" b="0" i="0">
                          <a:solidFill>
                            <a:srgbClr val="000000"/>
                          </a:solidFill>
                          <a:latin typeface="Century Gothic"/>
                          <a:ea typeface="Century Gothic"/>
                        </a:rPr>
                        <a:t>12-Sep-25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Fri</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11:30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GBP</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GBP - GDP (MoM) (Jul)</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930">
                <a:tc>
                  <a:txBody>
                    <a:bodyPr/>
                    <a:lstStyle/>
                    <a:p>
                      <a:pPr algn="ctr" fontAlgn="ctr"/>
                      <a:r>
                        <a:rPr sz="1000" b="0" i="0">
                          <a:solidFill>
                            <a:srgbClr val="000000"/>
                          </a:solidFill>
                          <a:latin typeface="Century Gothic"/>
                          <a:ea typeface="Century Gothic"/>
                        </a:rPr>
                        <a:t>12-Sep-25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Fri</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11:30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EUR - German CPI (MoM) (Aug)</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a:ea typeface="Century Gothic"/>
                        </a:rPr>
                        <a:t>17-Sep-25</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 </a:t>
                      </a:r>
                      <a:r>
                        <a:rPr sz="1000" b="0" i="0">
                          <a:solidFill>
                            <a:srgbClr val="000000"/>
                          </a:solidFill>
                          <a:latin typeface="Century Gothic"/>
                          <a:ea typeface="Century Gothic"/>
                        </a:rPr>
                        <a:t>Wed</a:t>
                      </a:r>
                      <a:r>
                        <a:rPr sz="1000" b="0" i="0">
                          <a:solidFill>
                            <a:srgbClr val="000000"/>
                          </a:solidFill>
                          <a:latin typeface="Century Gothic"/>
                          <a:ea typeface="Century Gothic"/>
                        </a:rPr>
                        <a:t> </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23:30</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USD</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3</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a:ea typeface="Century Gothic"/>
                        </a:rPr>
                        <a:t>Fed Interest Rate Decision</a:t>
                      </a:r>
                      <a:endParaRPr sz="1000" b="0" i="0">
                        <a:solidFill>
                          <a:srgbClr val="000000"/>
                        </a:solidFill>
                        <a:latin typeface="Century Gothic"/>
                        <a:ea typeface="Century Gothic"/>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3215">
                <a:tc gridSpan="6">
                  <a:txBody>
                    <a:bodyPr/>
                    <a:lstStyle/>
                    <a:p>
                      <a:pPr lvl="0" algn="ctr" fontAlgn="ctr"/>
                      <a:r>
                        <a:rPr lang="en-US" sz="800" b="0" i="0" u="none" strike="noStrike" dirty="0">
                          <a:solidFill>
                            <a:srgbClr val="000000"/>
                          </a:solidFill>
                          <a:effectLst/>
                          <a:latin typeface="Verdana" panose="020B0804030504040204" pitchFamily="34" charset="0"/>
                        </a:rPr>
                        <a:t>Annexure: Key Terms &amp; Links</a:t>
                      </a:r>
                      <a:endParaRPr lang="en-US" sz="800" b="0" i="0" u="none" strike="noStrike" dirty="0">
                        <a:solidFill>
                          <a:srgbClr val="000000"/>
                        </a:solidFill>
                        <a:effectLst/>
                        <a:latin typeface="Verdana" panose="020B08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JPY - GDP (QoQ) (Q2)</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JPY - GDP (QoQ) (Q2)</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JPY - GDP (QoQ) (Q2)</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Gross Domestic Product (GDP) measures the change in the inflation-adjusted value of all goods and services produced by the economy. It is the broadest measure of economic activity and the primary indicator of the economy's health.</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A reading that is stronger than forecast is generally supportive (bullish) for the JPY, while a weaker than forecast reading is generally negative (bearish) for the JPY.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EURJPY</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0.3%</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23:50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B0F0"/>
                          </a:solidFill>
                          <a:latin typeface="Century Gothic"/>
                          <a:ea typeface="Century Gothic"/>
                        </a:rPr>
                        <a:t>14-Aug-25</a:t>
                      </a:r>
                      <a:endParaRPr sz="1800" b="1" i="0">
                        <a:solidFill>
                          <a:srgbClr val="00B0F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B0F0"/>
                          </a:solidFill>
                          <a:latin typeface="Century Gothic"/>
                          <a:ea typeface="Century Gothic"/>
                        </a:rPr>
                        <a:t>08-Jun-25</a:t>
                      </a:r>
                      <a:endParaRPr sz="1800" b="1" i="0">
                        <a:solidFill>
                          <a:srgbClr val="00B0F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0.60%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B0F0"/>
                          </a:solidFill>
                          <a:latin typeface="Century Gothic"/>
                          <a:ea typeface="Century Gothic"/>
                        </a:rPr>
                        <a:t>15-May-25</a:t>
                      </a:r>
                      <a:endParaRPr sz="1800" b="1" i="0">
                        <a:solidFill>
                          <a:srgbClr val="00B0F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0.60%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B0F0"/>
                          </a:solidFill>
                          <a:latin typeface="Century Gothic"/>
                          <a:ea typeface="Century Gothic"/>
                        </a:rPr>
                        <a:t>10-Mar-25</a:t>
                      </a:r>
                      <a:endParaRPr sz="1800" b="1" i="0">
                        <a:solidFill>
                          <a:srgbClr val="00B0F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0.60%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0.70%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B0F0"/>
                          </a:solidFill>
                          <a:latin typeface="Century Gothic"/>
                          <a:ea typeface="Century Gothic"/>
                        </a:rPr>
                        <a:t>16-Feb-25</a:t>
                      </a:r>
                      <a:endParaRPr sz="1800" b="1" i="0">
                        <a:solidFill>
                          <a:srgbClr val="00B0F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0.70%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B0F0"/>
                          </a:solidFill>
                          <a:latin typeface="Century Gothic"/>
                          <a:ea typeface="Century Gothic"/>
                        </a:rPr>
                        <a:t>08-Dec-24</a:t>
                      </a:r>
                      <a:endParaRPr sz="1800" b="1" i="0">
                        <a:solidFill>
                          <a:srgbClr val="00B0F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JPY - GDP (QoQ) (Q2)</a:t>
            </a:r>
            <a:endParaRPr lang="en-US" altLang="en-US" sz="2000" dirty="0">
              <a:solidFill>
                <a:srgbClr val="002060"/>
              </a:solidFill>
              <a:latin typeface="Century Gothic" panose="020B0502020202020204" pitchFamily="34" charset="0"/>
              <a:sym typeface="+mn-ea"/>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41208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216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310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8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4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highlight>
                  <a:srgbClr val="000000">
                    <a:alpha val="0"/>
                  </a:srgbClr>
                </a:highlight>
                <a:latin typeface="Century Gothic" panose="020B0502020202020204" pitchFamily="34" charset="0"/>
                <a:sym typeface="+mn-ea"/>
              </a:rPr>
              <a:t>JPY - GDP (QoQ) (Q2)</a:t>
            </a:r>
            <a:endParaRPr lang="en-US" altLang="en-US" sz="2000" dirty="0">
              <a:solidFill>
                <a:srgbClr val="002060"/>
              </a:solidFill>
              <a:highlight>
                <a:srgbClr val="000000">
                  <a:alpha val="0"/>
                </a:srgbClr>
              </a:highlight>
              <a:latin typeface="Century Gothic" panose="020B0502020202020204" pitchFamily="34" charset="0"/>
              <a:sym typeface="+mn-ea"/>
            </a:endParaRPr>
          </a:p>
          <a:p>
            <a:r>
              <a:rPr lang="en-US" sz="2000" b="1" dirty="0">
                <a:solidFill>
                  <a:srgbClr val="002060"/>
                </a:solidFill>
                <a:highlight>
                  <a:srgbClr val="000000">
                    <a:alpha val="0"/>
                  </a:srgbClr>
                </a:highlight>
                <a:latin typeface="Century Gothic" panose="020B0502020202020204" pitchFamily="34" charset="0"/>
              </a:rPr>
              <a:t>EURJPY</a:t>
            </a:r>
            <a:endParaRPr lang="en-US" sz="2000" b="1" dirty="0">
              <a:solidFill>
                <a:srgbClr val="002060"/>
              </a:solidFill>
              <a:highlight>
                <a:srgbClr val="000000">
                  <a:alpha val="0"/>
                </a:srgbClr>
              </a:highlight>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41208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216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310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515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608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14_235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PPI (MoM) (Aug)</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PPI (MoM) (Aug)</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PPI (MoM) (Aug)</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Producer Price Index (PPI) measures a change in input prices of raw, semi-finished or finished goods and services. If input costs rise, some will be absorbed by the producer and some passed on to the consumer. Conversely, if input costs fall, some of the decline will be enjoyed as wider profit margins by the producer and some will be passed on to the consumer in the form of lower prices. Because PPI impacts consumer prices, it is watched by central bankers as part of fulfilling their mandate of price stability.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A reading that is stronger than forecast is generally supportive (bullish) for the USD, while a weaker than forecast reading is generally negative (bearish) for the USD.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0.90%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14-Aug-25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16-Jul-25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15-May-25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11-Apr-25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PPI (MoM) (Aug)</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3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PPI (MoM) (Aug)</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Crude Oil Inventories</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Crude Oil Inventories</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Crude Oil Inventories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Energy Information Administration's (EIA) Crude Oil Inventories measures the weekly change in the number of barrels of commercial crude oil held by US firms. The level of inventories influences the price of petroleum products, which can have an impact on inflation.</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If the increase in crude inventories is more than expected, it implies weaker demand and is bearish for crude prices. The same can be said if a decline in inventories is less than expected.</a:t>
                      </a:r>
                      <a:br>
                        <a:rPr sz="900" b="0" i="0">
                          <a:solidFill>
                            <a:srgbClr val="000000"/>
                          </a:solidFill>
                          <a:latin typeface="Century Gothic"/>
                          <a:ea typeface="Century Gothic"/>
                        </a:rPr>
                      </a:br>
                      <a:r>
                        <a:rPr sz="900" b="0" i="0">
                          <a:solidFill>
                            <a:srgbClr val="000000"/>
                          </a:solidFill>
                          <a:latin typeface="Century Gothic"/>
                          <a:ea typeface="Century Gothic"/>
                        </a:rPr>
                        <a:t>If the increase in crude is less than expected, it implies greater demand and is bullish for crude prices. The same can be said if a decline in inventories is more than expected.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USOILRoll</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2.415M</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17:00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04-Sep-25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27-Aug-25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-1.70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-6.01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20-Aug-25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-6.01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-0.80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3.036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3.036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-0.90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06-Aug-25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7.698</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30-Jul-25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7.698</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-3.16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Crude Oil Inventories</a:t>
            </a:r>
            <a:endParaRPr lang="en-US" altLang="en-US" sz="2000" dirty="0">
              <a:solidFill>
                <a:srgbClr val="002060"/>
              </a:solidFill>
              <a:latin typeface="Century Gothic" panose="020B0502020202020204" pitchFamily="34" charset="0"/>
              <a:sym typeface="+mn-ea"/>
            </a:endParaRPr>
          </a:p>
          <a:p>
            <a:r>
              <a:rPr lang="en-US" sz="2000" b="1" dirty="0">
                <a:solidFill>
                  <a:srgbClr val="002060"/>
                </a:solidFill>
                <a:latin typeface="Century Gothic" panose="020B0502020202020204" pitchFamily="34" charset="0"/>
              </a:rPr>
              <a:t>USOILRoll</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icture Placeholder 1"/>
          <p:cNvSpPr>
            <a:spLocks noGrp="1"/>
          </p:cNvSpPr>
          <p:nvPr>
            <p:ph type="pic" sz="quarter" idx="15"/>
          </p:nvPr>
        </p:nvSpPr>
        <p:spPr/>
      </p:sp>
      <p:sp>
        <p:nvSpPr>
          <p:cNvPr id="3" name="Title 2"/>
          <p:cNvSpPr>
            <a:spLocks noGrp="1"/>
          </p:cNvSpPr>
          <p:nvPr>
            <p:ph type="title"/>
          </p:nvPr>
        </p:nvSpPr>
        <p:spPr/>
        <p:txBody>
          <a:bodyPr/>
          <a:lstStyle/>
          <a:p/>
        </p:txBody>
      </p:sp>
      <p:pic>
        <p:nvPicPr>
          <p:cNvPr id="4" name="Picture 3" descr="USOILRoll_20250730_173000.png"/>
          <p:cNvPicPr>
            <a:picLocks noChangeAspect="1"/>
          </p:cNvPicPr>
          <p:nvPr/>
        </p:nvPicPr>
        <p:blipFill>
          <a:blip r:embed="rId1"/>
          <a:stretch>
            <a:fillRect/>
          </a:stretch>
        </p:blipFill>
        <p:spPr>
          <a:xfrm>
            <a:off x="0" y="0"/>
            <a:ext cx="11063522"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icture Placeholder 1"/>
          <p:cNvSpPr>
            <a:spLocks noGrp="1"/>
          </p:cNvSpPr>
          <p:nvPr>
            <p:ph type="pic" sz="quarter" idx="15"/>
          </p:nvPr>
        </p:nvSpPr>
        <p:spPr/>
      </p:sp>
      <p:sp>
        <p:nvSpPr>
          <p:cNvPr id="3" name="Title 2"/>
          <p:cNvSpPr>
            <a:spLocks noGrp="1"/>
          </p:cNvSpPr>
          <p:nvPr>
            <p:ph type="title"/>
          </p:nvPr>
        </p:nvSpPr>
        <p:spPr/>
        <p:txBody>
          <a:bodyPr/>
          <a:lstStyle/>
          <a:p/>
        </p:txBody>
      </p:sp>
      <p:pic>
        <p:nvPicPr>
          <p:cNvPr id="4" name="Picture 3" descr="USOILRoll_20250806_173000.png"/>
          <p:cNvPicPr>
            <a:picLocks noChangeAspect="1"/>
          </p:cNvPicPr>
          <p:nvPr/>
        </p:nvPicPr>
        <p:blipFill>
          <a:blip r:embed="rId1"/>
          <a:stretch>
            <a:fillRect/>
          </a:stretch>
        </p:blipFill>
        <p:spPr>
          <a:xfrm>
            <a:off x="0" y="0"/>
            <a:ext cx="11063522"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icture Placeholder 1"/>
          <p:cNvSpPr>
            <a:spLocks noGrp="1"/>
          </p:cNvSpPr>
          <p:nvPr>
            <p:ph type="pic" sz="quarter" idx="15"/>
          </p:nvPr>
        </p:nvSpPr>
        <p:spPr/>
      </p:sp>
      <p:sp>
        <p:nvSpPr>
          <p:cNvPr id="3" name="Title 2"/>
          <p:cNvSpPr>
            <a:spLocks noGrp="1"/>
          </p:cNvSpPr>
          <p:nvPr>
            <p:ph type="title"/>
          </p:nvPr>
        </p:nvSpPr>
        <p:spPr/>
        <p:txBody>
          <a:bodyPr/>
          <a:lstStyle/>
          <a:p/>
        </p:txBody>
      </p:sp>
      <p:pic>
        <p:nvPicPr>
          <p:cNvPr id="4" name="Picture 3" descr="USOILRoll_20250813_173000.png"/>
          <p:cNvPicPr>
            <a:picLocks noChangeAspect="1"/>
          </p:cNvPicPr>
          <p:nvPr/>
        </p:nvPicPr>
        <p:blipFill>
          <a:blip r:embed="rId1"/>
          <a:stretch>
            <a:fillRect/>
          </a:stretch>
        </p:blipFill>
        <p:spPr>
          <a:xfrm>
            <a:off x="0" y="0"/>
            <a:ext cx="11063522"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icture Placeholder 1"/>
          <p:cNvSpPr>
            <a:spLocks noGrp="1"/>
          </p:cNvSpPr>
          <p:nvPr>
            <p:ph type="pic" sz="quarter" idx="15"/>
          </p:nvPr>
        </p:nvSpPr>
        <p:spPr/>
      </p:sp>
      <p:sp>
        <p:nvSpPr>
          <p:cNvPr id="3" name="Title 2"/>
          <p:cNvSpPr>
            <a:spLocks noGrp="1"/>
          </p:cNvSpPr>
          <p:nvPr>
            <p:ph type="title"/>
          </p:nvPr>
        </p:nvSpPr>
        <p:spPr/>
        <p:txBody>
          <a:bodyPr/>
          <a:lstStyle/>
          <a:p/>
        </p:txBody>
      </p:sp>
      <p:pic>
        <p:nvPicPr>
          <p:cNvPr id="4" name="Picture 3" descr="USOILRoll_20250820_173000.png"/>
          <p:cNvPicPr>
            <a:picLocks noChangeAspect="1"/>
          </p:cNvPicPr>
          <p:nvPr/>
        </p:nvPicPr>
        <p:blipFill>
          <a:blip r:embed="rId1"/>
          <a:stretch>
            <a:fillRect/>
          </a:stretch>
        </p:blipFill>
        <p:spPr>
          <a:xfrm>
            <a:off x="0" y="0"/>
            <a:ext cx="11063522"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icture Placeholder 1"/>
          <p:cNvSpPr>
            <a:spLocks noGrp="1"/>
          </p:cNvSpPr>
          <p:nvPr>
            <p:ph type="pic" sz="quarter" idx="15"/>
          </p:nvPr>
        </p:nvSpPr>
        <p:spPr/>
      </p:sp>
      <p:sp>
        <p:nvSpPr>
          <p:cNvPr id="3" name="Title 2"/>
          <p:cNvSpPr>
            <a:spLocks noGrp="1"/>
          </p:cNvSpPr>
          <p:nvPr>
            <p:ph type="title"/>
          </p:nvPr>
        </p:nvSpPr>
        <p:spPr/>
        <p:txBody>
          <a:bodyPr/>
          <a:lstStyle/>
          <a:p/>
        </p:txBody>
      </p:sp>
      <p:pic>
        <p:nvPicPr>
          <p:cNvPr id="4" name="Picture 3" descr="USOILRoll_20250827_173000.png"/>
          <p:cNvPicPr>
            <a:picLocks noChangeAspect="1"/>
          </p:cNvPicPr>
          <p:nvPr/>
        </p:nvPicPr>
        <p:blipFill>
          <a:blip r:embed="rId1"/>
          <a:stretch>
            <a:fillRect/>
          </a:stretch>
        </p:blipFill>
        <p:spPr>
          <a:xfrm>
            <a:off x="0" y="0"/>
            <a:ext cx="11063522"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icture Placeholder 1"/>
          <p:cNvSpPr>
            <a:spLocks noGrp="1"/>
          </p:cNvSpPr>
          <p:nvPr>
            <p:ph type="pic" sz="quarter" idx="15"/>
          </p:nvPr>
        </p:nvSpPr>
        <p:spPr/>
      </p:sp>
      <p:sp>
        <p:nvSpPr>
          <p:cNvPr id="3" name="Title 2"/>
          <p:cNvSpPr>
            <a:spLocks noGrp="1"/>
          </p:cNvSpPr>
          <p:nvPr>
            <p:ph type="title"/>
          </p:nvPr>
        </p:nvSpPr>
        <p:spPr/>
        <p:txBody>
          <a:bodyPr/>
          <a:lstStyle/>
          <a:p/>
        </p:txBody>
      </p:sp>
      <p:pic>
        <p:nvPicPr>
          <p:cNvPr id="4" name="Picture 3" descr="USOILRoll_20250904_190000.png"/>
          <p:cNvPicPr>
            <a:picLocks noChangeAspect="1"/>
          </p:cNvPicPr>
          <p:nvPr/>
        </p:nvPicPr>
        <p:blipFill>
          <a:blip r:embed="rId1"/>
          <a:stretch>
            <a:fillRect/>
          </a:stretch>
        </p:blipFill>
        <p:spPr>
          <a:xfrm>
            <a:off x="0" y="0"/>
            <a:ext cx="11063522"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- 10-Year Note Auction</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- 10-Year Note Auction</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- 10-Year Note Auction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figures displayed in the calendar represent the yield on the Treasury Note auctioned.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U.S. Treasury Notes have maturities of two to ten years. Governments issue treasuries to borrow money to cover the gap between the amount they receive in taxes and the amount they spend to refinance existing debt and/or to raise capital. The rate on a Treasury Note represents the return an investor will receive by holding the note for its entire duration. All bidders receive the same rate at the highest accepted bid.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Yield fluctuations should be monitored closely as an indicator of the government debt situation. Investors compare the average rate at auction to the rate at previous auctions of the same security.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4.26%</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17:00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06-Aug-25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4.26%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4.36%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09-Jul-25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4.36%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4.42%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11-Jun-25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4.42%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4.34%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06-May-25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4.34%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4.44%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09-Apr-25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4.44%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4.31%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4.31%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4.63%</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- 10-Year Note Auction</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312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09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06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9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6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- 10-Year Note Auction</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2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09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06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8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9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6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Deposit Facility Rate (Sep)</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EUR - Deposit Facility Rate (Sep)</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EUR - Deposit Facility Rate (Sep)</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deposit facility is the rate which banks may use to make overnight deposits with the Eurosystem.]</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EURJPY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2.00%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12:15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24-Jul-25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05-Jun-25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17-Apr-25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06-Mar-25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2.75%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30-Jan-25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2.75%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2.75%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12-Dec-24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3.25%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Deposit Facility Rate (Sep)</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41212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130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306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417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605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2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Deposit Facility Rate (Sep)</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41212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130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06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7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5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2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ECB Interest Rate Decision (Sep)</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EUR - ECB Interest Rate Decision (Sep)</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EUR - ECB Interest Rate Decision (Sep)</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European Central Bank publishes its decision on where to set the benchmark interest rate. As short term interest rates are an important determinant of currency valuation, traders watch interest rate changes closely.</a:t>
                      </a:r>
                      <a:br>
                        <a:rPr sz="900" b="0" i="0">
                          <a:solidFill>
                            <a:srgbClr val="000000"/>
                          </a:solidFill>
                          <a:latin typeface="Century Gothic"/>
                          <a:ea typeface="Century Gothic"/>
                        </a:rPr>
                      </a:br>
                      <a:br>
                        <a:rPr sz="900" b="0" i="0">
                          <a:solidFill>
                            <a:srgbClr val="000000"/>
                          </a:solidFill>
                          <a:latin typeface="Century Gothic"/>
                          <a:ea typeface="Century Gothic"/>
                        </a:rPr>
                      </a:b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A reading that is stronger than forecast is generally supportive (bullish) for the EUR, while a weaker than forecast reading is generally negative (bearish) for the EUR.</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EURJPY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2.15%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2.15%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12:15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24-Jul-25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05-Jun-25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17-Apr-25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2.65%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06-Mar-25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2.65%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2.65%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2.90%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30-Jan-25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2.90%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2.90%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12-Dec-24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3.15%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ECB Interest Rate Decision (Sep)</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41212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130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306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417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605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2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ECB Interest Rate Decision (Sep)</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41212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130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06_13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7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5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2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Core CPI (MoM) (Aug)</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Core CPI (MoM) (Aug)</a:t>
            </a:r>
            <a:endParaRPr lang="en-US" alt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Core CPI (MoM) (Aug)</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Core Consumer Price Index (CPI) measures the changes in the price of goods and services, excluding food and energy. The Central bank pays very close attention to this figure in its role of maintaining price stability. Because the Fed believes that core inflation is a better gauge of underlying price pressures, it is more closely watched than overall inflation which tends to be more volatile.</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A reading that is stronger than forecast is generally supportive (bullish) for the USD, while a weaker than forecast reading is generally negative (bearish) for the USD.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15-Jul-25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725">
                <a:tc>
                  <a:txBody>
                    <a:bodyPr/>
                    <a:lstStyle/>
                    <a:p>
                      <a:pPr algn="l" fontAlgn="ctr"/>
                      <a:r>
                        <a:rPr sz="1800" b="1" i="0">
                          <a:solidFill>
                            <a:srgbClr val="000000"/>
                          </a:solidFill>
                          <a:latin typeface="Century Gothic"/>
                          <a:ea typeface="Century Gothic"/>
                        </a:rPr>
                        <a:t>11-Jun-25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10-Apr-25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Core CPI (MoM) (Aug)</a:t>
            </a:r>
            <a:endParaRPr lang="en-US" altLang="en-US" sz="2000" dirty="0">
              <a:solidFill>
                <a:srgbClr val="002060"/>
              </a:solidFill>
              <a:latin typeface="Century Gothic" panose="020B0502020202020204" pitchFamily="34" charset="0"/>
              <a:sym typeface="+mn-ea"/>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3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Core CPI (MoM) (Aug)</a:t>
            </a:r>
            <a:endParaRPr lang="en-US" altLang="en-US" sz="2000" dirty="0">
              <a:solidFill>
                <a:srgbClr val="002060"/>
              </a:solidFill>
              <a:latin typeface="Century Gothic" panose="020B0502020202020204" pitchFamily="34" charset="0"/>
              <a:sym typeface="+mn-ea"/>
            </a:endParaRPr>
          </a:p>
          <a:p>
            <a:r>
              <a:rPr lang="en-US" sz="2000" b="1" dirty="0">
                <a:solidFill>
                  <a:srgbClr val="002060"/>
                </a:solidFill>
                <a:latin typeface="Century Gothic" panose="020B0502020202020204" pitchFamily="34" charset="0"/>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CPI (YoY) (Aug)</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CPI (YoY) (Aug)</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CPI (YoY) (Aug)</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Consumer Price Index (CPI) measures the change in the prices of goods and services contained in a basket of consumer items. The Central bank pays very close attention to this figure in its role of maintaining price stability.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A reading that is stronger than forecast is generally supportive (bullish) for the USD, while a weaker than forecast reading is generally negative (bearish) for the USD.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2.70%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2.70%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2.80%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2.70%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15-Jul-25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2.70%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2.60%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11-Jun-25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10-Apr-25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2.80%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2.80%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2.90%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3.00%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CPI (YoY) (Aug)</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3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CPI (YoY) (Aug)</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CPI (MoM) (Aug)</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CPI (MoM) (Aug)</a:t>
            </a:r>
            <a:endParaRPr lang="en-US" alt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0" cy="5539105"/>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CPI (MoM) (Aug)</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Consumer Price Index (CPI) measures the change in the prices of goods and services contained in a basket of consumer items. The Central bank pays very close attention to this figure in its role of maintaining price stability.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A reading that is stronger than forecast is generally supportive (bullish) for the USD, while a weaker than forecast reading is generally negative (bearish) for the USD.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0767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0.20%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20:20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28-May-25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26-Feb-25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20-Nov-24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28-Aug-24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22-May-24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21-Feb-24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CPI (MoM) (Aug)</a:t>
            </a:r>
            <a:endParaRPr lang="en-US" alt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CPI (MoM) (Aug)</a:t>
            </a:r>
            <a:endParaRPr lang="en-US" alt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Initial Jobless Claims</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Initial Jobless Claims</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Initial Jobless Claims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Initial Jobless Claims measures the number of people who filed for unemployment insurance for the first time during the past week. This is the most timely U.S. economic data, but the market impact varies from week to week.</a:t>
                      </a:r>
                      <a:br>
                        <a:rPr sz="900" b="0" i="0">
                          <a:solidFill>
                            <a:srgbClr val="000000"/>
                          </a:solidFill>
                          <a:latin typeface="Century Gothic"/>
                          <a:ea typeface="Century Gothic"/>
                        </a:rPr>
                      </a:br>
                      <a:r>
                        <a:rPr sz="900" b="0" i="0">
                          <a:solidFill>
                            <a:srgbClr val="000000"/>
                          </a:solidFill>
                          <a:latin typeface="Century Gothic"/>
                          <a:ea typeface="Century Gothic"/>
                        </a:rPr>
                        <a:t>A reading that is higher than forecast is generally negative (bearish) for the USD, while a lower than forecast reading is generally supportive (bullish) for the USD.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237K</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04-Sep-25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237</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28-Aug-25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21-Aug-25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235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14-Aug-25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227</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07-Aug-25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226</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31-Jul-25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218</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222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217</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Initial Jobless Claims</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3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2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28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Initial Jobless Claims</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3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8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ECB Press Conference</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EUR - ECB Press Conference</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EUR - ECB Press Conference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European Central Bank (ECB) press conference is held monthly, about 45 minutes after the Minimum Bid Rate is announced. The conference is approximately an hour long and has two parts. Firstly, a prepared statement is read, then the conference is open to press questions. The press conference examines the factors which affected the ECB's interest rate decision and deals with the overall economic outlook and inflation. Most importantly, it provides clues regarding future monetary policy. High levels of volatility can frequently be observed during the press conference as press questions lead to unscripted answers.</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EURJPY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 </a:t>
                      </a:r>
                      <a:r>
                        <a:rPr sz="1800" b="1" i="0">
                          <a:solidFill>
                            <a:srgbClr val="000000"/>
                          </a:solidFill>
                          <a:latin typeface="Century Gothic"/>
                          <a:ea typeface="Century Gothic"/>
                        </a:rPr>
                        <a:t>-</a:t>
                      </a:r>
                      <a:r>
                        <a:rPr sz="1800" b="1" i="0">
                          <a:solidFill>
                            <a:srgbClr val="000000"/>
                          </a:solidFill>
                          <a:latin typeface="Century Gothic"/>
                          <a:ea typeface="Century Gothic"/>
                        </a:rPr>
                        <a:t>   </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12:45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24-Jul-25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05-Jun-25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17-Apr-25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06-Mar-25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30-Jan-25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12-Dec-24</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ECB Press Conference</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41212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130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306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417_12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605_12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24_12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ECB Press Conference</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41212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130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06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7_12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5_12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24_12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- 30-Year Bond Auction</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USD - 30-Year Bond Auction</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USD - 30-Year Bond Auction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figures displayed in the calendar represent the yield on the Treasury Bond auctioned.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U.S. Treasury Bonds have maturities from ten up to 30 years. Governments issue treasuries to borrow money to cover the gap between the amount they receive in taxes and the amount they spend to refinance existing debt and/or to raise capital. The rate on a Treasury Bond represents the return an investor will receive by holding the bond for its entire duration. All bidders receive the same rate at the highest accepted bid.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Yield fluctuations should be monitored closely as an indicator of the government debt situation. Investors compare the average rate at auction to the rate at previous auctions of the same security.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4.81%</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17:00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07-Aug-25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10-Jul-25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4.89%</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4.84%</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08-May-25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10-Apr-25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4.81%</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4.62%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4.62%</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4.75%</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- 30-Year Bond Auction</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USDJPY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313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08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2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0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7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USD - 30-Year Bond Auction</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313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08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2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0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7_1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GBP - GDP (MoM) (Jul)</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GBP - GDP (MoM) (Jul)</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GBP - GDP (MoM) (Jul)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figures displayed in the calendar represent the yield on the Treasury Bond auctioned.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U.S. Treasury Bonds have maturities from ten up to 30 years. Governments issue treasuries to borrow money to cover the gap between the amount they receive in taxes and the amount they spend to refinance existing debt and/or to raise capital. The rate on a Treasury Bond represents the return an investor will receive by holding the bond for its entire duration. All bidders receive the same rate at the highest accepted bid.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Yield fluctuations should be monitored closely as an indicator of the government debt situation. Investors compare the average rate at auction to the rate at previous auctions of the same security.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GBPJPY | GBPUSD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0.40%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06:00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14-Aug-25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11-Jul-25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12-Jun-25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15-May-25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11-Apr-25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0.50%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14-Mar-25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GBP - GDP (MoM) (Jul)</a:t>
            </a:r>
            <a:endParaRPr lang="en-US" altLang="en-US" sz="2000" dirty="0">
              <a:solidFill>
                <a:srgbClr val="002060"/>
              </a:solidFill>
              <a:latin typeface="Century Gothic" panose="020B0502020202020204" pitchFamily="34" charset="0"/>
              <a:sym typeface="+mn-ea"/>
            </a:endParaRPr>
          </a:p>
          <a:p>
            <a:r>
              <a:rPr lang="en-US" sz="2000" b="1" dirty="0">
                <a:solidFill>
                  <a:srgbClr val="002060"/>
                </a:solidFill>
                <a:latin typeface="Century Gothic" panose="020B0502020202020204" pitchFamily="34" charset="0"/>
              </a:rPr>
              <a:t>GBPJPY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314_0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4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515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6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7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814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GBP - GDP (MoM) (Jul)</a:t>
            </a:r>
            <a:endParaRPr lang="en-US" altLang="en-US" sz="2000" dirty="0">
              <a:solidFill>
                <a:srgbClr val="002060"/>
              </a:solidFill>
              <a:latin typeface="Century Gothic" panose="020B0502020202020204" pitchFamily="34" charset="0"/>
              <a:sym typeface="+mn-ea"/>
            </a:endParaRPr>
          </a:p>
          <a:p>
            <a:r>
              <a:rPr lang="en-US" sz="2000" dirty="0">
                <a:solidFill>
                  <a:srgbClr val="002060"/>
                </a:solidFill>
                <a:latin typeface="Century Gothic" panose="020B0502020202020204" pitchFamily="34" charset="0"/>
                <a:sym typeface="+mn-ea"/>
              </a:rPr>
              <a:t>GBPUSD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314_07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4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515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6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7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814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German CPI (MoM) (Aug)</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502020202020204" pitchFamily="34" charset="0"/>
              </a:rPr>
              <a:t>EUR - German CPI (MoM) (Aug)</a:t>
            </a:r>
            <a:endParaRPr lang="en-US" sz="1800"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800" b="1" i="0">
                          <a:solidFill>
                            <a:srgbClr val="000000"/>
                          </a:solidFill>
                          <a:latin typeface="Century Gothic"/>
                          <a:ea typeface="Century Gothic"/>
                        </a:rPr>
                        <a:t>Event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800" b="1" i="0">
                          <a:solidFill>
                            <a:srgbClr val="000000"/>
                          </a:solidFill>
                          <a:latin typeface="Century Gothic"/>
                          <a:ea typeface="Century Gothic"/>
                        </a:rPr>
                        <a:t>EUR - German CPI (MoM) (Aug)</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800" b="1" i="0">
                          <a:solidFill>
                            <a:srgbClr val="000000"/>
                          </a:solidFill>
                          <a:latin typeface="Century Gothic"/>
                          <a:ea typeface="Century Gothic"/>
                        </a:rPr>
                        <a:t>Description</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900" b="0" i="0">
                          <a:solidFill>
                            <a:srgbClr val="000000"/>
                          </a:solidFill>
                          <a:latin typeface="Century Gothic"/>
                          <a:ea typeface="Century Gothic"/>
                        </a:rPr>
                        <a:t>The figures displayed in the calendar represent the yield on the Treasury Bond auctioned.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U.S. Treasury Bonds have maturities from ten up to 30 years. Governments issue treasuries to borrow money to cover the gap between the amount they receive in taxes and the amount they spend to refinance existing debt and/or to raise capital. The rate on a Treasury Bond represents the return an investor will receive by holding the bond for its entire duration. All bidders receive the same rate at the highest accepted bid.</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Yield fluctuations should be monitored closely as an indicator of the government debt situation. Investors compare the average rate at auction to the rate at previous auctions of the same security.</a:t>
                      </a:r>
                      <a:br>
                        <a:rPr sz="900" b="0" i="0">
                          <a:solidFill>
                            <a:srgbClr val="000000"/>
                          </a:solidFill>
                          <a:latin typeface="Century Gothic"/>
                          <a:ea typeface="Century Gothic"/>
                        </a:rPr>
                      </a:br>
                      <a:br>
                        <a:rPr sz="900" b="0" i="0">
                          <a:solidFill>
                            <a:srgbClr val="000000"/>
                          </a:solidFill>
                          <a:latin typeface="Century Gothic"/>
                          <a:ea typeface="Century Gothic"/>
                        </a:rPr>
                      </a:br>
                      <a:r>
                        <a:rPr sz="900" b="0" i="0">
                          <a:solidFill>
                            <a:srgbClr val="000000"/>
                          </a:solidFill>
                          <a:latin typeface="Century Gothic"/>
                          <a:ea typeface="Century Gothic"/>
                        </a:rPr>
                        <a:t>Learn More: USDJPY | EURUSD</a:t>
                      </a:r>
                      <a:endParaRPr sz="9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0.10%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0.30%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Time (GMT):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800" b="1" i="0">
                          <a:solidFill>
                            <a:srgbClr val="000000"/>
                          </a:solidFill>
                          <a:latin typeface="Century Gothic"/>
                          <a:ea typeface="Century Gothic"/>
                        </a:rPr>
                        <a:t>06:00</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800" b="1" i="0">
                          <a:solidFill>
                            <a:srgbClr val="000000"/>
                          </a:solidFill>
                          <a:latin typeface="Century Gothic"/>
                          <a:ea typeface="Century Gothic"/>
                        </a:rPr>
                        <a:t>Release Date</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Actual</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Forecast</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1" i="0">
                          <a:solidFill>
                            <a:srgbClr val="000000"/>
                          </a:solidFill>
                          <a:latin typeface="Century Gothic"/>
                          <a:ea typeface="Century Gothic"/>
                        </a:rPr>
                        <a:t>Previous</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29-Aug-25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13-Aug-25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31-Jul-25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0.30%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10-Jul-25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30-Jun-25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0.00%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0.20%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800" b="1" i="0">
                          <a:solidFill>
                            <a:srgbClr val="000000"/>
                          </a:solidFill>
                          <a:latin typeface="Century Gothic"/>
                          <a:ea typeface="Century Gothic"/>
                        </a:rPr>
                        <a:t>13-Jun-25</a:t>
                      </a:r>
                      <a:endParaRPr sz="1800" b="1"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0.10%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800" b="0" i="0">
                          <a:solidFill>
                            <a:srgbClr val="000000"/>
                          </a:solidFill>
                          <a:latin typeface="Century Gothic"/>
                          <a:ea typeface="Century Gothic"/>
                        </a:rPr>
                        <a:t>0.40%</a:t>
                      </a:r>
                      <a:endParaRPr sz="1800" b="0" i="0">
                        <a:solidFill>
                          <a:srgbClr val="000000"/>
                        </a:solidFill>
                        <a:latin typeface="Century Gothic"/>
                        <a:ea typeface="Century Gothic"/>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German CPI (MoM) (Aug)</a:t>
            </a:r>
            <a:endParaRPr lang="en-US" sz="2000" b="1" dirty="0">
              <a:solidFill>
                <a:srgbClr val="002060"/>
              </a:solidFill>
              <a:latin typeface="Century Gothic" panose="020B0502020202020204" pitchFamily="34" charset="0"/>
            </a:endParaRPr>
          </a:p>
          <a:p>
            <a:r>
              <a:rPr lang="en-US" sz="2000" b="1" dirty="0">
                <a:solidFill>
                  <a:srgbClr val="002060"/>
                </a:solidFill>
                <a:latin typeface="Century Gothic" panose="020B0502020202020204" pitchFamily="34" charset="0"/>
              </a:rPr>
              <a:t>EURJPY</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613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63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10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31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13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29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altLang="en-US" sz="2000" dirty="0">
                <a:solidFill>
                  <a:srgbClr val="002060"/>
                </a:solidFill>
                <a:latin typeface="Century Gothic" panose="020B0502020202020204" pitchFamily="34" charset="0"/>
                <a:sym typeface="+mn-ea"/>
              </a:rPr>
              <a:t>EUR - German CPI (MoM) (Aug)</a:t>
            </a:r>
            <a:endParaRPr lang="en-US" sz="2000" b="1" dirty="0">
              <a:solidFill>
                <a:srgbClr val="002060"/>
              </a:solidFill>
              <a:latin typeface="Century Gothic" panose="020B0502020202020204" pitchFamily="34" charset="0"/>
            </a:endParaRPr>
          </a:p>
          <a:p>
            <a:r>
              <a:rPr lang="en-US" sz="2000" dirty="0">
                <a:solidFill>
                  <a:srgbClr val="002060"/>
                </a:solidFill>
                <a:latin typeface="Century Gothic" panose="020B0502020202020204" pitchFamily="34" charset="0"/>
                <a:sym typeface="+mn-ea"/>
              </a:rPr>
              <a:t>EURUSD</a:t>
            </a:r>
            <a:endParaRPr lang="en-US" sz="2000" b="1" dirty="0">
              <a:solidFill>
                <a:srgbClr val="002060"/>
              </a:solidFill>
              <a:latin typeface="Century Gothic" panose="020B05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3_1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3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0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31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3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9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502020202020204" pitchFamily="34" charset="0"/>
              </a:rPr>
              <a:t> </a:t>
            </a:r>
            <a:endParaRPr lang="en-US" sz="600" i="1" dirty="0">
              <a:solidFill>
                <a:srgbClr val="002060"/>
              </a:solidFill>
              <a:latin typeface="Century Gothic" panose="020B05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502020202020204" pitchFamily="34" charset="0"/>
              </a:rPr>
              <a:t>Important Information</a:t>
            </a:r>
            <a:endParaRPr lang="en-US" b="1" dirty="0">
              <a:solidFill>
                <a:srgbClr val="002060"/>
              </a:solidFill>
              <a:latin typeface="Century Gothic" panose="020B05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604020202090204" pitchFamily="34" charset="0"/>
              </a:rPr>
            </a:br>
            <a:br>
              <a:rPr kumimoji="0" lang="en-US" altLang="en-US" sz="1800" b="0" i="0" u="none" strike="noStrike" cap="none" normalizeH="0" baseline="0">
                <a:ln>
                  <a:noFill/>
                </a:ln>
                <a:solidFill>
                  <a:schemeClr val="tx1"/>
                </a:solidFill>
                <a:effectLst/>
                <a:latin typeface="Arial" panose="020B0604020202090204" pitchFamily="34" charset="0"/>
              </a:rPr>
            </a:br>
            <a:endParaRPr kumimoji="0" lang="en-US" altLang="en-US" sz="1800" b="0" i="0" u="none" strike="noStrike" cap="none" normalizeH="0" baseline="0">
              <a:ln>
                <a:noFill/>
              </a:ln>
              <a:solidFill>
                <a:schemeClr val="tx1"/>
              </a:solidFill>
              <a:effectLst/>
              <a:latin typeface="Arial" panose="020B0604020202090204" pitchFamily="34" charset="0"/>
            </a:endParaRPr>
          </a:p>
        </p:txBody>
      </p:sp>
      <p:sp>
        <p:nvSpPr>
          <p:cNvPr id="2" name="TextBox 1"/>
          <p:cNvSpPr txBox="1"/>
          <p:nvPr/>
        </p:nvSpPr>
        <p:spPr>
          <a:xfrm>
            <a:off x="738730" y="1563002"/>
            <a:ext cx="10206773" cy="2584450"/>
          </a:xfrm>
          <a:prstGeom prst="rect">
            <a:avLst/>
          </a:prstGeom>
          <a:noFill/>
        </p:spPr>
        <p:txBody>
          <a:bodyPr wrap="square">
            <a:spAutoFit/>
          </a:bodyPr>
          <a:lstStyle/>
          <a:p>
            <a:pPr algn="just"/>
            <a:endParaRPr lang="en-US" sz="900" dirty="0">
              <a:latin typeface="Century Gothic" panose="020B0502020202020204" pitchFamily="34" charset="0"/>
            </a:endParaRPr>
          </a:p>
          <a:p>
            <a:pPr algn="just"/>
            <a:r>
              <a:rPr lang="en-US" sz="900" b="1" dirty="0">
                <a:latin typeface="Century Gothic" panose="020B0502020202020204" pitchFamily="34" charset="0"/>
              </a:rPr>
              <a:t>Quantwater Tech Investments</a:t>
            </a:r>
            <a:endParaRPr lang="en-US" sz="900" b="1" dirty="0">
              <a:latin typeface="Century Gothic" panose="020B0502020202020204" pitchFamily="34" charset="0"/>
            </a:endParaRPr>
          </a:p>
          <a:p>
            <a:pPr algn="just"/>
            <a:r>
              <a:rPr lang="en-US" sz="900" b="1" dirty="0">
                <a:latin typeface="Century Gothic" panose="020B0502020202020204" pitchFamily="34" charset="0"/>
              </a:rPr>
              <a:t>Data Release Deck – 07th September 2025</a:t>
            </a:r>
            <a:endParaRPr lang="en-US" sz="900" b="1" dirty="0">
              <a:latin typeface="Century Gothic" panose="020B0502020202020204" pitchFamily="34" charset="0"/>
            </a:endParaRPr>
          </a:p>
          <a:p>
            <a:pPr algn="just"/>
            <a:endParaRPr lang="en-US" sz="900" dirty="0">
              <a:latin typeface="Century Gothic" panose="020B0502020202020204" pitchFamily="34" charset="0"/>
            </a:endParaRPr>
          </a:p>
          <a:p>
            <a:pPr algn="just"/>
            <a:r>
              <a:rPr lang="en-US" sz="900" dirty="0">
                <a:latin typeface="Century Gothic" panose="020B0502020202020204" pitchFamily="34" charset="0"/>
              </a:rPr>
              <a:t>This document is for informational purposes only and does not constitute investment advice, an offer, or a solicitation to buy or sell any securities or financial instruments.</a:t>
            </a:r>
            <a:endParaRPr lang="en-US" sz="900" dirty="0">
              <a:latin typeface="Century Gothic" panose="020B0502020202020204" pitchFamily="34" charset="0"/>
            </a:endParaRPr>
          </a:p>
          <a:p>
            <a:pPr algn="just"/>
            <a:br>
              <a:rPr lang="en-US" sz="900" dirty="0">
                <a:latin typeface="Century Gothic" panose="020B0502020202020204" pitchFamily="34" charset="0"/>
              </a:rPr>
            </a:br>
            <a:endParaRPr lang="en-US" sz="900" dirty="0">
              <a:latin typeface="Century Gothic" panose="020B0502020202020204" pitchFamily="34" charset="0"/>
            </a:endParaRPr>
          </a:p>
          <a:p>
            <a:pPr algn="just"/>
            <a:r>
              <a:rPr lang="en-US" sz="900" dirty="0">
                <a:latin typeface="Century Gothic" panose="020B0502020202020204" pitchFamily="34" charset="0"/>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endParaRPr lang="en-US" sz="900" dirty="0">
              <a:latin typeface="Century Gothic" panose="020B0502020202020204" pitchFamily="34" charset="0"/>
            </a:endParaRPr>
          </a:p>
          <a:p>
            <a:pPr algn="just"/>
            <a:br>
              <a:rPr lang="en-US" sz="900" dirty="0">
                <a:latin typeface="Century Gothic" panose="020B0502020202020204" pitchFamily="34" charset="0"/>
              </a:rPr>
            </a:br>
            <a:endParaRPr lang="en-US" sz="900" dirty="0">
              <a:latin typeface="Century Gothic" panose="020B0502020202020204" pitchFamily="34" charset="0"/>
            </a:endParaRPr>
          </a:p>
          <a:p>
            <a:pPr algn="just"/>
            <a:r>
              <a:rPr lang="en-US" sz="900" dirty="0">
                <a:latin typeface="Century Gothic" panose="020B0502020202020204" pitchFamily="34" charset="0"/>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endParaRPr lang="en-US" sz="900" dirty="0">
              <a:latin typeface="Century Gothic" panose="020B0502020202020204" pitchFamily="34" charset="0"/>
            </a:endParaRPr>
          </a:p>
          <a:p>
            <a:pPr algn="just"/>
            <a:br>
              <a:rPr lang="en-US" sz="900" dirty="0">
                <a:latin typeface="Century Gothic" panose="020B0502020202020204" pitchFamily="34" charset="0"/>
              </a:rPr>
            </a:br>
            <a:endParaRPr lang="en-US" sz="900" dirty="0">
              <a:latin typeface="Century Gothic" panose="020B0502020202020204" pitchFamily="34" charset="0"/>
            </a:endParaRPr>
          </a:p>
          <a:p>
            <a:pPr algn="just"/>
            <a:r>
              <a:rPr lang="en-US" sz="900" dirty="0">
                <a:latin typeface="Century Gothic" panose="020B0502020202020204" pitchFamily="34" charset="0"/>
              </a:rPr>
              <a:t>Neither Quantwater Tech Investments nor any of its affiliates, officers, or employees shall be liable for any direct or indirect losses arising from the use of this information. Any misrepresentation is strictly prohibited.</a:t>
            </a:r>
            <a:endParaRPr lang="en-US" sz="900" dirty="0">
              <a:latin typeface="Century Gothic" panose="020B0502020202020204" pitchFamily="34" charset="0"/>
            </a:endParaRPr>
          </a:p>
          <a:p>
            <a:pPr algn="just"/>
            <a:endParaRPr lang="en-US" sz="900" dirty="0">
              <a:latin typeface="Century Gothic" panose="020B0502020202020204" pitchFamily="34" charset="0"/>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8606" y="376150"/>
            <a:ext cx="5877454" cy="1765801"/>
          </a:xfrm>
        </p:spPr>
        <p:txBody>
          <a:bodyPr>
            <a:normAutofit/>
          </a:bodyPr>
          <a:lstStyle/>
          <a:p>
            <a:r>
              <a:rPr lang="en-US" dirty="0">
                <a:solidFill>
                  <a:schemeClr val="accent5">
                    <a:lumMod val="50000"/>
                  </a:schemeClr>
                </a:solidFill>
              </a:rPr>
              <a:t>Thank You!</a:t>
            </a:r>
            <a:endParaRPr lang="en-US" sz="1100" dirty="0">
              <a:solidFill>
                <a:schemeClr val="accent5">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a:solidFill>
                  <a:schemeClr val="bg1"/>
                </a:solidFill>
                <a:latin typeface="Arial" panose="020B0604020202090204" pitchFamily="34" charset="0"/>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rgbClr val="0E1120"/>
                </a:solidFill>
                <a:latin typeface="Arial" panose="020B0604020202090204" pitchFamily="34" charset="0"/>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rgbClr val="0E1120"/>
                </a:solidFill>
                <a:latin typeface="Arial" panose="020B0604020202090204" pitchFamily="34" charset="0"/>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rgbClr val="0E1120"/>
                </a:solidFill>
                <a:latin typeface="Arial" panose="020B0604020202090204" pitchFamily="34" charset="0"/>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a:pPr>
            <a:endParaRPr kumimoji="0" lang="en-US" sz="1800" b="1" i="0" u="none" strike="noStrike" kern="1200" cap="none" spc="0" normalizeH="0" baseline="0" noProof="0" dirty="0">
              <a:ln>
                <a:noFill/>
              </a:ln>
              <a:solidFill>
                <a:srgbClr val="111121"/>
              </a:solidFill>
              <a:effectLst/>
              <a:uLnTx/>
              <a:uFillTx/>
              <a:latin typeface="Arial" panose="020B0604020202090204" pitchFamily="34" charset="0"/>
              <a:ea typeface="+mn-ea"/>
              <a:cs typeface="Arial" panose="020B0604020202090204"/>
            </a:endParaRPr>
          </a:p>
        </p:txBody>
      </p:sp>
      <p:sp>
        <p:nvSpPr>
          <p:cNvPr id="9" name="Rectangle 8"/>
          <p:cNvSpPr/>
          <p:nvPr/>
        </p:nvSpPr>
        <p:spPr>
          <a:xfrm>
            <a:off x="1452282" y="6002963"/>
            <a:ext cx="8785412" cy="588337"/>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90204"/>
              <a:ea typeface="+mn-ea"/>
              <a:cs typeface="Arial" panose="020B0604020202090204"/>
            </a:endParaRPr>
          </a:p>
        </p:txBody>
      </p:sp>
      <p:pic>
        <p:nvPicPr>
          <p:cNvPr id="7" name="Picture 6" descr="A line drawn on a white background&#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rcRect b="15261"/>
          <a:stretch>
            <a:fillRect/>
          </a:stretch>
        </p:blipFill>
        <p:spPr>
          <a:xfrm>
            <a:off x="0" y="-24903"/>
            <a:ext cx="12192000" cy="5849438"/>
          </a:xfrm>
          <a:prstGeom prst="rect">
            <a:avLst/>
          </a:prstGeom>
        </p:spPr>
      </p:pic>
      <p:sp>
        <p:nvSpPr>
          <p:cNvPr id="10" name="Title 1"/>
          <p:cNvSpPr txBox="1"/>
          <p:nvPr/>
        </p:nvSpPr>
        <p:spPr>
          <a:xfrm>
            <a:off x="64860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3300" dirty="0">
                <a:solidFill>
                  <a:schemeClr val="accent3"/>
                </a:solidFill>
              </a:rPr>
              <a:t>Thank You!</a:t>
            </a:r>
            <a:endParaRPr lang="en-US" sz="3300" dirty="0">
              <a:solidFill>
                <a:schemeClr val="accent3"/>
              </a:solidFill>
            </a:endParaRPr>
          </a:p>
        </p:txBody>
      </p:sp>
      <p:sp>
        <p:nvSpPr>
          <p:cNvPr id="4" name="Title 1"/>
          <p:cNvSpPr txBox="1"/>
          <p:nvPr/>
        </p:nvSpPr>
        <p:spPr>
          <a:xfrm>
            <a:off x="1654446" y="6340302"/>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pPr algn="ctr"/>
            <a:r>
              <a:rPr lang="en-US" sz="3300" dirty="0">
                <a:solidFill>
                  <a:schemeClr val="accent5"/>
                </a:solidFill>
              </a:rPr>
              <a:t>Quantwater Tech Investments</a:t>
            </a:r>
            <a:endParaRPr lang="en-US" sz="3300" dirty="0">
              <a:solidFill>
                <a:schemeClr val="accent5"/>
              </a:solidFill>
            </a:endParaRPr>
          </a:p>
        </p:txBody>
      </p:sp>
      <p:sp>
        <p:nvSpPr>
          <p:cNvPr id="3" name="Title 1"/>
          <p:cNvSpPr txBox="1"/>
          <p:nvPr/>
        </p:nvSpPr>
        <p:spPr>
          <a:xfrm>
            <a:off x="731838"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604020202090204" pitchFamily="34" charset="0"/>
                <a:ea typeface="+mj-ea"/>
                <a:cs typeface="Arial" panose="020B0604020202090204" pitchFamily="34" charset="0"/>
              </a:defRPr>
            </a:lvl1pPr>
          </a:lstStyle>
          <a:p>
            <a:r>
              <a:rPr lang="en-US" sz="1500" dirty="0">
                <a:solidFill>
                  <a:schemeClr val="bg1">
                    <a:lumMod val="50000"/>
                  </a:schemeClr>
                </a:solidFill>
              </a:rPr>
              <a:t>Pawan Jatale</a:t>
            </a:r>
            <a:endParaRPr lang="en-US" sz="1500" dirty="0">
              <a:solidFill>
                <a:schemeClr val="bg1">
                  <a:lumMod val="50000"/>
                </a:schemeClr>
              </a:solidFill>
            </a:endParaRPr>
          </a:p>
          <a:p>
            <a:endParaRPr lang="en-US" sz="1500" dirty="0">
              <a:solidFill>
                <a:schemeClr val="bg1">
                  <a:lumMod val="50000"/>
                </a:schemeClr>
              </a:solidFill>
            </a:endParaRPr>
          </a:p>
          <a:p>
            <a:r>
              <a:rPr lang="en-US" sz="1500" dirty="0">
                <a:solidFill>
                  <a:schemeClr val="bg1">
                    <a:lumMod val="50000"/>
                  </a:schemeClr>
                </a:solidFill>
              </a:rPr>
              <a:t>pawan@quantwater.tech</a:t>
            </a:r>
            <a:endParaRPr lang="en-US" sz="1500" dirty="0">
              <a:solidFill>
                <a:schemeClr val="bg1">
                  <a:lumMod val="50000"/>
                </a:schemeClr>
              </a:solidFill>
            </a:endParaRPr>
          </a:p>
          <a:p>
            <a:endParaRPr lang="en-US" sz="1500" dirty="0">
              <a:solidFill>
                <a:schemeClr val="bg1">
                  <a:lumMod val="50000"/>
                </a:schemeClr>
              </a:solidFill>
            </a:endParaRPr>
          </a:p>
          <a:p>
            <a:r>
              <a:rPr lang="en-US" sz="1500" dirty="0">
                <a:solidFill>
                  <a:schemeClr val="bg1">
                    <a:lumMod val="50000"/>
                  </a:schemeClr>
                </a:solidFill>
              </a:rPr>
              <a:t>Founder</a:t>
            </a:r>
            <a:endParaRPr lang="en-US" sz="1500" dirty="0">
              <a:solidFill>
                <a:schemeClr val="bg1">
                  <a:lumMod val="50000"/>
                </a:schemeClr>
              </a:solidFill>
            </a:endParaRPr>
          </a:p>
        </p:txBody>
      </p:sp>
    </p:spTree>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99042</Words>
  <Application>WPS Presentation</Application>
  <PresentationFormat>Widescreen</PresentationFormat>
  <Paragraphs>2003</Paragraphs>
  <Slides>221</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221</vt:i4>
      </vt:variant>
    </vt:vector>
  </HeadingPairs>
  <TitlesOfParts>
    <vt:vector size="237" baseType="lpstr">
      <vt:lpstr>Arial</vt:lpstr>
      <vt:lpstr>SimSun</vt:lpstr>
      <vt:lpstr>Wingdings</vt:lpstr>
      <vt:lpstr>Century Gothic</vt:lpstr>
      <vt:lpstr>苹方-简</vt:lpstr>
      <vt:lpstr>Verdana</vt:lpstr>
      <vt:lpstr>Arial</vt:lpstr>
      <vt:lpstr>Microsoft YaHei</vt:lpstr>
      <vt:lpstr>汉仪旗黑</vt:lpstr>
      <vt:lpstr>Arial Unicode MS</vt:lpstr>
      <vt:lpstr>Aptos</vt:lpstr>
      <vt:lpstr>Helvetica Neue</vt:lpstr>
      <vt:lpstr>Century Gothic</vt:lpstr>
      <vt:lpstr>宋体-简</vt:lpstr>
      <vt:lpstr>Calibri</vt:lpstr>
      <vt:lpstr>TAQA Template</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Jatale</cp:lastModifiedBy>
  <cp:revision>33</cp:revision>
  <dcterms:created xsi:type="dcterms:W3CDTF">2025-09-07T15:12:51Z</dcterms:created>
  <dcterms:modified xsi:type="dcterms:W3CDTF">2025-09-07T15:12:51Z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52B62E00FC9CFE4C439FBC68CD7D1558_43</vt:lpwstr>
  </property>
  <property fmtid="{D5CDD505-2E9C-101B-9397-08002B2CF9AE}" pid="3" name="KSOProductBuildVer">
    <vt:lpwstr>1033-12.1.22527.22527</vt:lpwstr>
  </property>
</Properties>
</file>