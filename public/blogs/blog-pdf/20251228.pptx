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sldIdLst>
    <p:sldId id="4102630" r:id="rId3"/>
    <p:sldId id="4102631" r:id="rId4"/>
    <p:sldId id="4102632" r:id="rId6"/>
    <p:sldId id="4102633" r:id="rId7"/>
    <p:sldId id="4102634" r:id="rId8"/>
    <p:sldId id="4103448" r:id="rId9"/>
    <p:sldId id="4103449" r:id="rId10"/>
    <p:sldId id="4103450" r:id="rId11"/>
    <p:sldId id="4103451" r:id="rId12"/>
    <p:sldId id="4103452" r:id="rId13"/>
    <p:sldId id="4103453" r:id="rId14"/>
    <p:sldId id="4103386" r:id="rId15"/>
    <p:sldId id="4103387" r:id="rId16"/>
    <p:sldId id="4103388" r:id="rId17"/>
    <p:sldId id="4103406" r:id="rId18"/>
    <p:sldId id="4103407" r:id="rId19"/>
    <p:sldId id="4103408" r:id="rId20"/>
    <p:sldId id="4103409" r:id="rId21"/>
    <p:sldId id="4103410" r:id="rId22"/>
    <p:sldId id="4103411" r:id="rId23"/>
    <p:sldId id="4103389" r:id="rId24"/>
    <p:sldId id="4103425" r:id="rId25"/>
    <p:sldId id="4103426" r:id="rId26"/>
    <p:sldId id="4103427" r:id="rId27"/>
    <p:sldId id="4103428" r:id="rId28"/>
    <p:sldId id="4103429" r:id="rId29"/>
    <p:sldId id="4103430" r:id="rId30"/>
    <p:sldId id="4103390" r:id="rId31"/>
    <p:sldId id="4103391" r:id="rId32"/>
    <p:sldId id="4103393" r:id="rId33"/>
    <p:sldId id="4103431" r:id="rId34"/>
    <p:sldId id="4103432" r:id="rId35"/>
    <p:sldId id="4103433" r:id="rId36"/>
    <p:sldId id="4103434" r:id="rId37"/>
    <p:sldId id="4103394" r:id="rId38"/>
    <p:sldId id="4103395" r:id="rId39"/>
    <p:sldId id="4103396" r:id="rId40"/>
    <p:sldId id="4103412" r:id="rId41"/>
    <p:sldId id="4103413" r:id="rId42"/>
    <p:sldId id="4103414" r:id="rId43"/>
    <p:sldId id="4103415" r:id="rId44"/>
    <p:sldId id="4103416" r:id="rId45"/>
    <p:sldId id="4103417" r:id="rId46"/>
    <p:sldId id="4103397" r:id="rId47"/>
    <p:sldId id="4103435" r:id="rId48"/>
    <p:sldId id="4103436" r:id="rId49"/>
    <p:sldId id="4103437" r:id="rId50"/>
    <p:sldId id="4103438" r:id="rId51"/>
    <p:sldId id="4103439" r:id="rId52"/>
    <p:sldId id="4103440" r:id="rId53"/>
    <p:sldId id="4103398" r:id="rId54"/>
    <p:sldId id="4103399" r:id="rId55"/>
    <p:sldId id="4103400" r:id="rId56"/>
    <p:sldId id="4103418" r:id="rId57"/>
    <p:sldId id="4103419" r:id="rId58"/>
    <p:sldId id="4103420" r:id="rId59"/>
    <p:sldId id="4103421" r:id="rId60"/>
    <p:sldId id="4103422" r:id="rId61"/>
    <p:sldId id="4103423" r:id="rId62"/>
    <p:sldId id="4103401" r:id="rId63"/>
    <p:sldId id="4103441" r:id="rId64"/>
    <p:sldId id="4103442" r:id="rId65"/>
    <p:sldId id="4103443" r:id="rId66"/>
    <p:sldId id="4103444" r:id="rId67"/>
    <p:sldId id="4103445" r:id="rId68"/>
    <p:sldId id="4103446" r:id="rId69"/>
    <p:sldId id="4103402" r:id="rId70"/>
    <p:sldId id="4103403" r:id="rId71"/>
    <p:sldId id="4103404" r:id="rId72"/>
    <p:sldId id="4103424" r:id="rId73"/>
    <p:sldId id="4103405" r:id="rId74"/>
    <p:sldId id="4103447" r:id="rId75"/>
    <p:sldId id="4103384" r:id="rId76"/>
    <p:sldId id="4102636" r:id="rId77"/>
    <p:sldId id="4102637" r:id="rId78"/>
    <p:sldId id="4102638" r:id="rId7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6" userDrawn="1">
          <p15:clr>
            <a:srgbClr val="A4A3A4"/>
          </p15:clr>
        </p15:guide>
        <p15:guide id="2" pos="380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29"/>
    <p:restoredTop sz="94682"/>
  </p:normalViewPr>
  <p:slideViewPr>
    <p:cSldViewPr snapToGrid="0" showGuides="1">
      <p:cViewPr>
        <p:scale>
          <a:sx n="90" d="100"/>
          <a:sy n="90" d="100"/>
        </p:scale>
        <p:origin x="-32" y="816"/>
      </p:cViewPr>
      <p:guideLst>
        <p:guide orient="horz" pos="2156"/>
        <p:guide pos="380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2" Type="http://schemas.openxmlformats.org/officeDocument/2006/relationships/tableStyles" Target="tableStyles.xml"/><Relationship Id="rId81" Type="http://schemas.openxmlformats.org/officeDocument/2006/relationships/viewProps" Target="viewProps.xml"/><Relationship Id="rId80" Type="http://schemas.openxmlformats.org/officeDocument/2006/relationships/presProps" Target="presProps.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406E5E-8587-7944-A611-EE9F859B850F}"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A3D73E-6582-8C42-9592-FC2CEFA619E6}"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95B7C-AFC1-574C-80B2-E15C5CF966D6}"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95B7C-AFC1-574C-80B2-E15C5CF966D6}"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95B7C-AFC1-574C-80B2-E15C5CF966D6}"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95B7C-AFC1-574C-80B2-E15C5CF966D6}"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95B7C-AFC1-574C-80B2-E15C5CF966D6}"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95B7C-AFC1-574C-80B2-E15C5CF966D6}"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95B7C-AFC1-574C-80B2-E15C5CF966D6}"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95B7C-AFC1-574C-80B2-E15C5CF966D6}"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95B7C-AFC1-574C-80B2-E15C5CF966D6}"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image5.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image6.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image7.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 Title 02">
    <p:bg>
      <p:bgRef idx="1001">
        <a:schemeClr val="bg2"/>
      </p:bgRef>
    </p:bg>
    <p:spTree>
      <p:nvGrpSpPr>
        <p:cNvPr id="1" name=""/>
        <p:cNvGrpSpPr/>
        <p:nvPr/>
      </p:nvGrpSpPr>
      <p:grpSpPr>
        <a:xfrm>
          <a:off x="0" y="0"/>
          <a:ext cx="0" cy="0"/>
          <a:chOff x="0" y="0"/>
          <a:chExt cx="0" cy="0"/>
        </a:xfrm>
      </p:grpSpPr>
      <p:sp>
        <p:nvSpPr>
          <p:cNvPr id="12" name="Title 1"/>
          <p:cNvSpPr>
            <a:spLocks noGrp="1"/>
          </p:cNvSpPr>
          <p:nvPr>
            <p:ph type="ctrTitle"/>
          </p:nvPr>
        </p:nvSpPr>
        <p:spPr>
          <a:xfrm>
            <a:off x="353066" y="1550090"/>
            <a:ext cx="7746332" cy="2387600"/>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14" name="Subtitle 2"/>
          <p:cNvSpPr>
            <a:spLocks noGrp="1"/>
          </p:cNvSpPr>
          <p:nvPr>
            <p:ph type="subTitle" idx="1"/>
          </p:nvPr>
        </p:nvSpPr>
        <p:spPr>
          <a:xfrm>
            <a:off x="353066" y="4029765"/>
            <a:ext cx="7746332" cy="96745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2" name="Picture 1" descr="A line drawn on a white background&#10;&#10;Description automatically generated"/>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2470"/>
            <a:ext cx="12192000" cy="6902939"/>
          </a:xfrm>
          <a:prstGeom prst="rect">
            <a:avLst/>
          </a:prstGeom>
        </p:spPr>
      </p:pic>
      <p:sp>
        <p:nvSpPr>
          <p:cNvPr id="3" name="Rectangle 2"/>
          <p:cNvSpPr/>
          <p:nvPr userDrawn="1"/>
        </p:nvSpPr>
        <p:spPr>
          <a:xfrm>
            <a:off x="1604682" y="6017577"/>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txBox="1"/>
          <p:nvPr userDrawn="1"/>
        </p:nvSpPr>
        <p:spPr>
          <a:xfrm>
            <a:off x="801006" y="528550"/>
            <a:ext cx="3622769" cy="17658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endParaRPr lang="en-US" sz="1100" dirty="0">
              <a:solidFill>
                <a:schemeClr val="accent5">
                  <a:lumMod val="50000"/>
                </a:schemeClr>
              </a:solidFill>
            </a:endParaRPr>
          </a:p>
        </p:txBody>
      </p:sp>
      <p:sp>
        <p:nvSpPr>
          <p:cNvPr id="7" name="Title 1"/>
          <p:cNvSpPr txBox="1"/>
          <p:nvPr userDrawn="1"/>
        </p:nvSpPr>
        <p:spPr>
          <a:xfrm>
            <a:off x="266700" y="875170"/>
            <a:ext cx="6062980" cy="6869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t>Click to edit Master title style</a:t>
            </a:r>
            <a:endParaRPr lang="en-US" dirty="0"/>
          </a:p>
        </p:txBody>
      </p:sp>
      <p:sp>
        <p:nvSpPr>
          <p:cNvPr id="6" name="Title 1"/>
          <p:cNvSpPr txBox="1"/>
          <p:nvPr userDrawn="1"/>
        </p:nvSpPr>
        <p:spPr>
          <a:xfrm>
            <a:off x="6059020" y="3501931"/>
            <a:ext cx="5443870" cy="220035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sz="3300" dirty="0">
                <a:solidFill>
                  <a:schemeClr val="bg1">
                    <a:lumMod val="50000"/>
                  </a:schemeClr>
                </a:solidFill>
              </a:rPr>
              <a:t>[Date]</a:t>
            </a:r>
            <a:endParaRPr lang="en-US" sz="3300" dirty="0">
              <a:solidFill>
                <a:schemeClr val="bg1">
                  <a:lumMod val="50000"/>
                </a:schemeClr>
              </a:solidFill>
            </a:endParaRPr>
          </a:p>
          <a:p>
            <a:endParaRPr lang="en-US" sz="3300" dirty="0">
              <a:solidFill>
                <a:schemeClr val="bg1">
                  <a:lumMod val="50000"/>
                </a:schemeClr>
              </a:solidFill>
            </a:endParaRPr>
          </a:p>
          <a:p>
            <a:r>
              <a:rPr lang="en-US" sz="3300" dirty="0">
                <a:solidFill>
                  <a:schemeClr val="bg1">
                    <a:lumMod val="50000"/>
                  </a:schemeClr>
                </a:solidFill>
              </a:rPr>
              <a:t>Economic Data Releases &amp; Their Historical Impact on Assets</a:t>
            </a:r>
            <a:endParaRPr lang="en-US" sz="3300" dirty="0">
              <a:solidFill>
                <a:schemeClr val="bg1">
                  <a:lumMod val="50000"/>
                </a:schemeClr>
              </a:solidFill>
            </a:endParaRPr>
          </a:p>
        </p:txBody>
      </p:sp>
      <p:sp>
        <p:nvSpPr>
          <p:cNvPr id="8" name="TextBox 7"/>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able of content">
    <p:spTree>
      <p:nvGrpSpPr>
        <p:cNvPr id="1" name=""/>
        <p:cNvGrpSpPr/>
        <p:nvPr/>
      </p:nvGrpSpPr>
      <p:grpSpPr>
        <a:xfrm>
          <a:off x="0" y="0"/>
          <a:ext cx="0" cy="0"/>
          <a:chOff x="0" y="0"/>
          <a:chExt cx="0" cy="0"/>
        </a:xfrm>
      </p:grpSpPr>
      <p:pic>
        <p:nvPicPr>
          <p:cNvPr id="68" name="Graphic 6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93031" y="356848"/>
            <a:ext cx="1499507" cy="361950"/>
          </a:xfrm>
          <a:prstGeom prst="rect">
            <a:avLst/>
          </a:prstGeom>
        </p:spPr>
      </p:pic>
      <p:sp>
        <p:nvSpPr>
          <p:cNvPr id="3" name="Rectangle 2"/>
          <p:cNvSpPr/>
          <p:nvPr userDrawn="1"/>
        </p:nvSpPr>
        <p:spPr>
          <a:xfrm>
            <a:off x="439940" y="428750"/>
            <a:ext cx="11407299"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002060"/>
                </a:solidFill>
                <a:latin typeface="Century Gothic" panose="020B0702020202020204" pitchFamily="34" charset="0"/>
              </a:rPr>
              <a:t>Brief</a:t>
            </a:r>
            <a:endParaRPr lang="en-US" b="1" dirty="0">
              <a:solidFill>
                <a:srgbClr val="002060"/>
              </a:solidFill>
              <a:latin typeface="Century Gothic" panose="020B0702020202020204" pitchFamily="34" charset="0"/>
            </a:endParaRPr>
          </a:p>
        </p:txBody>
      </p:sp>
      <p:graphicFrame>
        <p:nvGraphicFramePr>
          <p:cNvPr id="4" name="Table 3"/>
          <p:cNvGraphicFramePr>
            <a:graphicFrameLocks noGrp="1"/>
          </p:cNvGraphicFramePr>
          <p:nvPr userDrawn="1"/>
        </p:nvGraphicFramePr>
        <p:xfrm>
          <a:off x="439939" y="882757"/>
          <a:ext cx="11407299" cy="5810186"/>
        </p:xfrm>
        <a:graphic>
          <a:graphicData uri="http://schemas.openxmlformats.org/drawingml/2006/table">
            <a:tbl>
              <a:tblPr>
                <a:tableStyleId>{5C22544A-7EE6-4342-B048-85BDC9FD1C3A}</a:tableStyleId>
              </a:tblPr>
              <a:tblGrid>
                <a:gridCol w="1492493"/>
                <a:gridCol w="949772"/>
                <a:gridCol w="1283396"/>
                <a:gridCol w="927100"/>
                <a:gridCol w="723900"/>
                <a:gridCol w="6030638"/>
              </a:tblGrid>
              <a:tr h="276893">
                <a:tc>
                  <a:txBody>
                    <a:bodyPr/>
                    <a:lstStyle/>
                    <a:p>
                      <a:pPr algn="ctr" fontAlgn="ctr"/>
                      <a:r>
                        <a:rPr lang="en-US" sz="1050" b="1" i="0" u="none" strike="noStrike" dirty="0">
                          <a:solidFill>
                            <a:srgbClr val="002060"/>
                          </a:solidFill>
                          <a:effectLst/>
                          <a:latin typeface="Verdana" panose="020B0804030504040204" pitchFamily="34" charset="0"/>
                        </a:rPr>
                        <a:t>Date</a:t>
                      </a:r>
                      <a:endParaRPr lang="en-US" sz="1050" b="1" i="0" u="none" strike="noStrike" dirty="0">
                        <a:solidFill>
                          <a:srgbClr val="00206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804030504040204" pitchFamily="34" charset="0"/>
                        </a:rPr>
                        <a:t>Day</a:t>
                      </a:r>
                      <a:endParaRPr lang="en-US" sz="1050" b="1" i="0" u="none" strike="noStrike" dirty="0">
                        <a:solidFill>
                          <a:srgbClr val="00206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804030504040204" pitchFamily="34" charset="0"/>
                        </a:rPr>
                        <a:t>Time (IST)</a:t>
                      </a:r>
                      <a:endParaRPr lang="en-US" sz="1050" b="1" i="0" u="none" strike="noStrike" dirty="0">
                        <a:solidFill>
                          <a:srgbClr val="00206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804030504040204" pitchFamily="34" charset="0"/>
                        </a:rPr>
                        <a:t>Cur.</a:t>
                      </a:r>
                      <a:endParaRPr lang="en-US" sz="1050" b="1" i="0" u="none" strike="noStrike" dirty="0">
                        <a:solidFill>
                          <a:srgbClr val="00206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804030504040204" pitchFamily="34" charset="0"/>
                        </a:rPr>
                        <a:t>Imp.</a:t>
                      </a:r>
                      <a:endParaRPr lang="en-US" sz="1050" b="1" i="0" u="none" strike="noStrike" dirty="0">
                        <a:solidFill>
                          <a:srgbClr val="00206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804030504040204" pitchFamily="34" charset="0"/>
                        </a:rPr>
                        <a:t>Event</a:t>
                      </a:r>
                      <a:endParaRPr lang="en-US" sz="1050" b="1" i="0" u="none" strike="noStrike" dirty="0">
                        <a:solidFill>
                          <a:srgbClr val="00206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9153">
                <a:tc gridSpan="6">
                  <a:txBody>
                    <a:bodyPr/>
                    <a:lstStyle/>
                    <a:p>
                      <a:pPr lvl="0" algn="ctr" fontAlgn="ctr"/>
                      <a:endParaRPr lang="en-US" sz="8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6" name="TextBox 5"/>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Main Title 02">
    <p:bg>
      <p:bgRef idx="1001">
        <a:schemeClr val="bg2"/>
      </p:bgRef>
    </p:bg>
    <p:spTree>
      <p:nvGrpSpPr>
        <p:cNvPr id="1" name=""/>
        <p:cNvGrpSpPr/>
        <p:nvPr/>
      </p:nvGrpSpPr>
      <p:grpSpPr>
        <a:xfrm>
          <a:off x="0" y="0"/>
          <a:ext cx="0" cy="0"/>
          <a:chOff x="0" y="0"/>
          <a:chExt cx="0" cy="0"/>
        </a:xfrm>
      </p:grpSpPr>
      <p:sp>
        <p:nvSpPr>
          <p:cNvPr id="12" name="Title 1"/>
          <p:cNvSpPr>
            <a:spLocks noGrp="1"/>
          </p:cNvSpPr>
          <p:nvPr>
            <p:ph type="ctrTitle"/>
          </p:nvPr>
        </p:nvSpPr>
        <p:spPr>
          <a:xfrm>
            <a:off x="353066" y="1550090"/>
            <a:ext cx="7746332" cy="2387600"/>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14" name="Subtitle 2"/>
          <p:cNvSpPr>
            <a:spLocks noGrp="1"/>
          </p:cNvSpPr>
          <p:nvPr>
            <p:ph type="subTitle" idx="1"/>
          </p:nvPr>
        </p:nvSpPr>
        <p:spPr>
          <a:xfrm>
            <a:off x="353066" y="4029765"/>
            <a:ext cx="7746332" cy="96745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2" name="Picture 1" descr="A line drawn on a white background&#10;&#10;Description automatically generated"/>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2470"/>
            <a:ext cx="12192000" cy="6902939"/>
          </a:xfrm>
          <a:prstGeom prst="rect">
            <a:avLst/>
          </a:prstGeom>
        </p:spPr>
      </p:pic>
      <p:sp>
        <p:nvSpPr>
          <p:cNvPr id="3" name="Rectangle 2"/>
          <p:cNvSpPr/>
          <p:nvPr userDrawn="1"/>
        </p:nvSpPr>
        <p:spPr>
          <a:xfrm>
            <a:off x="1604682" y="6017577"/>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txBox="1"/>
          <p:nvPr userDrawn="1"/>
        </p:nvSpPr>
        <p:spPr>
          <a:xfrm>
            <a:off x="801006" y="528550"/>
            <a:ext cx="3622769" cy="17658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endParaRPr lang="en-US" sz="1100" dirty="0">
              <a:solidFill>
                <a:schemeClr val="accent5">
                  <a:lumMod val="50000"/>
                </a:schemeClr>
              </a:solidFill>
            </a:endParaRPr>
          </a:p>
        </p:txBody>
      </p:sp>
      <p:sp>
        <p:nvSpPr>
          <p:cNvPr id="7" name="Title 1"/>
          <p:cNvSpPr txBox="1"/>
          <p:nvPr userDrawn="1"/>
        </p:nvSpPr>
        <p:spPr>
          <a:xfrm>
            <a:off x="266700" y="875170"/>
            <a:ext cx="6062980" cy="6869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t>Click to edit Master title style</a:t>
            </a:r>
            <a:endParaRPr lang="en-US" dirty="0"/>
          </a:p>
        </p:txBody>
      </p:sp>
      <p:sp>
        <p:nvSpPr>
          <p:cNvPr id="6" name="Title 1"/>
          <p:cNvSpPr txBox="1"/>
          <p:nvPr userDrawn="1"/>
        </p:nvSpPr>
        <p:spPr>
          <a:xfrm>
            <a:off x="484910" y="525923"/>
            <a:ext cx="5184370" cy="121715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sz="2000" b="1" dirty="0">
                <a:solidFill>
                  <a:srgbClr val="002060"/>
                </a:solidFill>
                <a:latin typeface="Century Gothic" panose="020B0702020202020204" pitchFamily="34" charset="0"/>
              </a:rPr>
              <a:t>[Event Name]</a:t>
            </a:r>
            <a:endParaRPr lang="en-US" sz="2000" b="1" dirty="0">
              <a:solidFill>
                <a:srgbClr val="002060"/>
              </a:solidFill>
              <a:latin typeface="Century Gothic" panose="020B0702020202020204" pitchFamily="34" charset="0"/>
            </a:endParaRPr>
          </a:p>
        </p:txBody>
      </p:sp>
      <p:sp>
        <p:nvSpPr>
          <p:cNvPr id="9" name="TextBox 8"/>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Main Title 02">
    <p:bg>
      <p:bgRef idx="1001">
        <a:schemeClr val="bg2"/>
      </p:bgRef>
    </p:bg>
    <p:spTree>
      <p:nvGrpSpPr>
        <p:cNvPr id="1" name=""/>
        <p:cNvGrpSpPr/>
        <p:nvPr/>
      </p:nvGrpSpPr>
      <p:grpSpPr>
        <a:xfrm>
          <a:off x="0" y="0"/>
          <a:ext cx="0" cy="0"/>
          <a:chOff x="0" y="0"/>
          <a:chExt cx="0" cy="0"/>
        </a:xfrm>
      </p:grpSpPr>
      <p:sp>
        <p:nvSpPr>
          <p:cNvPr id="4" name="Title 1"/>
          <p:cNvSpPr txBox="1"/>
          <p:nvPr userDrawn="1"/>
        </p:nvSpPr>
        <p:spPr>
          <a:xfrm>
            <a:off x="801006" y="528550"/>
            <a:ext cx="3622769" cy="17658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endParaRPr lang="en-US" sz="1100" dirty="0">
              <a:solidFill>
                <a:schemeClr val="accent5">
                  <a:lumMod val="50000"/>
                </a:schemeClr>
              </a:solidFill>
            </a:endParaRPr>
          </a:p>
        </p:txBody>
      </p:sp>
      <p:sp>
        <p:nvSpPr>
          <p:cNvPr id="8" name="Rectangle 7"/>
          <p:cNvSpPr/>
          <p:nvPr userDrawn="1"/>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rgbClr val="002060"/>
                </a:solidFill>
                <a:latin typeface="Century Gothic" panose="020B0702020202020204" pitchFamily="34" charset="0"/>
              </a:rPr>
              <a:t>[Event Name]</a:t>
            </a:r>
            <a:endParaRPr lang="en-US" sz="1800" b="1" dirty="0">
              <a:solidFill>
                <a:srgbClr val="002060"/>
              </a:solidFill>
              <a:latin typeface="Century Gothic" panose="020B0702020202020204" pitchFamily="34" charset="0"/>
            </a:endParaRPr>
          </a:p>
        </p:txBody>
      </p:sp>
      <p:graphicFrame>
        <p:nvGraphicFramePr>
          <p:cNvPr id="9" name="Table 8"/>
          <p:cNvGraphicFramePr>
            <a:graphicFrameLocks noGrp="1"/>
          </p:cNvGraphicFramePr>
          <p:nvPr userDrawn="1"/>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rtl="0" fontAlgn="ctr"/>
                      <a:r>
                        <a:rPr lang="en-US" sz="1800" b="1" i="0" u="none" strike="noStrike" dirty="0">
                          <a:solidFill>
                            <a:srgbClr val="000000"/>
                          </a:solidFill>
                          <a:effectLst/>
                          <a:latin typeface="Century Gothic" panose="020B0702020202020204" pitchFamily="34" charset="0"/>
                        </a:rPr>
                        <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rtl="0" fontAlgn="ctr"/>
                      <a:r>
                        <a:rPr lang="en-US" sz="1800" b="1" i="0" u="none" strike="noStrike" dirty="0">
                          <a:solidFill>
                            <a:srgbClr val="000000"/>
                          </a:solidFill>
                          <a:effectLst/>
                          <a:latin typeface="Century Gothic" panose="020B0702020202020204" pitchFamily="34" charset="0"/>
                        </a:rPr>
                        <a:t>[Event Name]</a:t>
                      </a:r>
                      <a:endParaRPr lang="en-US" sz="1800" b="1"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rtl="0" fontAlgn="ctr"/>
                      <a:r>
                        <a:rPr lang="en-US" sz="1800" b="1" i="0" u="none" strike="noStrike">
                          <a:solidFill>
                            <a:srgbClr val="000000"/>
                          </a:solidFill>
                          <a:effectLst/>
                          <a:latin typeface="Century Gothic" panose="020B0702020202020204" pitchFamily="34" charset="0"/>
                        </a:rPr>
                        <a:t>Description</a:t>
                      </a:r>
                      <a:endParaRPr lang="en-US" sz="1800" b="1" i="0" u="none" strike="noStrike">
                        <a:solidFill>
                          <a:srgbClr val="000000"/>
                        </a:solidFill>
                        <a:effectLst/>
                        <a:latin typeface="Century Gothic" panose="020B0702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rtl="0" fontAlgn="ctr"/>
                      <a:r>
                        <a:rPr lang="en-US" sz="1800" b="1" i="0" u="none" strike="noStrike">
                          <a:solidFill>
                            <a:srgbClr val="000000"/>
                          </a:solidFill>
                          <a:effectLst/>
                          <a:latin typeface="Century Gothic" panose="020B0702020202020204" pitchFamily="34" charset="0"/>
                        </a:rPr>
                        <a:t>Actual:</a:t>
                      </a:r>
                      <a:endParaRPr lang="en-US" sz="1800" b="1" i="0" u="none" strike="noStrike">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rtl="0" fontAlgn="ctr"/>
                      <a:r>
                        <a:rPr lang="en-US" sz="1800" b="1" i="0" u="none" strike="noStrike">
                          <a:solidFill>
                            <a:srgbClr val="000000"/>
                          </a:solidFill>
                          <a:effectLst/>
                          <a:latin typeface="Century Gothic" panose="020B0702020202020204" pitchFamily="34" charset="0"/>
                        </a:rPr>
                        <a:t> </a:t>
                      </a:r>
                      <a:endParaRPr lang="en-US" sz="1800" b="1" i="0" u="none" strike="noStrike">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rtl="0" fontAlgn="ctr"/>
                      <a:endParaRPr lang="en-US" sz="900" b="0" i="0" u="none" strike="noStrike" dirty="0">
                        <a:solidFill>
                          <a:srgbClr val="000000"/>
                        </a:solidFill>
                        <a:effectLst/>
                        <a:latin typeface="Century Gothic" panose="020B0702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66500">
                <a:tc>
                  <a:txBody>
                    <a:bodyPr/>
                    <a:lstStyle/>
                    <a:p>
                      <a:pPr algn="l" rtl="0" fontAlgn="ctr"/>
                      <a:r>
                        <a:rPr lang="en-US" sz="1800" b="1" i="0" u="none" strike="noStrike">
                          <a:solidFill>
                            <a:srgbClr val="000000"/>
                          </a:solidFill>
                          <a:effectLst/>
                          <a:latin typeface="Century Gothic" panose="020B0702020202020204" pitchFamily="34" charset="0"/>
                        </a:rPr>
                        <a:t>Forecast:</a:t>
                      </a:r>
                      <a:endParaRPr lang="en-US" sz="1800" b="1" i="0" u="none" strike="noStrike">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rtl="0" fontAlgn="ctr"/>
                      <a:r>
                        <a:rPr lang="en-US" sz="1800" b="1" i="0" u="none" strike="noStrike">
                          <a:solidFill>
                            <a:srgbClr val="000000"/>
                          </a:solidFill>
                          <a:effectLst/>
                          <a:latin typeface="Century Gothic" panose="020B0702020202020204" pitchFamily="34" charset="0"/>
                        </a:rPr>
                        <a:t> </a:t>
                      </a:r>
                      <a:endParaRPr lang="en-US" sz="1800" b="1" i="0" u="none" strike="noStrike">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rtl="0" fontAlgn="ctr"/>
                      <a:r>
                        <a:rPr lang="en-US" sz="1800" b="1" i="0" u="none" strike="noStrike">
                          <a:solidFill>
                            <a:srgbClr val="000000"/>
                          </a:solidFill>
                          <a:effectLst/>
                          <a:latin typeface="Century Gothic" panose="020B0702020202020204" pitchFamily="34" charset="0"/>
                        </a:rPr>
                        <a:t>Previous:</a:t>
                      </a:r>
                      <a:endParaRPr lang="en-US" sz="1800" b="1" i="0" u="none" strike="noStrike">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rtl="0" fontAlgn="ctr"/>
                      <a:endParaRPr lang="en-US" sz="1800" b="1"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rtl="0" fontAlgn="ctr"/>
                      <a:r>
                        <a:rPr lang="en-US" sz="1800" b="1" i="0" u="none" strike="noStrike">
                          <a:solidFill>
                            <a:srgbClr val="000000"/>
                          </a:solidFill>
                          <a:effectLst/>
                          <a:latin typeface="Century Gothic" panose="020B0702020202020204" pitchFamily="34" charset="0"/>
                        </a:rPr>
                        <a:t>Time (GMT):</a:t>
                      </a:r>
                      <a:endParaRPr lang="en-US" sz="1800" b="1" i="0" u="none" strike="noStrike">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rtl="0" fontAlgn="ctr"/>
                      <a:endParaRPr lang="en-US" sz="1800" b="1"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rtl="0" fontAlgn="ctr"/>
                      <a:r>
                        <a:rPr lang="en-US" sz="1800" b="1" i="0" u="none" strike="noStrike">
                          <a:solidFill>
                            <a:srgbClr val="000000"/>
                          </a:solidFill>
                          <a:effectLst/>
                          <a:latin typeface="Century Gothic" panose="020B0702020202020204" pitchFamily="34" charset="0"/>
                        </a:rPr>
                        <a:t>Release Date</a:t>
                      </a:r>
                      <a:endParaRPr lang="en-US" sz="1800" b="1" i="0" u="none" strike="noStrike">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r>
                        <a:rPr lang="en-US" sz="1800" b="1" i="0" u="none" strike="noStrike">
                          <a:solidFill>
                            <a:srgbClr val="000000"/>
                          </a:solidFill>
                          <a:effectLst/>
                          <a:latin typeface="Century Gothic" panose="020B0702020202020204" pitchFamily="34" charset="0"/>
                        </a:rPr>
                        <a:t>Actual</a:t>
                      </a:r>
                      <a:endParaRPr lang="en-US" sz="1800" b="1" i="0" u="none" strike="noStrike">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r>
                        <a:rPr lang="en-US" sz="1800" b="1" i="0" u="none" strike="noStrike">
                          <a:solidFill>
                            <a:srgbClr val="000000"/>
                          </a:solidFill>
                          <a:effectLst/>
                          <a:latin typeface="Century Gothic" panose="020B0702020202020204" pitchFamily="34" charset="0"/>
                        </a:rPr>
                        <a:t>Forecast</a:t>
                      </a:r>
                      <a:endParaRPr lang="en-US" sz="1800" b="1" i="0" u="none" strike="noStrike">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r>
                        <a:rPr lang="en-US" sz="1800" b="1" i="0" u="none" strike="noStrike" dirty="0">
                          <a:solidFill>
                            <a:srgbClr val="000000"/>
                          </a:solidFill>
                          <a:effectLst/>
                          <a:latin typeface="Century Gothic" panose="020B0702020202020204" pitchFamily="34" charset="0"/>
                        </a:rPr>
                        <a:t>Previous</a:t>
                      </a:r>
                      <a:endParaRPr lang="en-US" sz="1800" b="1"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702020202020204" pitchFamily="34" charset="0"/>
                        </a:rPr>
                        <a:t>[date]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702020202020204" pitchFamily="34" charset="0"/>
                        </a:rPr>
                        <a:t>[date]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702020202020204" pitchFamily="34" charset="0"/>
                        </a:rPr>
                        <a:t>[date]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702020202020204" pitchFamily="34" charset="0"/>
                        </a:rPr>
                        <a:t>[date]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702020202020204" pitchFamily="34" charset="0"/>
                        </a:rPr>
                        <a:t>[date]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702020202020204" pitchFamily="34" charset="0"/>
                        </a:rPr>
                        <a:t>[date]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
        <p:nvSpPr>
          <p:cNvPr id="11" name="TextBox 10"/>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Main Title 02">
    <p:bg>
      <p:bgRef idx="1001">
        <a:schemeClr val="bg2"/>
      </p:bgRef>
    </p:bg>
    <p:spTree>
      <p:nvGrpSpPr>
        <p:cNvPr id="1" name=""/>
        <p:cNvGrpSpPr/>
        <p:nvPr/>
      </p:nvGrpSpPr>
      <p:grpSpPr>
        <a:xfrm>
          <a:off x="0" y="0"/>
          <a:ext cx="0" cy="0"/>
          <a:chOff x="0" y="0"/>
          <a:chExt cx="0" cy="0"/>
        </a:xfrm>
      </p:grpSpPr>
      <p:sp>
        <p:nvSpPr>
          <p:cNvPr id="12" name="Title 1"/>
          <p:cNvSpPr>
            <a:spLocks noGrp="1"/>
          </p:cNvSpPr>
          <p:nvPr>
            <p:ph type="ctrTitle"/>
          </p:nvPr>
        </p:nvSpPr>
        <p:spPr>
          <a:xfrm>
            <a:off x="353066" y="1550090"/>
            <a:ext cx="7746332" cy="2387600"/>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14" name="Subtitle 2"/>
          <p:cNvSpPr>
            <a:spLocks noGrp="1"/>
          </p:cNvSpPr>
          <p:nvPr>
            <p:ph type="subTitle" idx="1"/>
          </p:nvPr>
        </p:nvSpPr>
        <p:spPr>
          <a:xfrm>
            <a:off x="353066" y="4029765"/>
            <a:ext cx="7746332" cy="96745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2" name="Picture 1" descr="A line drawn on a white background&#10;&#10;Description automatically generated"/>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2470"/>
            <a:ext cx="12192000" cy="6902939"/>
          </a:xfrm>
          <a:prstGeom prst="rect">
            <a:avLst/>
          </a:prstGeom>
        </p:spPr>
      </p:pic>
      <p:sp>
        <p:nvSpPr>
          <p:cNvPr id="3" name="Rectangle 2"/>
          <p:cNvSpPr/>
          <p:nvPr userDrawn="1"/>
        </p:nvSpPr>
        <p:spPr>
          <a:xfrm>
            <a:off x="1604682" y="6017577"/>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txBox="1"/>
          <p:nvPr userDrawn="1"/>
        </p:nvSpPr>
        <p:spPr>
          <a:xfrm>
            <a:off x="801006" y="528550"/>
            <a:ext cx="3622769" cy="17658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endParaRPr lang="en-US" sz="1100" dirty="0">
              <a:solidFill>
                <a:schemeClr val="accent5">
                  <a:lumMod val="50000"/>
                </a:schemeClr>
              </a:solidFill>
            </a:endParaRPr>
          </a:p>
        </p:txBody>
      </p:sp>
      <p:sp>
        <p:nvSpPr>
          <p:cNvPr id="6" name="Title 1"/>
          <p:cNvSpPr txBox="1"/>
          <p:nvPr userDrawn="1"/>
        </p:nvSpPr>
        <p:spPr>
          <a:xfrm>
            <a:off x="484910" y="525923"/>
            <a:ext cx="5184370" cy="121715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sz="2000" b="1" dirty="0">
                <a:solidFill>
                  <a:srgbClr val="002060"/>
                </a:solidFill>
                <a:latin typeface="Century Gothic" panose="020B0702020202020204" pitchFamily="34" charset="0"/>
              </a:rPr>
              <a:t>[Event Name]</a:t>
            </a:r>
            <a:endParaRPr lang="en-US" sz="2000" b="1" dirty="0">
              <a:solidFill>
                <a:srgbClr val="002060"/>
              </a:solidFill>
              <a:latin typeface="Century Gothic" panose="020B0702020202020204" pitchFamily="34" charset="0"/>
            </a:endParaRPr>
          </a:p>
          <a:p>
            <a:r>
              <a:rPr lang="en-US" sz="2000" b="1" dirty="0">
                <a:solidFill>
                  <a:srgbClr val="002060"/>
                </a:solidFill>
                <a:latin typeface="Century Gothic" panose="020B0702020202020204" pitchFamily="34" charset="0"/>
              </a:rPr>
              <a:t>[asset name 1]</a:t>
            </a:r>
            <a:endParaRPr lang="en-US" sz="2000" b="1" dirty="0">
              <a:solidFill>
                <a:srgbClr val="002060"/>
              </a:solidFill>
              <a:latin typeface="Century Gothic" panose="020B0702020202020204" pitchFamily="34" charset="0"/>
            </a:endParaRPr>
          </a:p>
        </p:txBody>
      </p:sp>
      <p:sp>
        <p:nvSpPr>
          <p:cNvPr id="9" name="TextBox 8"/>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of content">
    <p:spTree>
      <p:nvGrpSpPr>
        <p:cNvPr id="1" name=""/>
        <p:cNvGrpSpPr/>
        <p:nvPr/>
      </p:nvGrpSpPr>
      <p:grpSpPr>
        <a:xfrm>
          <a:off x="0" y="0"/>
          <a:ext cx="0" cy="0"/>
          <a:chOff x="0" y="0"/>
          <a:chExt cx="0" cy="0"/>
        </a:xfrm>
      </p:grpSpPr>
      <p:pic>
        <p:nvPicPr>
          <p:cNvPr id="68" name="Graphic 6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93031" y="356848"/>
            <a:ext cx="1499507" cy="361950"/>
          </a:xfrm>
          <a:prstGeom prst="rect">
            <a:avLst/>
          </a:prstGeom>
        </p:spPr>
      </p:pic>
      <p:sp>
        <p:nvSpPr>
          <p:cNvPr id="5" name="TextBox 4"/>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Main Title 02">
    <p:bg>
      <p:bgRef idx="1001">
        <a:schemeClr val="bg2"/>
      </p:bgRef>
    </p:bg>
    <p:spTree>
      <p:nvGrpSpPr>
        <p:cNvPr id="1" name=""/>
        <p:cNvGrpSpPr/>
        <p:nvPr/>
      </p:nvGrpSpPr>
      <p:grpSpPr>
        <a:xfrm>
          <a:off x="0" y="0"/>
          <a:ext cx="0" cy="0"/>
          <a:chOff x="0" y="0"/>
          <a:chExt cx="0" cy="0"/>
        </a:xfrm>
      </p:grpSpPr>
      <p:sp>
        <p:nvSpPr>
          <p:cNvPr id="12" name="Title 1"/>
          <p:cNvSpPr>
            <a:spLocks noGrp="1"/>
          </p:cNvSpPr>
          <p:nvPr>
            <p:ph type="ctrTitle"/>
          </p:nvPr>
        </p:nvSpPr>
        <p:spPr>
          <a:xfrm>
            <a:off x="353066" y="1550090"/>
            <a:ext cx="7746332" cy="2387600"/>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14" name="Subtitle 2"/>
          <p:cNvSpPr>
            <a:spLocks noGrp="1"/>
          </p:cNvSpPr>
          <p:nvPr>
            <p:ph type="subTitle" idx="1"/>
          </p:nvPr>
        </p:nvSpPr>
        <p:spPr>
          <a:xfrm>
            <a:off x="353066" y="4029765"/>
            <a:ext cx="7746332" cy="96745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2" name="Picture 1" descr="A line drawn on a white background&#10;&#10;Description automatically generated"/>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2470"/>
            <a:ext cx="12192000" cy="6902939"/>
          </a:xfrm>
          <a:prstGeom prst="rect">
            <a:avLst/>
          </a:prstGeom>
        </p:spPr>
      </p:pic>
      <p:sp>
        <p:nvSpPr>
          <p:cNvPr id="3" name="Rectangle 2"/>
          <p:cNvSpPr/>
          <p:nvPr userDrawn="1"/>
        </p:nvSpPr>
        <p:spPr>
          <a:xfrm>
            <a:off x="1604682" y="6017577"/>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txBox="1"/>
          <p:nvPr userDrawn="1"/>
        </p:nvSpPr>
        <p:spPr>
          <a:xfrm>
            <a:off x="801006" y="528550"/>
            <a:ext cx="3622769" cy="17658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endParaRPr lang="en-US" sz="1100" dirty="0">
              <a:solidFill>
                <a:schemeClr val="accent5">
                  <a:lumMod val="50000"/>
                </a:schemeClr>
              </a:solidFill>
            </a:endParaRPr>
          </a:p>
        </p:txBody>
      </p:sp>
      <p:sp>
        <p:nvSpPr>
          <p:cNvPr id="6" name="Title 1"/>
          <p:cNvSpPr txBox="1"/>
          <p:nvPr userDrawn="1"/>
        </p:nvSpPr>
        <p:spPr>
          <a:xfrm>
            <a:off x="484910" y="525923"/>
            <a:ext cx="5184370" cy="121715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sz="2000" b="1" dirty="0">
                <a:solidFill>
                  <a:srgbClr val="002060"/>
                </a:solidFill>
                <a:latin typeface="Century Gothic" panose="020B0702020202020204" pitchFamily="34" charset="0"/>
              </a:rPr>
              <a:t>[Event Name]</a:t>
            </a:r>
            <a:endParaRPr lang="en-US" sz="2000" b="1" dirty="0">
              <a:solidFill>
                <a:srgbClr val="002060"/>
              </a:solidFill>
              <a:latin typeface="Century Gothic" panose="020B0702020202020204" pitchFamily="34" charset="0"/>
            </a:endParaRPr>
          </a:p>
          <a:p>
            <a:r>
              <a:rPr lang="en-US" sz="2000" b="1" dirty="0">
                <a:solidFill>
                  <a:srgbClr val="002060"/>
                </a:solidFill>
                <a:latin typeface="Century Gothic" panose="020B0702020202020204" pitchFamily="34" charset="0"/>
              </a:rPr>
              <a:t>[asset name 2]</a:t>
            </a:r>
            <a:endParaRPr lang="en-US" sz="2000" b="1" dirty="0">
              <a:solidFill>
                <a:srgbClr val="002060"/>
              </a:solidFill>
              <a:latin typeface="Century Gothic" panose="020B0702020202020204" pitchFamily="34" charset="0"/>
            </a:endParaRPr>
          </a:p>
        </p:txBody>
      </p:sp>
      <p:sp>
        <p:nvSpPr>
          <p:cNvPr id="9" name="TextBox 8"/>
          <p:cNvSpPr txBox="1"/>
          <p:nvPr userDrawn="1"/>
        </p:nvSpPr>
        <p:spPr>
          <a:xfrm rot="16200000">
            <a:off x="11014010" y="1241867"/>
            <a:ext cx="2056958" cy="230832"/>
          </a:xfrm>
          <a:prstGeom prst="rect">
            <a:avLst/>
          </a:prstGeom>
          <a:noFill/>
        </p:spPr>
        <p:txBody>
          <a:bodyPr wrap="square">
            <a:spAutoFit/>
          </a:bodyPr>
          <a:lstStyle/>
          <a:p>
            <a:r>
              <a:rPr lang="en-US" sz="900" dirty="0">
                <a:solidFill>
                  <a:schemeClr val="bg1">
                    <a:lumMod val="75000"/>
                  </a:schemeClr>
                </a:solidFill>
                <a:latin typeface="Century Gothic" panose="020B0702020202020204" pitchFamily="34" charset="0"/>
              </a:rPr>
              <a:t>Quantwater Tech Investments </a:t>
            </a:r>
            <a:endParaRPr lang="en-US" sz="900" dirty="0">
              <a:solidFill>
                <a:schemeClr val="bg1">
                  <a:lumMod val="75000"/>
                </a:schemeClr>
              </a:solidFill>
              <a:latin typeface="Century Gothic" panose="020B0702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able of content">
    <p:spTree>
      <p:nvGrpSpPr>
        <p:cNvPr id="1" name=""/>
        <p:cNvGrpSpPr/>
        <p:nvPr/>
      </p:nvGrpSpPr>
      <p:grpSpPr>
        <a:xfrm>
          <a:off x="0" y="0"/>
          <a:ext cx="0" cy="0"/>
          <a:chOff x="0" y="0"/>
          <a:chExt cx="0" cy="0"/>
        </a:xfrm>
      </p:grpSpPr>
      <p:pic>
        <p:nvPicPr>
          <p:cNvPr id="68" name="Graphic 6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93031" y="356848"/>
            <a:ext cx="1499507" cy="361950"/>
          </a:xfrm>
          <a:prstGeom prst="rect">
            <a:avLst/>
          </a:prstGeom>
        </p:spPr>
      </p:pic>
      <p:sp>
        <p:nvSpPr>
          <p:cNvPr id="5" name="TextBox 4"/>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0"/>
            <a:ext cx="2743200" cy="365125"/>
          </a:xfrm>
          <a:prstGeom prst="rect">
            <a:avLst/>
          </a:prstGeom>
        </p:spPr>
        <p:txBody>
          <a:bodyPr/>
          <a:lstStyle/>
          <a:p>
            <a:fld id="{9C520731-65EA-CE43-94A5-88CA2912E5C8}"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24CBB0-FF61-A741-B66C-72250AAD4BCF}" type="slidenum">
              <a:rPr lang="en-US" smtClean="0"/>
            </a:fld>
            <a:endParaRPr lang="en-US"/>
          </a:p>
        </p:txBody>
      </p:sp>
      <p:sp>
        <p:nvSpPr>
          <p:cNvPr id="6" name="TextBox 5"/>
          <p:cNvSpPr txBox="1"/>
          <p:nvPr userDrawn="1"/>
        </p:nvSpPr>
        <p:spPr>
          <a:xfrm rot="16200000">
            <a:off x="11014010" y="1594292"/>
            <a:ext cx="2056958" cy="230832"/>
          </a:xfrm>
          <a:prstGeom prst="rect">
            <a:avLst/>
          </a:prstGeom>
          <a:noFill/>
        </p:spPr>
        <p:txBody>
          <a:bodyPr wrap="square">
            <a:spAutoFit/>
          </a:bodyPr>
          <a:lstStyle/>
          <a:p>
            <a:r>
              <a:rPr lang="en-US" sz="900" dirty="0">
                <a:solidFill>
                  <a:schemeClr val="bg1">
                    <a:lumMod val="50000"/>
                  </a:schemeClr>
                </a:solidFill>
                <a:latin typeface="Century Gothic" panose="020B0702020202020204" pitchFamily="34" charset="0"/>
              </a:rPr>
              <a:t>Quantwater Tech Investments </a:t>
            </a:r>
            <a:endParaRPr lang="en-US" sz="900" dirty="0">
              <a:solidFill>
                <a:schemeClr val="bg1">
                  <a:lumMod val="50000"/>
                </a:schemeClr>
              </a:solidFill>
              <a:latin typeface="Century Gothic" panose="020B0702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6700" y="228600"/>
            <a:ext cx="11658600" cy="571500"/>
          </a:xfrm>
          <a:prstGeom prst="rect">
            <a:avLst/>
          </a:prstGeom>
        </p:spPr>
        <p:txBody>
          <a:bodyPr vert="horz" lIns="91440" tIns="45720" rIns="91440" bIns="45720" rtlCol="0" anchor="ctr">
            <a:normAutofit/>
          </a:bodyPr>
          <a:lstStyle/>
          <a:p>
            <a:r>
              <a:rPr lang="en-US" dirty="0"/>
              <a:t>Insert Text Here</a:t>
            </a:r>
            <a:endParaRPr lang="en-US" dirty="0"/>
          </a:p>
        </p:txBody>
      </p:sp>
      <p:sp>
        <p:nvSpPr>
          <p:cNvPr id="3" name="Text Placeholder 2"/>
          <p:cNvSpPr>
            <a:spLocks noGrp="1"/>
          </p:cNvSpPr>
          <p:nvPr>
            <p:ph type="body" idx="1"/>
          </p:nvPr>
        </p:nvSpPr>
        <p:spPr>
          <a:xfrm>
            <a:off x="266700" y="892098"/>
            <a:ext cx="11658600" cy="5343677"/>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tint val="75000"/>
                  </a:schemeClr>
                </a:solidFill>
                <a:latin typeface="Arial" panose="020B0604020202090204" pitchFamily="34" charset="0"/>
              </a:defRPr>
            </a:lvl1pPr>
          </a:lstStyle>
          <a:p>
            <a:endParaRPr lang="en-US" dirty="0"/>
          </a:p>
        </p:txBody>
      </p:sp>
      <p:sp>
        <p:nvSpPr>
          <p:cNvPr id="6" name="Slide Number Placeholder 5"/>
          <p:cNvSpPr>
            <a:spLocks noGrp="1"/>
          </p:cNvSpPr>
          <p:nvPr>
            <p:ph type="sldNum" sz="quarter" idx="4"/>
          </p:nvPr>
        </p:nvSpPr>
        <p:spPr>
          <a:xfrm>
            <a:off x="8839200" y="6356350"/>
            <a:ext cx="2743200" cy="365125"/>
          </a:xfrm>
          <a:prstGeom prst="rect">
            <a:avLst/>
          </a:prstGeom>
        </p:spPr>
        <p:txBody>
          <a:bodyPr vert="horz" lIns="91440" tIns="45720" rIns="91440" bIns="45720" rtlCol="0" anchor="ctr"/>
          <a:lstStyle>
            <a:lvl1pPr algn="r">
              <a:defRPr sz="1100">
                <a:solidFill>
                  <a:schemeClr val="tx1">
                    <a:tint val="75000"/>
                  </a:schemeClr>
                </a:solidFill>
                <a:latin typeface="Arial" panose="020B0604020202090204" pitchFamily="34" charset="0"/>
              </a:defRPr>
            </a:lvl1pPr>
          </a:lstStyle>
          <a:p>
            <a:fld id="{743B1F26-96D9-40A6-83AD-00943405493D}"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lvl1pPr algn="l" defTabSz="914400" rtl="0" eaLnBrk="1" latinLnBrk="0" hangingPunct="1">
        <a:lnSpc>
          <a:spcPct val="90000"/>
        </a:lnSpc>
        <a:spcBef>
          <a:spcPct val="0"/>
        </a:spcBef>
        <a:buNone/>
        <a:defRPr sz="2800" b="1" kern="1200">
          <a:solidFill>
            <a:srgbClr val="0E1120"/>
          </a:solidFill>
          <a:latin typeface="Arial" panose="020B0604020202090204" pitchFamily="34" charset="0"/>
          <a:ea typeface="+mj-ea"/>
          <a:cs typeface="Arial" panose="020B0604020202090204" pitchFamily="34" charset="0"/>
        </a:defRPr>
      </a:lvl1pPr>
    </p:titleStyle>
    <p:bodyStyle>
      <a:lvl1pPr marL="0" indent="0" algn="l" defTabSz="914400" rtl="0" eaLnBrk="1" latinLnBrk="0" hangingPunct="1">
        <a:lnSpc>
          <a:spcPct val="90000"/>
        </a:lnSpc>
        <a:spcBef>
          <a:spcPts val="1000"/>
        </a:spcBef>
        <a:buFont typeface="Arial" panose="020B0604020202090204" pitchFamily="34" charset="0"/>
        <a:buNone/>
        <a:defRPr sz="2000" kern="1200">
          <a:solidFill>
            <a:srgbClr val="0E1120"/>
          </a:solidFill>
          <a:latin typeface="Arial" panose="020B0604020202090204" pitchFamily="34" charset="0"/>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400" kern="1200">
          <a:solidFill>
            <a:srgbClr val="0E1120"/>
          </a:solidFill>
          <a:latin typeface="Arial" panose="020B0604020202090204" pitchFamily="34" charset="0"/>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400" kern="1200">
          <a:solidFill>
            <a:srgbClr val="0E1120"/>
          </a:solidFill>
          <a:latin typeface="Arial" panose="020B0604020202090204" pitchFamily="34" charset="0"/>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8.wdp"/><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8.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5.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6.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7.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8.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9.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0.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1.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2.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3.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4.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5.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6.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7.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8.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9.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0.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1.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2.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3.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4.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5.png"/></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6.png"/></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7.png"/></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9.xml"/><Relationship Id="rId5" Type="http://schemas.openxmlformats.org/officeDocument/2006/relationships/hyperlink" Target="https://quantwatertech.netlify.app/blog" TargetMode="External"/><Relationship Id="rId4" Type="http://schemas.openxmlformats.org/officeDocument/2006/relationships/hyperlink" Target="https://quantwatertech.netlify.app/research" TargetMode="External"/><Relationship Id="rId3" Type="http://schemas.openxmlformats.org/officeDocument/2006/relationships/hyperlink" Target="https://github.com/pawan-pro/quantwater-tech-investments/blob/main/QuantPulse" TargetMode="External"/><Relationship Id="rId2" Type="http://schemas.openxmlformats.org/officeDocument/2006/relationships/hyperlink" Target="https://www.investing.com/brokers/firms-prop-trading/" TargetMode="External"/><Relationship Id="rId1" Type="http://schemas.openxmlformats.org/officeDocument/2006/relationships/hyperlink" Target="https://portal.my-equiti.com/sc/register/?clickid=1154892&amp;affid=C02232911" TargetMode="Externa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58.wdp"/><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6274435" y="3502025"/>
            <a:ext cx="5625465" cy="2200275"/>
          </a:xfrm>
          <a:prstGeom prst="rect">
            <a:avLst/>
          </a:prstGeom>
        </p:spPr>
        <p:txBody>
          <a:bodyPr vert="horz" lIns="91440" tIns="45720" rIns="91440" bIns="45720" rtlCol="0" anchor="ctr">
            <a:normAutofit fontScale="87500"/>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sz="3300" b="0" dirty="0">
                <a:solidFill>
                  <a:schemeClr val="bg1">
                    <a:lumMod val="65000"/>
                  </a:schemeClr>
                </a:solidFill>
                <a:latin typeface="Century Gothic" panose="020B0702020202020204" pitchFamily="34" charset="0"/>
                <a:cs typeface="Century Gothic" panose="020B0702020202020204" pitchFamily="34" charset="0"/>
              </a:rPr>
              <a:t>29</a:t>
            </a:r>
            <a:r>
              <a:rPr lang="en-US" sz="3300" b="0" baseline="30000" dirty="0">
                <a:solidFill>
                  <a:schemeClr val="bg1">
                    <a:lumMod val="65000"/>
                  </a:schemeClr>
                </a:solidFill>
                <a:latin typeface="Century Gothic" panose="020B0702020202020204" pitchFamily="34" charset="0"/>
                <a:cs typeface="Century Gothic" panose="020B0702020202020204" pitchFamily="34" charset="0"/>
              </a:rPr>
              <a:t>th</a:t>
            </a:r>
            <a:r>
              <a:rPr lang="en-US" sz="3300" b="0" dirty="0">
                <a:solidFill>
                  <a:schemeClr val="bg1">
                    <a:lumMod val="65000"/>
                  </a:schemeClr>
                </a:solidFill>
                <a:latin typeface="Century Gothic" panose="020B0702020202020204" pitchFamily="34" charset="0"/>
                <a:cs typeface="Century Gothic" panose="020B0702020202020204" pitchFamily="34" charset="0"/>
              </a:rPr>
              <a:t> December 2025</a:t>
            </a:r>
            <a:endParaRPr lang="en-US" sz="3300" b="0" dirty="0">
              <a:solidFill>
                <a:schemeClr val="bg1">
                  <a:lumMod val="65000"/>
                </a:schemeClr>
              </a:solidFill>
              <a:latin typeface="Century Gothic" panose="020B0702020202020204" pitchFamily="34" charset="0"/>
              <a:cs typeface="Century Gothic" panose="020B0702020202020204" pitchFamily="34" charset="0"/>
            </a:endParaRPr>
          </a:p>
          <a:p>
            <a:endParaRPr lang="en-US" sz="3300" b="0" dirty="0">
              <a:solidFill>
                <a:schemeClr val="bg1">
                  <a:lumMod val="65000"/>
                </a:schemeClr>
              </a:solidFill>
              <a:latin typeface="Century Gothic" panose="020B0702020202020204" pitchFamily="34" charset="0"/>
              <a:cs typeface="Century Gothic" panose="020B0702020202020204" pitchFamily="34" charset="0"/>
            </a:endParaRPr>
          </a:p>
          <a:p>
            <a:r>
              <a:rPr lang="en-US" sz="3300" b="0" dirty="0">
                <a:solidFill>
                  <a:schemeClr val="bg1">
                    <a:lumMod val="65000"/>
                  </a:schemeClr>
                </a:solidFill>
                <a:latin typeface="Century Gothic" panose="020B0702020202020204" pitchFamily="34" charset="0"/>
                <a:cs typeface="Century Gothic" panose="020B0702020202020204" pitchFamily="34" charset="0"/>
              </a:rPr>
              <a:t>Economic Data Releases &amp; Their Historical Impact on Assets</a:t>
            </a:r>
            <a:endParaRPr lang="en-US" sz="3300" b="0" dirty="0">
              <a:solidFill>
                <a:schemeClr val="bg1">
                  <a:lumMod val="65000"/>
                </a:schemeClr>
              </a:solidFill>
              <a:latin typeface="Century Gothic" panose="020B0702020202020204" pitchFamily="34" charset="0"/>
              <a:cs typeface="Century Gothic" panose="020B0702020202020204" pitchFamily="34" charset="0"/>
            </a:endParaRPr>
          </a:p>
        </p:txBody>
      </p:sp>
      <p:sp>
        <p:nvSpPr>
          <p:cNvPr id="18" name="Rectangle 17"/>
          <p:cNvSpPr/>
          <p:nvPr/>
        </p:nvSpPr>
        <p:spPr>
          <a:xfrm>
            <a:off x="1606230" y="5820770"/>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highlight>
                  <a:srgbClr val="FFFF00"/>
                </a:highlight>
                <a:latin typeface="Century Gothic" panose="020B0702020202020204" pitchFamily="34" charset="0"/>
                <a:cs typeface="Century Gothic" panose="020B0702020202020204" pitchFamily="34" charset="0"/>
              </a:rPr>
              <a:t> </a:t>
            </a:r>
            <a:endParaRPr lang="en-US" sz="600" i="1" dirty="0">
              <a:solidFill>
                <a:srgbClr val="002060"/>
              </a:solidFill>
              <a:highlight>
                <a:srgbClr val="FFFF00"/>
              </a:highlight>
              <a:latin typeface="Century Gothic" panose="020B0702020202020204" pitchFamily="34" charset="0"/>
              <a:cs typeface="Century Gothic" panose="020B0702020202020204" pitchFamily="34" charset="0"/>
            </a:endParaRPr>
          </a:p>
        </p:txBody>
      </p:sp>
      <p:sp>
        <p:nvSpPr>
          <p:cNvPr id="5" name="Rectangle 4"/>
          <p:cNvSpPr/>
          <p:nvPr/>
        </p:nvSpPr>
        <p:spPr>
          <a:xfrm>
            <a:off x="264680" y="134110"/>
            <a:ext cx="11407299" cy="366084"/>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2400" b="1" dirty="0">
                <a:solidFill>
                  <a:srgbClr val="002060"/>
                </a:solidFill>
                <a:latin typeface="Century Gothic" panose="020B0702020202020204" pitchFamily="34" charset="0"/>
                <a:sym typeface="+mn-ea"/>
              </a:rPr>
              <a:t>Overview</a:t>
            </a:r>
            <a:endParaRPr lang="en-US" sz="2400" b="1" dirty="0">
              <a:solidFill>
                <a:srgbClr val="002060"/>
              </a:solidFill>
              <a:latin typeface="Century Gothic" panose="020B0702020202020204" pitchFamily="34" charset="0"/>
              <a:cs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endPar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endParaRPr>
          </a:p>
        </p:txBody>
      </p:sp>
      <p:cxnSp>
        <p:nvCxnSpPr>
          <p:cNvPr id="2" name="Straight Connector 1"/>
          <p:cNvCxnSpPr/>
          <p:nvPr/>
        </p:nvCxnSpPr>
        <p:spPr>
          <a:xfrm>
            <a:off x="368300" y="689610"/>
            <a:ext cx="11920220" cy="254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graphicFrame>
        <p:nvGraphicFramePr>
          <p:cNvPr id="15" name="Table 14"/>
          <p:cNvGraphicFramePr>
            <a:graphicFrameLocks noGrp="1"/>
          </p:cNvGraphicFramePr>
          <p:nvPr/>
        </p:nvGraphicFramePr>
        <p:xfrm>
          <a:off x="450215" y="889635"/>
          <a:ext cx="11475085" cy="5530850"/>
        </p:xfrm>
        <a:graphic>
          <a:graphicData uri="http://schemas.openxmlformats.org/drawingml/2006/table">
            <a:tbl>
              <a:tblPr/>
              <a:tblGrid>
                <a:gridCol w="1275080"/>
                <a:gridCol w="1275080"/>
                <a:gridCol w="1275080"/>
                <a:gridCol w="1275080"/>
                <a:gridCol w="1274445"/>
                <a:gridCol w="5100320"/>
              </a:tblGrid>
              <a:tr h="605155">
                <a:tc>
                  <a:txBody>
                    <a:bodyPr/>
                    <a:p>
                      <a:pPr algn="ctr" fontAlgn="ctr"/>
                      <a:r>
                        <a:rPr lang="en-US" sz="1000" b="1" i="0" u="none" strike="noStrike" dirty="0">
                          <a:solidFill>
                            <a:srgbClr val="002060"/>
                          </a:solidFill>
                          <a:effectLst/>
                          <a:highlight>
                            <a:srgbClr val="000000">
                              <a:alpha val="0"/>
                            </a:srgbClr>
                          </a:highlight>
                          <a:latin typeface="Century Gothic" panose="020B0702020202020204" pitchFamily="34" charset="0"/>
                          <a:cs typeface="Century Gothic" panose="020B0702020202020204" pitchFamily="34" charset="0"/>
                        </a:rPr>
                        <a:t>Date</a:t>
                      </a:r>
                      <a:endParaRPr lang="en-US" sz="1000" b="1" i="0" u="none" strike="noStrike" dirty="0">
                        <a:solidFill>
                          <a:srgbClr val="002060"/>
                        </a:solidFill>
                        <a:effectLst/>
                        <a:highlight>
                          <a:srgbClr val="000000">
                            <a:alpha val="0"/>
                          </a:srgbClr>
                        </a:highlight>
                        <a:latin typeface="Century Gothic" panose="020B0702020202020204" pitchFamily="34" charset="0"/>
                        <a:cs typeface="Century Gothic" panose="020B0702020202020204" pitchFamily="34" charset="0"/>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p>
                      <a:pPr algn="ctr" fontAlgn="ctr"/>
                      <a:r>
                        <a:rPr lang="en-US" sz="1000" b="1" i="0" u="none" strike="noStrike" dirty="0">
                          <a:solidFill>
                            <a:srgbClr val="002060"/>
                          </a:solidFill>
                          <a:effectLst/>
                          <a:highlight>
                            <a:srgbClr val="000000">
                              <a:alpha val="0"/>
                            </a:srgbClr>
                          </a:highlight>
                          <a:latin typeface="Century Gothic" panose="020B0702020202020204" pitchFamily="34" charset="0"/>
                          <a:cs typeface="Century Gothic" panose="020B0702020202020204" pitchFamily="34" charset="0"/>
                        </a:rPr>
                        <a:t>Day</a:t>
                      </a:r>
                      <a:endParaRPr lang="en-US" sz="1000" b="1" i="0" u="none" strike="noStrike" dirty="0">
                        <a:solidFill>
                          <a:srgbClr val="002060"/>
                        </a:solidFill>
                        <a:effectLst/>
                        <a:highlight>
                          <a:srgbClr val="000000">
                            <a:alpha val="0"/>
                          </a:srgbClr>
                        </a:highlight>
                        <a:latin typeface="Century Gothic" panose="020B0702020202020204" pitchFamily="34" charset="0"/>
                        <a:cs typeface="Century Gothic" panose="020B0702020202020204" pitchFamily="34" charset="0"/>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p>
                      <a:pPr algn="ctr" fontAlgn="ctr"/>
                      <a:r>
                        <a:rPr lang="en-US" sz="1000" b="1" i="0" u="none" strike="noStrike" dirty="0">
                          <a:solidFill>
                            <a:srgbClr val="002060"/>
                          </a:solidFill>
                          <a:effectLst/>
                          <a:highlight>
                            <a:srgbClr val="000000">
                              <a:alpha val="0"/>
                            </a:srgbClr>
                          </a:highlight>
                          <a:latin typeface="Century Gothic" panose="020B0702020202020204" pitchFamily="34" charset="0"/>
                          <a:cs typeface="Century Gothic" panose="020B0702020202020204" pitchFamily="34" charset="0"/>
                        </a:rPr>
                        <a:t>Time (IST)</a:t>
                      </a:r>
                      <a:endParaRPr lang="en-US" sz="1000" b="1" i="0" u="none" strike="noStrike" dirty="0">
                        <a:solidFill>
                          <a:srgbClr val="002060"/>
                        </a:solidFill>
                        <a:effectLst/>
                        <a:highlight>
                          <a:srgbClr val="000000">
                            <a:alpha val="0"/>
                          </a:srgbClr>
                        </a:highlight>
                        <a:latin typeface="Century Gothic" panose="020B0702020202020204" pitchFamily="34" charset="0"/>
                        <a:cs typeface="Century Gothic" panose="020B0702020202020204" pitchFamily="34" charset="0"/>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p>
                      <a:pPr algn="ctr" fontAlgn="ctr"/>
                      <a:r>
                        <a:rPr lang="en-US" sz="1000" b="1" i="0" u="none" strike="noStrike" dirty="0">
                          <a:solidFill>
                            <a:srgbClr val="002060"/>
                          </a:solidFill>
                          <a:effectLst/>
                          <a:highlight>
                            <a:srgbClr val="000000">
                              <a:alpha val="0"/>
                            </a:srgbClr>
                          </a:highlight>
                          <a:latin typeface="Century Gothic" panose="020B0702020202020204" pitchFamily="34" charset="0"/>
                          <a:cs typeface="Century Gothic" panose="020B0702020202020204" pitchFamily="34" charset="0"/>
                        </a:rPr>
                        <a:t>Cur.</a:t>
                      </a:r>
                      <a:endParaRPr lang="en-US" sz="1000" b="1" i="0" u="none" strike="noStrike" dirty="0">
                        <a:solidFill>
                          <a:srgbClr val="002060"/>
                        </a:solidFill>
                        <a:effectLst/>
                        <a:highlight>
                          <a:srgbClr val="000000">
                            <a:alpha val="0"/>
                          </a:srgbClr>
                        </a:highlight>
                        <a:latin typeface="Century Gothic" panose="020B0702020202020204" pitchFamily="34" charset="0"/>
                        <a:cs typeface="Century Gothic" panose="020B0702020202020204" pitchFamily="34" charset="0"/>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p>
                      <a:pPr algn="ctr" fontAlgn="ctr"/>
                      <a:r>
                        <a:rPr lang="en-US" sz="1000" b="1" i="0" u="none" strike="noStrike" dirty="0">
                          <a:solidFill>
                            <a:srgbClr val="002060"/>
                          </a:solidFill>
                          <a:effectLst/>
                          <a:highlight>
                            <a:srgbClr val="000000">
                              <a:alpha val="0"/>
                            </a:srgbClr>
                          </a:highlight>
                          <a:latin typeface="Century Gothic" panose="020B0702020202020204" pitchFamily="34" charset="0"/>
                          <a:cs typeface="Century Gothic" panose="020B0702020202020204" pitchFamily="34" charset="0"/>
                        </a:rPr>
                        <a:t>Imp.</a:t>
                      </a:r>
                      <a:endParaRPr lang="en-US" sz="1000" b="1" i="0" u="none" strike="noStrike" dirty="0">
                        <a:solidFill>
                          <a:srgbClr val="002060"/>
                        </a:solidFill>
                        <a:effectLst/>
                        <a:highlight>
                          <a:srgbClr val="000000">
                            <a:alpha val="0"/>
                          </a:srgbClr>
                        </a:highlight>
                        <a:latin typeface="Century Gothic" panose="020B0702020202020204" pitchFamily="34" charset="0"/>
                        <a:cs typeface="Century Gothic" panose="020B0702020202020204" pitchFamily="34" charset="0"/>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p>
                      <a:pPr algn="ctr" fontAlgn="ctr"/>
                      <a:r>
                        <a:rPr lang="en-US" sz="1000" b="1" i="0" u="none" strike="noStrike" dirty="0">
                          <a:solidFill>
                            <a:srgbClr val="002060"/>
                          </a:solidFill>
                          <a:effectLst/>
                          <a:highlight>
                            <a:srgbClr val="000000">
                              <a:alpha val="0"/>
                            </a:srgbClr>
                          </a:highlight>
                          <a:latin typeface="Century Gothic" panose="020B0702020202020204" pitchFamily="34" charset="0"/>
                          <a:cs typeface="Century Gothic" panose="020B0702020202020204" pitchFamily="34" charset="0"/>
                        </a:rPr>
                        <a:t>Event</a:t>
                      </a:r>
                      <a:endParaRPr lang="en-US" sz="1000" b="1" i="0" u="none" strike="noStrike" dirty="0">
                        <a:solidFill>
                          <a:srgbClr val="002060"/>
                        </a:solidFill>
                        <a:effectLst/>
                        <a:highlight>
                          <a:srgbClr val="000000">
                            <a:alpha val="0"/>
                          </a:srgbClr>
                        </a:highlight>
                        <a:latin typeface="Century Gothic" panose="020B0702020202020204" pitchFamily="34" charset="0"/>
                        <a:cs typeface="Century Gothic" panose="020B0702020202020204" pitchFamily="34" charset="0"/>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r>
              <a:tr h="605155">
                <a:tc>
                  <a:txBody>
                    <a:bodyPr/>
                    <a:p>
                      <a:pPr algn="ctr" fontAlgn="ctr"/>
                      <a:r>
                        <a:rPr sz="1100" b="0">
                          <a:solidFill>
                            <a:schemeClr val="bg1">
                              <a:lumMod val="50000"/>
                            </a:schemeClr>
                          </a:solidFill>
                          <a:latin typeface="Century Gothic" panose="020B0702020202020204"/>
                          <a:ea typeface="Century Gothic" panose="020B0702020202020204"/>
                        </a:rPr>
                        <a:t>29-Dec-25</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100" b="0">
                          <a:solidFill>
                            <a:schemeClr val="bg1">
                              <a:lumMod val="50000"/>
                            </a:schemeClr>
                          </a:solidFill>
                          <a:latin typeface="Century Gothic" panose="020B0702020202020204"/>
                          <a:ea typeface="Century Gothic" panose="020B0702020202020204"/>
                        </a:rPr>
                        <a:t>Mon</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100" b="0">
                          <a:solidFill>
                            <a:schemeClr val="bg1">
                              <a:lumMod val="50000"/>
                            </a:schemeClr>
                          </a:solidFill>
                          <a:latin typeface="Century Gothic" panose="020B0702020202020204"/>
                          <a:ea typeface="Century Gothic" panose="020B0702020202020204"/>
                        </a:rPr>
                        <a:t>21:00</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100" b="0">
                          <a:solidFill>
                            <a:schemeClr val="bg1">
                              <a:lumMod val="50000"/>
                            </a:schemeClr>
                          </a:solidFill>
                          <a:latin typeface="Century Gothic" panose="020B0702020202020204"/>
                          <a:ea typeface="Century Gothic" panose="020B0702020202020204"/>
                        </a:rPr>
                        <a:t>USD</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100" b="0">
                          <a:solidFill>
                            <a:schemeClr val="bg1">
                              <a:lumMod val="50000"/>
                            </a:schemeClr>
                          </a:solidFill>
                          <a:latin typeface="Century Gothic" panose="020B0702020202020204"/>
                          <a:ea typeface="Century Gothic" panose="020B0702020202020204"/>
                        </a:rPr>
                        <a:t>3</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100" b="0">
                          <a:solidFill>
                            <a:schemeClr val="bg1">
                              <a:lumMod val="50000"/>
                            </a:schemeClr>
                          </a:solidFill>
                          <a:latin typeface="Century Gothic" panose="020B0702020202020204"/>
                          <a:ea typeface="Century Gothic" panose="020B0702020202020204"/>
                        </a:rPr>
                        <a:t>Crude Oil Inventories</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r>
              <a:tr h="605155">
                <a:tc>
                  <a:txBody>
                    <a:bodyPr/>
                    <a:p>
                      <a:pPr algn="ctr" fontAlgn="ctr"/>
                      <a:r>
                        <a:rPr sz="1100" b="0">
                          <a:solidFill>
                            <a:schemeClr val="bg1">
                              <a:lumMod val="50000"/>
                            </a:schemeClr>
                          </a:solidFill>
                          <a:latin typeface="Century Gothic" panose="020B0702020202020204"/>
                          <a:ea typeface="Century Gothic" panose="020B0702020202020204"/>
                        </a:rPr>
                        <a:t>31-Dec-25</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100" b="0">
                          <a:solidFill>
                            <a:schemeClr val="bg1">
                              <a:lumMod val="50000"/>
                            </a:schemeClr>
                          </a:solidFill>
                          <a:latin typeface="Century Gothic" panose="020B0702020202020204"/>
                          <a:ea typeface="Century Gothic" panose="020B0702020202020204"/>
                        </a:rPr>
                        <a:t>Wed</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100" b="0">
                          <a:solidFill>
                            <a:schemeClr val="bg1">
                              <a:lumMod val="50000"/>
                            </a:schemeClr>
                          </a:solidFill>
                          <a:latin typeface="Century Gothic" panose="020B0702020202020204"/>
                          <a:ea typeface="Century Gothic" panose="020B0702020202020204"/>
                        </a:rPr>
                        <a:t>3:00</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100" b="0">
                          <a:solidFill>
                            <a:schemeClr val="bg1">
                              <a:lumMod val="50000"/>
                            </a:schemeClr>
                          </a:solidFill>
                          <a:latin typeface="Century Gothic" panose="020B0702020202020204"/>
                          <a:ea typeface="Century Gothic" panose="020B0702020202020204"/>
                        </a:rPr>
                        <a:t>USD</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100" b="0">
                          <a:solidFill>
                            <a:schemeClr val="bg1">
                              <a:lumMod val="50000"/>
                            </a:schemeClr>
                          </a:solidFill>
                          <a:latin typeface="Century Gothic" panose="020B0702020202020204"/>
                          <a:ea typeface="Century Gothic" panose="020B0702020202020204"/>
                        </a:rPr>
                        <a:t>3</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100" b="0">
                          <a:solidFill>
                            <a:schemeClr val="bg1">
                              <a:lumMod val="50000"/>
                            </a:schemeClr>
                          </a:solidFill>
                          <a:latin typeface="Century Gothic" panose="020B0702020202020204"/>
                          <a:ea typeface="Century Gothic" panose="020B0702020202020204"/>
                        </a:rPr>
                        <a:t>FOMC Meeting Minutes</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r>
              <a:tr h="604520">
                <a:tc>
                  <a:txBody>
                    <a:bodyPr/>
                    <a:p>
                      <a:pPr algn="ctr" fontAlgn="ctr"/>
                      <a:r>
                        <a:rPr sz="1100" b="0">
                          <a:solidFill>
                            <a:schemeClr val="bg1">
                              <a:lumMod val="50000"/>
                            </a:schemeClr>
                          </a:solidFill>
                          <a:latin typeface="Century Gothic" panose="020B0702020202020204"/>
                          <a:ea typeface="Century Gothic" panose="020B0702020202020204"/>
                        </a:rPr>
                        <a:t>31-Dec-25</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100" b="0">
                          <a:solidFill>
                            <a:schemeClr val="bg1">
                              <a:lumMod val="50000"/>
                            </a:schemeClr>
                          </a:solidFill>
                          <a:latin typeface="Century Gothic" panose="020B0702020202020204"/>
                          <a:ea typeface="Century Gothic" panose="020B0702020202020204"/>
                        </a:rPr>
                        <a:t>Wed</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100" b="0">
                          <a:solidFill>
                            <a:schemeClr val="bg1">
                              <a:lumMod val="50000"/>
                            </a:schemeClr>
                          </a:solidFill>
                          <a:latin typeface="Century Gothic" panose="020B0702020202020204"/>
                          <a:ea typeface="Century Gothic" panose="020B0702020202020204"/>
                        </a:rPr>
                        <a:t>7:00</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100" b="0">
                          <a:solidFill>
                            <a:schemeClr val="bg1">
                              <a:lumMod val="50000"/>
                            </a:schemeClr>
                          </a:solidFill>
                          <a:latin typeface="Century Gothic" panose="020B0702020202020204"/>
                          <a:ea typeface="Century Gothic" panose="020B0702020202020204"/>
                        </a:rPr>
                        <a:t>CNY</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100" b="0">
                          <a:solidFill>
                            <a:schemeClr val="bg1">
                              <a:lumMod val="50000"/>
                            </a:schemeClr>
                          </a:solidFill>
                          <a:latin typeface="Century Gothic" panose="020B0702020202020204"/>
                          <a:ea typeface="Century Gothic" panose="020B0702020202020204"/>
                        </a:rPr>
                        <a:t>3</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100" b="0">
                          <a:solidFill>
                            <a:schemeClr val="bg1">
                              <a:lumMod val="50000"/>
                            </a:schemeClr>
                          </a:solidFill>
                          <a:latin typeface="Century Gothic" panose="020B0702020202020204"/>
                          <a:ea typeface="Century Gothic" panose="020B0702020202020204"/>
                        </a:rPr>
                        <a:t>Manufacturing PMI (Dec)</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r>
              <a:tr h="605790">
                <a:tc>
                  <a:txBody>
                    <a:bodyPr/>
                    <a:p>
                      <a:pPr algn="ctr" fontAlgn="ctr"/>
                      <a:r>
                        <a:rPr sz="1100" b="0">
                          <a:solidFill>
                            <a:schemeClr val="bg1">
                              <a:lumMod val="50000"/>
                            </a:schemeClr>
                          </a:solidFill>
                          <a:latin typeface="Century Gothic" panose="020B0702020202020204"/>
                          <a:ea typeface="Century Gothic" panose="020B0702020202020204"/>
                        </a:rPr>
                        <a:t>31-Dec-25</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100" b="0">
                          <a:solidFill>
                            <a:schemeClr val="bg1">
                              <a:lumMod val="50000"/>
                            </a:schemeClr>
                          </a:solidFill>
                          <a:latin typeface="Century Gothic" panose="020B0702020202020204"/>
                          <a:ea typeface="Century Gothic" panose="020B0702020202020204"/>
                        </a:rPr>
                        <a:t>Wed</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100" b="0">
                          <a:solidFill>
                            <a:schemeClr val="bg1">
                              <a:lumMod val="50000"/>
                            </a:schemeClr>
                          </a:solidFill>
                          <a:latin typeface="Century Gothic" panose="020B0702020202020204"/>
                          <a:ea typeface="Century Gothic" panose="020B0702020202020204"/>
                        </a:rPr>
                        <a:t>19:00</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100" b="0">
                          <a:solidFill>
                            <a:schemeClr val="bg1">
                              <a:lumMod val="50000"/>
                            </a:schemeClr>
                          </a:solidFill>
                          <a:latin typeface="Century Gothic" panose="020B0702020202020204"/>
                          <a:ea typeface="Century Gothic" panose="020B0702020202020204"/>
                        </a:rPr>
                        <a:t>USD</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100" b="0">
                          <a:solidFill>
                            <a:schemeClr val="bg1">
                              <a:lumMod val="50000"/>
                            </a:schemeClr>
                          </a:solidFill>
                          <a:latin typeface="Century Gothic" panose="020B0702020202020204"/>
                          <a:ea typeface="Century Gothic" panose="020B0702020202020204"/>
                        </a:rPr>
                        <a:t>3</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100" b="0">
                          <a:solidFill>
                            <a:schemeClr val="bg1">
                              <a:lumMod val="50000"/>
                            </a:schemeClr>
                          </a:solidFill>
                          <a:latin typeface="Century Gothic" panose="020B0702020202020204"/>
                          <a:ea typeface="Century Gothic" panose="020B0702020202020204"/>
                        </a:rPr>
                        <a:t>Initial Jobless Claims</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r>
              <a:tr h="604520">
                <a:tc>
                  <a:txBody>
                    <a:bodyPr/>
                    <a:p>
                      <a:pPr algn="ctr" fontAlgn="ctr"/>
                      <a:r>
                        <a:rPr sz="1100" b="0">
                          <a:solidFill>
                            <a:schemeClr val="bg1">
                              <a:lumMod val="50000"/>
                            </a:schemeClr>
                          </a:solidFill>
                          <a:latin typeface="Century Gothic" panose="020B0702020202020204"/>
                          <a:ea typeface="Century Gothic" panose="020B0702020202020204"/>
                        </a:rPr>
                        <a:t>31-Dec-25</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100" b="0">
                          <a:solidFill>
                            <a:schemeClr val="bg1">
                              <a:lumMod val="50000"/>
                            </a:schemeClr>
                          </a:solidFill>
                          <a:latin typeface="Century Gothic" panose="020B0702020202020204"/>
                          <a:ea typeface="Century Gothic" panose="020B0702020202020204"/>
                        </a:rPr>
                        <a:t>Wed</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100" b="0">
                          <a:solidFill>
                            <a:schemeClr val="bg1">
                              <a:lumMod val="50000"/>
                            </a:schemeClr>
                          </a:solidFill>
                          <a:latin typeface="Century Gothic" panose="020B0702020202020204"/>
                          <a:ea typeface="Century Gothic" panose="020B0702020202020204"/>
                        </a:rPr>
                        <a:t>20:15</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100" b="0">
                          <a:solidFill>
                            <a:schemeClr val="bg1">
                              <a:lumMod val="50000"/>
                            </a:schemeClr>
                          </a:solidFill>
                          <a:latin typeface="Century Gothic" panose="020B0702020202020204"/>
                          <a:ea typeface="Century Gothic" panose="020B0702020202020204"/>
                        </a:rPr>
                        <a:t>USD</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100" b="0">
                          <a:solidFill>
                            <a:schemeClr val="bg1">
                              <a:lumMod val="50000"/>
                            </a:schemeClr>
                          </a:solidFill>
                          <a:latin typeface="Century Gothic" panose="020B0702020202020204"/>
                          <a:ea typeface="Century Gothic" panose="020B0702020202020204"/>
                        </a:rPr>
                        <a:t>3</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100" b="0">
                          <a:solidFill>
                            <a:schemeClr val="bg1">
                              <a:lumMod val="50000"/>
                            </a:schemeClr>
                          </a:solidFill>
                          <a:latin typeface="Century Gothic" panose="020B0702020202020204"/>
                          <a:ea typeface="Century Gothic" panose="020B0702020202020204"/>
                        </a:rPr>
                        <a:t>Chicago PMI (Dec)</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r>
              <a:tr h="605790">
                <a:tc>
                  <a:txBody>
                    <a:bodyPr/>
                    <a:p>
                      <a:pPr algn="ctr" fontAlgn="ctr"/>
                      <a:r>
                        <a:rPr sz="1100" b="0">
                          <a:solidFill>
                            <a:schemeClr val="bg1">
                              <a:lumMod val="50000"/>
                            </a:schemeClr>
                          </a:solidFill>
                          <a:latin typeface="Century Gothic" panose="020B0702020202020204"/>
                          <a:ea typeface="Century Gothic" panose="020B0702020202020204"/>
                        </a:rPr>
                        <a:t>01-Jan-26</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100" b="0">
                          <a:solidFill>
                            <a:schemeClr val="bg1">
                              <a:lumMod val="50000"/>
                            </a:schemeClr>
                          </a:solidFill>
                          <a:latin typeface="Century Gothic" panose="020B0702020202020204"/>
                          <a:ea typeface="Century Gothic" panose="020B0702020202020204"/>
                        </a:rPr>
                        <a:t>Thu</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100" b="0">
                          <a:solidFill>
                            <a:schemeClr val="bg1">
                              <a:lumMod val="50000"/>
                            </a:schemeClr>
                          </a:solidFill>
                          <a:latin typeface="Century Gothic" panose="020B0702020202020204"/>
                          <a:ea typeface="Century Gothic" panose="020B0702020202020204"/>
                        </a:rPr>
                        <a:t>19:15</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100" b="0">
                          <a:solidFill>
                            <a:schemeClr val="bg1">
                              <a:lumMod val="50000"/>
                            </a:schemeClr>
                          </a:solidFill>
                          <a:latin typeface="Century Gothic" panose="020B0702020202020204"/>
                          <a:ea typeface="Century Gothic" panose="020B0702020202020204"/>
                        </a:rPr>
                        <a:t>USD</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100" b="0">
                          <a:solidFill>
                            <a:schemeClr val="bg1">
                              <a:lumMod val="50000"/>
                            </a:schemeClr>
                          </a:solidFill>
                          <a:latin typeface="Century Gothic" panose="020B0702020202020204"/>
                          <a:ea typeface="Century Gothic" panose="020B0702020202020204"/>
                        </a:rPr>
                        <a:t>3</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100" b="0">
                          <a:solidFill>
                            <a:schemeClr val="bg1">
                              <a:lumMod val="50000"/>
                            </a:schemeClr>
                          </a:solidFill>
                          <a:latin typeface="Century Gothic" panose="020B0702020202020204"/>
                          <a:ea typeface="Century Gothic" panose="020B0702020202020204"/>
                        </a:rPr>
                        <a:t>S&amp;P Global Manufacturing PMI (Dec)</a:t>
                      </a:r>
                      <a:endParaRPr sz="1100" b="0">
                        <a:solidFill>
                          <a:schemeClr val="bg1">
                            <a:lumMod val="50000"/>
                          </a:schemeClr>
                        </a:solidFill>
                        <a:latin typeface="Century Gothic" panose="020B0702020202020204"/>
                        <a:ea typeface="Century Gothic" panose="020B0702020202020204"/>
                      </a:endParaRPr>
                    </a:p>
                  </a:txBody>
                  <a:tcPr marL="38417" marR="38417" marT="0"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r>
              <a:tr h="688975">
                <a:tc gridSpan="6">
                  <a:txBody>
                    <a:bodyPr/>
                    <a:p>
                      <a:pPr algn="ctr" fontAlgn="ctr">
                        <a:buNone/>
                      </a:pPr>
                      <a:r>
                        <a:rPr lang="en-US" sz="1000" b="1" dirty="0">
                          <a:solidFill>
                            <a:srgbClr val="002060"/>
                          </a:solidFill>
                          <a:effectLst/>
                          <a:highlight>
                            <a:srgbClr val="000000">
                              <a:alpha val="0"/>
                            </a:srgbClr>
                          </a:highlight>
                          <a:latin typeface="Century Gothic" panose="020B0702020202020204" pitchFamily="34" charset="0"/>
                          <a:cs typeface="Century Gothic" panose="020B0702020202020204" pitchFamily="34" charset="0"/>
                          <a:sym typeface="+mn-ea"/>
                        </a:rPr>
                        <a:t>Annexure: Key Terms &amp; Links</a:t>
                      </a:r>
                      <a:endParaRPr lang="en-US" sz="1000" b="1" i="0" dirty="0">
                        <a:solidFill>
                          <a:srgbClr val="002060"/>
                        </a:solidFill>
                        <a:effectLst/>
                        <a:highlight>
                          <a:srgbClr val="000000">
                            <a:alpha val="0"/>
                          </a:srgbClr>
                        </a:highlight>
                        <a:latin typeface="Century Gothic" panose="020B0702020202020204" pitchFamily="34" charset="0"/>
                        <a:ea typeface="Century Gothic" panose="020B0702020202020204"/>
                        <a:cs typeface="Century Gothic" panose="020B0702020202020204" pitchFamily="34" charset="0"/>
                        <a:sym typeface="+mn-ea"/>
                      </a:endParaRPr>
                    </a:p>
                  </a:txBody>
                  <a:tcPr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Crude Oil Inventories</a:t>
            </a:r>
            <a:endParaRPr lang="en-US" altLang="en-US" sz="2400" b="1" dirty="0">
              <a:solidFill>
                <a:srgbClr val="002060"/>
              </a:solidFill>
              <a:latin typeface="Century Gothic" panose="020B0702020202020204" pitchFamily="34" charset="0"/>
              <a:cs typeface="Century Gothic" panose="020B0702020202020204" pitchFamily="34" charset="0"/>
            </a:endParaRPr>
          </a:p>
          <a:p>
            <a:endParaRPr lang="en-US" alt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25450" y="6483350"/>
            <a:ext cx="3750310" cy="366395"/>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highlight>
                  <a:srgbClr val="FFFF00"/>
                </a:highlight>
                <a:latin typeface="Century Gothic" panose="020B0702020202020204" pitchFamily="34" charset="0"/>
                <a:cs typeface="Century Gothic" panose="020B0702020202020204" pitchFamily="34" charset="0"/>
              </a:rPr>
              <a:t> </a:t>
            </a:r>
            <a:endParaRPr lang="en-US" sz="600" i="1" dirty="0">
              <a:solidFill>
                <a:srgbClr val="002060"/>
              </a:solidFill>
              <a:highlight>
                <a:srgbClr val="FFFF00"/>
              </a:highlight>
              <a:latin typeface="Century Gothic" panose="020B0702020202020204" pitchFamily="34" charset="0"/>
              <a:cs typeface="Century Gothic" panose="020B0702020202020204" pitchFamily="34" charset="0"/>
            </a:endParaRPr>
          </a:p>
        </p:txBody>
      </p:sp>
      <p:sp>
        <p:nvSpPr>
          <p:cNvPr id="5" name="Rectangle 4"/>
          <p:cNvSpPr/>
          <p:nvPr/>
        </p:nvSpPr>
        <p:spPr>
          <a:xfrm>
            <a:off x="264680" y="134110"/>
            <a:ext cx="11407299" cy="366084"/>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2400" b="1" dirty="0">
                <a:solidFill>
                  <a:srgbClr val="002060"/>
                </a:solidFill>
                <a:latin typeface="Century Gothic" panose="020B0702020202020204" pitchFamily="34" charset="0"/>
                <a:cs typeface="Century Gothic" panose="020B0702020202020204" pitchFamily="34" charset="0"/>
              </a:rPr>
              <a:t>Crude Oil Inventories</a:t>
            </a:r>
            <a:endParaRPr lang="en-US" altLang="en-US" sz="2400" b="1" dirty="0">
              <a:solidFill>
                <a:srgbClr val="002060"/>
              </a:solidFill>
              <a:latin typeface="Century Gothic" panose="020B0702020202020204" pitchFamily="34" charset="0"/>
              <a:cs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endPar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endParaRPr>
          </a:p>
        </p:txBody>
      </p:sp>
      <p:graphicFrame>
        <p:nvGraphicFramePr>
          <p:cNvPr id="15" name="Table 14"/>
          <p:cNvGraphicFramePr>
            <a:graphicFrameLocks noGrp="1"/>
          </p:cNvGraphicFramePr>
          <p:nvPr/>
        </p:nvGraphicFramePr>
        <p:xfrm>
          <a:off x="450215" y="889635"/>
          <a:ext cx="11475085" cy="5349240"/>
        </p:xfrm>
        <a:graphic>
          <a:graphicData uri="http://schemas.openxmlformats.org/drawingml/2006/table">
            <a:tbl>
              <a:tblPr/>
              <a:tblGrid>
                <a:gridCol w="1275080"/>
                <a:gridCol w="1275080"/>
                <a:gridCol w="1275080"/>
                <a:gridCol w="1275080"/>
                <a:gridCol w="6374765"/>
              </a:tblGrid>
              <a:tr h="445770">
                <a:tc>
                  <a:txBody>
                    <a:bodyPr/>
                    <a:p>
                      <a:pP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Event</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c gridSpan="3">
                  <a:txBody>
                    <a:bodyPr/>
                    <a:p>
                      <a:pPr algn="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Crude Oil Inventories</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c hMerge="1">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solidFill>
                      <a:schemeClr val="bg1">
                        <a:lumMod val="65000"/>
                      </a:schemeClr>
                    </a:solidFill>
                  </a:tcPr>
                </a:tc>
                <a:tc hMerge="1">
                  <a:tcPr anchor="ctr">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65000"/>
                      </a:schemeClr>
                    </a:solidFill>
                  </a:tcPr>
                </a:tc>
                <a:tc>
                  <a:txBody>
                    <a:bodyPr/>
                    <a:p>
                      <a:pPr algn="ct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Description</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r>
              <a:tr h="445770">
                <a:tc>
                  <a:txBody>
                    <a:bodyPr/>
                    <a:p>
                      <a:pP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Actual:</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fontAlgn="ctr"/>
                      <a:endParaRPr sz="12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rowSpan="11">
                  <a:txBody>
                    <a:bodyPr/>
                    <a:p>
                      <a:r>
                        <a:rPr lang="en-US" altLang="en-US" sz="1200">
                          <a:solidFill>
                            <a:schemeClr val="bg1">
                              <a:lumMod val="50000"/>
                            </a:schemeClr>
                          </a:solidFill>
                          <a:latin typeface="Century Gothic" panose="020B0702020202020204" pitchFamily="34" charset="0"/>
                          <a:cs typeface="Century Gothic" panose="020B0702020202020204" pitchFamily="34" charset="0"/>
                        </a:rPr>
                        <a:t>The Energy Information Administration's (EIA) Crude Oil Inventories measures the weekly change in the number of barrels of commercial crude oil held by US firms. The level of inventories influences the price of petroleum products, which can have an impact on inflation.</a:t>
                      </a:r>
                      <a:endParaRPr lang="en-US" altLang="en-US" sz="1200">
                        <a:solidFill>
                          <a:schemeClr val="bg1">
                            <a:lumMod val="50000"/>
                          </a:schemeClr>
                        </a:solidFill>
                        <a:latin typeface="Century Gothic" panose="020B0702020202020204" pitchFamily="34" charset="0"/>
                        <a:cs typeface="Century Gothic" panose="020B0702020202020204" pitchFamily="34" charset="0"/>
                      </a:endParaRPr>
                    </a:p>
                    <a:p>
                      <a:endParaRPr lang="en-US" altLang="en-US" sz="1200">
                        <a:solidFill>
                          <a:schemeClr val="bg1">
                            <a:lumMod val="50000"/>
                          </a:schemeClr>
                        </a:solidFill>
                        <a:latin typeface="Century Gothic" panose="020B0702020202020204" pitchFamily="34" charset="0"/>
                        <a:cs typeface="Century Gothic" panose="020B0702020202020204" pitchFamily="34" charset="0"/>
                      </a:endParaRPr>
                    </a:p>
                    <a:p>
                      <a:r>
                        <a:rPr lang="en-US" altLang="en-US" sz="1200">
                          <a:solidFill>
                            <a:schemeClr val="bg1">
                              <a:lumMod val="50000"/>
                            </a:schemeClr>
                          </a:solidFill>
                          <a:latin typeface="Century Gothic" panose="020B0702020202020204" pitchFamily="34" charset="0"/>
                          <a:cs typeface="Century Gothic" panose="020B0702020202020204" pitchFamily="34" charset="0"/>
                        </a:rPr>
                        <a:t>If the increase in crude inventories is more than expected, it implies weaker demand and is bearish for crude prices. The same can be said if a decline in inventories is less than expected.</a:t>
                      </a:r>
                      <a:endParaRPr lang="en-US" altLang="en-US" sz="1200">
                        <a:solidFill>
                          <a:schemeClr val="bg1">
                            <a:lumMod val="50000"/>
                          </a:schemeClr>
                        </a:solidFill>
                        <a:latin typeface="Century Gothic" panose="020B0702020202020204" pitchFamily="34" charset="0"/>
                        <a:cs typeface="Century Gothic" panose="020B0702020202020204" pitchFamily="34" charset="0"/>
                      </a:endParaRPr>
                    </a:p>
                    <a:p>
                      <a:r>
                        <a:rPr lang="en-US" altLang="en-US" sz="1200">
                          <a:solidFill>
                            <a:schemeClr val="bg1">
                              <a:lumMod val="50000"/>
                            </a:schemeClr>
                          </a:solidFill>
                          <a:latin typeface="Century Gothic" panose="020B0702020202020204" pitchFamily="34" charset="0"/>
                          <a:cs typeface="Century Gothic" panose="020B0702020202020204" pitchFamily="34" charset="0"/>
                        </a:rPr>
                        <a:t>If the increase in crude is less than expected, it implies greater demand and is bullish for crude prices. The same can be said if a decline in inventories is more than expected.</a:t>
                      </a:r>
                      <a:endParaRPr lang="en-US" altLang="en-US" sz="1200">
                        <a:solidFill>
                          <a:schemeClr val="bg1">
                            <a:lumMod val="50000"/>
                          </a:schemeClr>
                        </a:solidFill>
                        <a:latin typeface="Century Gothic" panose="020B0702020202020204" pitchFamily="34" charset="0"/>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r>
              <a:tr h="445770">
                <a:tc>
                  <a:txBody>
                    <a:bodyPr/>
                    <a:p>
                      <a:pP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Forecast:</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fontAlgn="ctr"/>
                      <a:endParaRPr sz="12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Previous:</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-1.274M</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Time (GMT):</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15:30</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Release Date</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Actual</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Forecast</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Previous</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17-Dec-25</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-1.27</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-2.40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-1.81</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10-Dec-25</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-1.81</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-1.20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0.574</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03-Dec-25</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0.574</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-1.90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2.774</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26-Nov-25</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2.774</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-1.30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-3.42</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19-Nov-25</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-3.42</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-0.60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6.413</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13-Nov-25</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6.413</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1.000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5.202</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a:solidFill>
                        <a:schemeClr val="bg1">
                          <a:lumMod val="75000"/>
                        </a:schemeClr>
                      </a:solidFill>
                      <a:prstDash val="solid"/>
                    </a:lnB>
                    <a:noFill/>
                  </a:tcPr>
                </a:tc>
              </a:tr>
            </a:tbl>
          </a:graphicData>
        </a:graphic>
      </p:graphicFrame>
      <p:cxnSp>
        <p:nvCxnSpPr>
          <p:cNvPr id="3" name="Straight Connector 2"/>
          <p:cNvCxnSpPr/>
          <p:nvPr/>
        </p:nvCxnSpPr>
        <p:spPr>
          <a:xfrm>
            <a:off x="368300" y="689610"/>
            <a:ext cx="11920220" cy="254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Crude Oil Inventories</a:t>
            </a:r>
            <a:endParaRPr lang="en-US" altLang="en-US" sz="2400" b="1" dirty="0">
              <a:solidFill>
                <a:srgbClr val="002060"/>
              </a:solidFill>
              <a:latin typeface="Century Gothic" panose="020B0702020202020204" pitchFamily="34" charset="0"/>
              <a:cs typeface="Century Gothic" panose="020B0702020202020204" pitchFamily="34" charset="0"/>
            </a:endParaRPr>
          </a:p>
          <a:p>
            <a:r>
              <a:rPr lang="en-US" altLang="en-US" sz="2400" b="1" dirty="0">
                <a:solidFill>
                  <a:srgbClr val="002060"/>
                </a:solidFill>
                <a:latin typeface="Century Gothic" panose="020B0702020202020204" pitchFamily="34" charset="0"/>
                <a:cs typeface="Century Gothic" panose="020B0702020202020204" pitchFamily="34" charset="0"/>
              </a:rPr>
              <a:t>USOIlRoll</a:t>
            </a:r>
            <a:endParaRPr lang="en-US" alt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OILRoll_20251113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OILRoll_20251119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OILRoll_20251126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OILRoll_20251203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OILRoll_20251210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OILRoll_20251217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FOMC Meeting Minutes</a:t>
            </a:r>
            <a:endParaRPr lang="en-US" altLang="en-US" sz="2400" b="1" dirty="0">
              <a:solidFill>
                <a:srgbClr val="002060"/>
              </a:solidFill>
              <a:latin typeface="Century Gothic" panose="020B0702020202020204" pitchFamily="34" charset="0"/>
              <a:cs typeface="Century Gothic" panose="020B0702020202020204" pitchFamily="34" charset="0"/>
            </a:endParaRPr>
          </a:p>
          <a:p>
            <a:endParaRPr lang="en-US" alt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25450" y="6483350"/>
            <a:ext cx="3750310" cy="366395"/>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highlight>
                  <a:srgbClr val="FFFF00"/>
                </a:highlight>
                <a:latin typeface="Century Gothic" panose="020B0702020202020204" pitchFamily="34" charset="0"/>
                <a:cs typeface="Century Gothic" panose="020B0702020202020204" pitchFamily="34" charset="0"/>
              </a:rPr>
              <a:t> </a:t>
            </a:r>
            <a:endParaRPr lang="en-US" sz="600" i="1" dirty="0">
              <a:solidFill>
                <a:srgbClr val="002060"/>
              </a:solidFill>
              <a:highlight>
                <a:srgbClr val="FFFF00"/>
              </a:highlight>
              <a:latin typeface="Century Gothic" panose="020B0702020202020204" pitchFamily="34" charset="0"/>
              <a:cs typeface="Century Gothic" panose="020B0702020202020204" pitchFamily="34" charset="0"/>
            </a:endParaRPr>
          </a:p>
        </p:txBody>
      </p:sp>
      <p:sp>
        <p:nvSpPr>
          <p:cNvPr id="5" name="Rectangle 4"/>
          <p:cNvSpPr/>
          <p:nvPr/>
        </p:nvSpPr>
        <p:spPr>
          <a:xfrm>
            <a:off x="264680" y="134110"/>
            <a:ext cx="11407299" cy="366084"/>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2400" b="1" dirty="0">
                <a:solidFill>
                  <a:srgbClr val="002060"/>
                </a:solidFill>
                <a:latin typeface="Century Gothic" panose="020B0702020202020204" pitchFamily="34" charset="0"/>
                <a:cs typeface="Century Gothic" panose="020B0702020202020204" pitchFamily="34" charset="0"/>
              </a:rPr>
              <a:t>FOMC Meeting Minutes</a:t>
            </a:r>
            <a:endParaRPr lang="en-US" altLang="en-US" sz="2400" b="1" dirty="0">
              <a:solidFill>
                <a:srgbClr val="002060"/>
              </a:solidFill>
              <a:latin typeface="Century Gothic" panose="020B0702020202020204" pitchFamily="34" charset="0"/>
              <a:cs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endPar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endParaRPr>
          </a:p>
        </p:txBody>
      </p:sp>
      <p:graphicFrame>
        <p:nvGraphicFramePr>
          <p:cNvPr id="15" name="Table 14"/>
          <p:cNvGraphicFramePr>
            <a:graphicFrameLocks noGrp="1"/>
          </p:cNvGraphicFramePr>
          <p:nvPr/>
        </p:nvGraphicFramePr>
        <p:xfrm>
          <a:off x="450215" y="889635"/>
          <a:ext cx="11475085" cy="5349240"/>
        </p:xfrm>
        <a:graphic>
          <a:graphicData uri="http://schemas.openxmlformats.org/drawingml/2006/table">
            <a:tbl>
              <a:tblPr/>
              <a:tblGrid>
                <a:gridCol w="1275080"/>
                <a:gridCol w="1275080"/>
                <a:gridCol w="1275080"/>
                <a:gridCol w="1275080"/>
                <a:gridCol w="6374765"/>
              </a:tblGrid>
              <a:tr h="445770">
                <a:tc>
                  <a:txBody>
                    <a:bodyPr/>
                    <a:p>
                      <a:pP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Event</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c gridSpan="3">
                  <a:txBody>
                    <a:bodyPr/>
                    <a:p>
                      <a:pPr algn="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FOMC Meeting Minutes</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c hMerge="1">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solidFill>
                      <a:schemeClr val="bg1">
                        <a:lumMod val="65000"/>
                      </a:schemeClr>
                    </a:solidFill>
                  </a:tcPr>
                </a:tc>
                <a:tc hMerge="1">
                  <a:tcPr anchor="ctr">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65000"/>
                      </a:schemeClr>
                    </a:solidFill>
                  </a:tcPr>
                </a:tc>
                <a:tc>
                  <a:txBody>
                    <a:bodyPr/>
                    <a:p>
                      <a:pPr algn="ct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Description</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r>
              <a:tr h="445770">
                <a:tc>
                  <a:txBody>
                    <a:bodyPr/>
                    <a:p>
                      <a:pP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Actual:</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fontAlgn="ctr"/>
                      <a:endParaRPr sz="12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rowSpan="11">
                  <a:txBody>
                    <a:bodyPr/>
                    <a:p>
                      <a:r>
                        <a:rPr lang="en-US" altLang="en-US" sz="1200">
                          <a:solidFill>
                            <a:schemeClr val="bg1">
                              <a:lumMod val="50000"/>
                            </a:schemeClr>
                          </a:solidFill>
                          <a:latin typeface="Century Gothic" panose="020B0702020202020204" pitchFamily="34" charset="0"/>
                          <a:cs typeface="Century Gothic" panose="020B0702020202020204" pitchFamily="34" charset="0"/>
                        </a:rPr>
                        <a:t>The Federal Open Market Committee (FOMC) Meeting Minutes are a detailed record of the committee's policy-setting meeting held about three weeks earlier. The minutes offer detailed insights regarding the FOMC's stance on monetary policy, so currency traders carefully examine them for clues regarding the outcome of future interest rate decisions.</a:t>
                      </a:r>
                      <a:endParaRPr lang="en-US" altLang="en-US" sz="1200">
                        <a:solidFill>
                          <a:schemeClr val="bg1">
                            <a:lumMod val="50000"/>
                          </a:schemeClr>
                        </a:solidFill>
                        <a:latin typeface="Century Gothic" panose="020B0702020202020204" pitchFamily="34" charset="0"/>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r>
              <a:tr h="445770">
                <a:tc>
                  <a:txBody>
                    <a:bodyPr/>
                    <a:p>
                      <a:pP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Forecast:</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fontAlgn="ctr"/>
                      <a:endParaRPr sz="12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Previous:</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fontAlgn="ctr"/>
                      <a:endParaRPr sz="12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Time (GMT):</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21:30</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Release Date</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Actual</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Forecast</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Previous</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20-Nov-25</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fontAlgn="ctr"/>
                      <a:endParaRPr sz="12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fontAlgn="ctr"/>
                      <a:endParaRPr sz="12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fontAlgn="ctr"/>
                      <a:endParaRPr sz="12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08-Oct-25</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fontAlgn="ctr"/>
                      <a:endParaRPr sz="12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fontAlgn="ctr"/>
                      <a:endParaRPr sz="12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fontAlgn="ctr"/>
                      <a:endParaRPr sz="12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20-Aug-25</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fontAlgn="ctr"/>
                      <a:endParaRPr sz="12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fontAlgn="ctr"/>
                      <a:endParaRPr sz="12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fontAlgn="ctr"/>
                      <a:endParaRPr sz="12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09-Jul-25</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fontAlgn="ctr"/>
                      <a:endParaRPr sz="12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fontAlgn="ctr"/>
                      <a:endParaRPr sz="12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fontAlgn="ctr"/>
                      <a:endParaRPr sz="12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28-May-25</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fontAlgn="ctr"/>
                      <a:endParaRPr sz="12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fontAlgn="ctr"/>
                      <a:endParaRPr sz="12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fontAlgn="ctr"/>
                      <a:endParaRPr sz="12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09-Apr-25</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fontAlgn="ctr"/>
                      <a:endParaRPr sz="12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fontAlgn="ctr"/>
                      <a:endParaRPr sz="12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fontAlgn="ctr"/>
                      <a:endParaRPr sz="12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a:solidFill>
                        <a:schemeClr val="bg1">
                          <a:lumMod val="75000"/>
                        </a:schemeClr>
                      </a:solidFill>
                      <a:prstDash val="solid"/>
                    </a:lnB>
                    <a:noFill/>
                  </a:tcPr>
                </a:tc>
              </a:tr>
            </a:tbl>
          </a:graphicData>
        </a:graphic>
      </p:graphicFrame>
      <p:cxnSp>
        <p:nvCxnSpPr>
          <p:cNvPr id="3" name="Straight Connector 2"/>
          <p:cNvCxnSpPr/>
          <p:nvPr/>
        </p:nvCxnSpPr>
        <p:spPr>
          <a:xfrm>
            <a:off x="368300" y="689610"/>
            <a:ext cx="11920220" cy="254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FOMC Meeting Minutes</a:t>
            </a:r>
            <a:endParaRPr lang="en-US" altLang="en-US" sz="2400" b="1" dirty="0">
              <a:solidFill>
                <a:srgbClr val="002060"/>
              </a:solidFill>
              <a:latin typeface="Century Gothic" panose="020B0702020202020204" pitchFamily="34" charset="0"/>
              <a:cs typeface="Century Gothic" panose="020B0702020202020204" pitchFamily="34" charset="0"/>
            </a:endParaRPr>
          </a:p>
          <a:p>
            <a:r>
              <a:rPr lang="en-US" altLang="en-US" sz="2400" b="1" dirty="0">
                <a:solidFill>
                  <a:srgbClr val="002060"/>
                </a:solidFill>
                <a:latin typeface="Century Gothic" panose="020B0702020202020204" pitchFamily="34" charset="0"/>
                <a:cs typeface="Century Gothic" panose="020B0702020202020204" pitchFamily="34" charset="0"/>
              </a:rPr>
              <a:t>USDJPY</a:t>
            </a:r>
            <a:endParaRPr lang="en-US" alt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409_18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528_18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709_18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820_18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1008_18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1120_19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FOMC Meeting Minutes</a:t>
            </a:r>
            <a:endParaRPr lang="en-US" altLang="en-US" sz="2400" b="1" dirty="0">
              <a:solidFill>
                <a:srgbClr val="002060"/>
              </a:solidFill>
              <a:latin typeface="Century Gothic" panose="020B0702020202020204" pitchFamily="34" charset="0"/>
              <a:cs typeface="Century Gothic" panose="020B0702020202020204" pitchFamily="34" charset="0"/>
            </a:endParaRPr>
          </a:p>
          <a:p>
            <a:r>
              <a:rPr lang="en-US" altLang="en-US" sz="2400" b="1" dirty="0">
                <a:solidFill>
                  <a:srgbClr val="002060"/>
                </a:solidFill>
                <a:latin typeface="Century Gothic" panose="020B0702020202020204" pitchFamily="34" charset="0"/>
                <a:cs typeface="Century Gothic" panose="020B0702020202020204" pitchFamily="34" charset="0"/>
                <a:sym typeface="+mn-ea"/>
              </a:rPr>
              <a:t>EURUSD</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409_18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528_18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709_18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820_18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1008_18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1120_19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Manufacturing PMI (Dec)</a:t>
            </a:r>
            <a:endParaRPr lang="en-US" altLang="en-US" sz="2400" b="1" dirty="0">
              <a:solidFill>
                <a:srgbClr val="002060"/>
              </a:solidFill>
              <a:latin typeface="Century Gothic" panose="020B0702020202020204" pitchFamily="34" charset="0"/>
              <a:cs typeface="Century Gothic" panose="020B0702020202020204" pitchFamily="34" charset="0"/>
            </a:endParaRPr>
          </a:p>
          <a:p>
            <a:endParaRPr lang="en-US" alt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25450" y="6483350"/>
            <a:ext cx="3750310" cy="366395"/>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highlight>
                  <a:srgbClr val="FFFF00"/>
                </a:highlight>
                <a:latin typeface="Century Gothic" panose="020B0702020202020204" pitchFamily="34" charset="0"/>
                <a:cs typeface="Century Gothic" panose="020B0702020202020204" pitchFamily="34" charset="0"/>
              </a:rPr>
              <a:t> </a:t>
            </a:r>
            <a:endParaRPr lang="en-US" sz="600" i="1" dirty="0">
              <a:solidFill>
                <a:srgbClr val="002060"/>
              </a:solidFill>
              <a:highlight>
                <a:srgbClr val="FFFF00"/>
              </a:highlight>
              <a:latin typeface="Century Gothic" panose="020B0702020202020204" pitchFamily="34" charset="0"/>
              <a:cs typeface="Century Gothic" panose="020B0702020202020204" pitchFamily="34" charset="0"/>
            </a:endParaRPr>
          </a:p>
        </p:txBody>
      </p:sp>
      <p:sp>
        <p:nvSpPr>
          <p:cNvPr id="5" name="Rectangle 4"/>
          <p:cNvSpPr/>
          <p:nvPr/>
        </p:nvSpPr>
        <p:spPr>
          <a:xfrm>
            <a:off x="264680" y="134110"/>
            <a:ext cx="11407299" cy="366084"/>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2400" b="1" dirty="0">
                <a:solidFill>
                  <a:srgbClr val="002060"/>
                </a:solidFill>
                <a:latin typeface="Century Gothic" panose="020B0702020202020204" pitchFamily="34" charset="0"/>
                <a:cs typeface="Century Gothic" panose="020B0702020202020204" pitchFamily="34" charset="0"/>
              </a:rPr>
              <a:t>Manufacturing PMI (Dec)</a:t>
            </a:r>
            <a:endParaRPr lang="en-US" altLang="en-US" sz="2400" b="1" dirty="0">
              <a:solidFill>
                <a:srgbClr val="002060"/>
              </a:solidFill>
              <a:latin typeface="Century Gothic" panose="020B0702020202020204" pitchFamily="34" charset="0"/>
              <a:cs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endPar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endParaRPr>
          </a:p>
        </p:txBody>
      </p:sp>
      <p:graphicFrame>
        <p:nvGraphicFramePr>
          <p:cNvPr id="15" name="Table 14"/>
          <p:cNvGraphicFramePr>
            <a:graphicFrameLocks noGrp="1"/>
          </p:cNvGraphicFramePr>
          <p:nvPr/>
        </p:nvGraphicFramePr>
        <p:xfrm>
          <a:off x="450215" y="889635"/>
          <a:ext cx="11475085" cy="5349240"/>
        </p:xfrm>
        <a:graphic>
          <a:graphicData uri="http://schemas.openxmlformats.org/drawingml/2006/table">
            <a:tbl>
              <a:tblPr/>
              <a:tblGrid>
                <a:gridCol w="1275080"/>
                <a:gridCol w="1275080"/>
                <a:gridCol w="1275080"/>
                <a:gridCol w="1275080"/>
                <a:gridCol w="6374765"/>
              </a:tblGrid>
              <a:tr h="445770">
                <a:tc>
                  <a:txBody>
                    <a:bodyPr/>
                    <a:p>
                      <a:pPr fontAlgn="ctr"/>
                      <a:r>
                        <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Event</a:t>
                      </a:r>
                      <a:endPar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c gridSpan="3">
                  <a:txBody>
                    <a:bodyPr/>
                    <a:p>
                      <a:pPr algn="r" fontAlgn="ctr"/>
                      <a:r>
                        <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Manufacturing PMI (Dec)</a:t>
                      </a:r>
                      <a:endPar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c hMerge="1">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solidFill>
                      <a:schemeClr val="bg1">
                        <a:lumMod val="65000"/>
                      </a:schemeClr>
                    </a:solidFill>
                  </a:tcPr>
                </a:tc>
                <a:tc hMerge="1">
                  <a:tcPr anchor="ctr">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65000"/>
                      </a:schemeClr>
                    </a:solidFill>
                  </a:tcPr>
                </a:tc>
                <a:tc>
                  <a:txBody>
                    <a:bodyPr/>
                    <a:p>
                      <a:pPr algn="ctr" fontAlgn="ctr"/>
                      <a:r>
                        <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Description</a:t>
                      </a:r>
                      <a:endPar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r>
              <a:tr h="445770">
                <a:tc>
                  <a:txBody>
                    <a:bodyPr/>
                    <a:p>
                      <a:pPr fontAlgn="ctr"/>
                      <a:r>
                        <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Actual:</a:t>
                      </a:r>
                      <a:endPar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fontAlgn="ctr"/>
                      <a:endParaRPr sz="11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rowSpan="11">
                  <a:txBody>
                    <a:bodyPr/>
                    <a:p>
                      <a:pPr algn="just"/>
                      <a:r>
                        <a:rPr lang="en-US" altLang="en-US" sz="1200">
                          <a:solidFill>
                            <a:schemeClr val="bg1">
                              <a:lumMod val="50000"/>
                            </a:schemeClr>
                          </a:solidFill>
                          <a:latin typeface="Century Gothic" panose="020B0702020202020204" pitchFamily="34" charset="0"/>
                          <a:cs typeface="Century Gothic" panose="020B0702020202020204" pitchFamily="34" charset="0"/>
                        </a:rPr>
                        <a:t>China Manufacturing Purchasing Managers Index (PMI) provides an early indication each month of economic activities in the Chinese manufacturing sector.It is compiled by China Federation of Logistics &amp; Purchasing (CFLP) and China Logistics Information Centre (CLIC), based on data collected by the National Bureau of Statistics (NBS).Li &amp; Fung Research Centre is responsible for drafting and disseminating the English PMI report. Every month questionnaires are sent to over 700 manufacturing enterprises all over China. The data presented here is compiled from the enterprises responses about their purchasing activities and supply situations. The PMI should be compared to other economic data sources when used in decision-making.</a:t>
                      </a:r>
                      <a:endParaRPr lang="en-US" altLang="en-US" sz="1200">
                        <a:solidFill>
                          <a:schemeClr val="bg1">
                            <a:lumMod val="50000"/>
                          </a:schemeClr>
                        </a:solidFill>
                        <a:latin typeface="Century Gothic" panose="020B0702020202020204" pitchFamily="34" charset="0"/>
                        <a:cs typeface="Century Gothic" panose="020B0702020202020204" pitchFamily="34" charset="0"/>
                      </a:endParaRPr>
                    </a:p>
                    <a:p>
                      <a:pPr algn="just"/>
                      <a:r>
                        <a:rPr lang="en-US" altLang="en-US" sz="1200">
                          <a:solidFill>
                            <a:schemeClr val="bg1">
                              <a:lumMod val="50000"/>
                            </a:schemeClr>
                          </a:solidFill>
                          <a:latin typeface="Century Gothic" panose="020B0702020202020204" pitchFamily="34" charset="0"/>
                          <a:cs typeface="Century Gothic" panose="020B0702020202020204" pitchFamily="34" charset="0"/>
                        </a:rPr>
                        <a:t>A higher than expected reading should be taken as positive/bullish for the CNY , while a lower than expected reading should be taken as negative/bearish for the CNY.</a:t>
                      </a:r>
                      <a:endParaRPr lang="en-US" altLang="en-US" sz="1200">
                        <a:solidFill>
                          <a:schemeClr val="bg1">
                            <a:lumMod val="50000"/>
                          </a:schemeClr>
                        </a:solidFill>
                        <a:latin typeface="Century Gothic" panose="020B0702020202020204" pitchFamily="34" charset="0"/>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r>
              <a:tr h="445770">
                <a:tc>
                  <a:txBody>
                    <a:bodyPr/>
                    <a:p>
                      <a:pPr fontAlgn="ctr"/>
                      <a:r>
                        <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Forecast:</a:t>
                      </a:r>
                      <a:endPar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fontAlgn="ctr"/>
                      <a:endParaRPr sz="11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ctr"/>
                      <a:r>
                        <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Previous:</a:t>
                      </a:r>
                      <a:endPar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fontAlgn="ctr"/>
                      <a:endParaRPr sz="11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ctr"/>
                      <a:r>
                        <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Time (GMT):</a:t>
                      </a:r>
                      <a:endPar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r>
                        <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1:30</a:t>
                      </a:r>
                      <a:endPar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b"/>
                      <a:r>
                        <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Release Date</a:t>
                      </a:r>
                      <a:endPar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Actual</a:t>
                      </a:r>
                      <a:endPar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Forecast</a:t>
                      </a:r>
                      <a:endPar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Previous</a:t>
                      </a:r>
                      <a:endPar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b"/>
                      <a:r>
                        <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30-Nov-25</a:t>
                      </a:r>
                      <a:endPar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49.20</a:t>
                      </a:r>
                      <a:endPar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49.20</a:t>
                      </a:r>
                      <a:endPar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49.00</a:t>
                      </a:r>
                      <a:endPar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b"/>
                      <a:r>
                        <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31-Oct-25</a:t>
                      </a:r>
                      <a:endPar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49.00</a:t>
                      </a:r>
                      <a:endPar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49.60</a:t>
                      </a:r>
                      <a:endPar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49.80</a:t>
                      </a:r>
                      <a:endPar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b"/>
                      <a:r>
                        <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30-Sep-25</a:t>
                      </a:r>
                      <a:endPar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49.80</a:t>
                      </a:r>
                      <a:endPar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49.60</a:t>
                      </a:r>
                      <a:endPar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49.40</a:t>
                      </a:r>
                      <a:endPar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b"/>
                      <a:r>
                        <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31-Aug-25</a:t>
                      </a:r>
                      <a:endPar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49.40</a:t>
                      </a:r>
                      <a:endPar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49.50</a:t>
                      </a:r>
                      <a:endPar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49.30</a:t>
                      </a:r>
                      <a:endPar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b"/>
                      <a:r>
                        <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31-Jul-25</a:t>
                      </a:r>
                      <a:endPar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49.30</a:t>
                      </a:r>
                      <a:endPar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49.70</a:t>
                      </a:r>
                      <a:endPar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49.70</a:t>
                      </a:r>
                      <a:endPar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b"/>
                      <a:r>
                        <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30-Jun-25</a:t>
                      </a:r>
                      <a:endParaRPr sz="11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49.70</a:t>
                      </a:r>
                      <a:endPar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49.60</a:t>
                      </a:r>
                      <a:endPar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49.50</a:t>
                      </a:r>
                      <a:endParaRPr sz="11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a:solidFill>
                        <a:schemeClr val="bg1">
                          <a:lumMod val="75000"/>
                        </a:schemeClr>
                      </a:solidFill>
                      <a:prstDash val="solid"/>
                    </a:lnB>
                    <a:noFill/>
                  </a:tcPr>
                </a:tc>
              </a:tr>
            </a:tbl>
          </a:graphicData>
        </a:graphic>
      </p:graphicFrame>
      <p:cxnSp>
        <p:nvCxnSpPr>
          <p:cNvPr id="3" name="Straight Connector 2"/>
          <p:cNvCxnSpPr/>
          <p:nvPr/>
        </p:nvCxnSpPr>
        <p:spPr>
          <a:xfrm>
            <a:off x="368300" y="689610"/>
            <a:ext cx="11920220" cy="254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Manufacturing PMI (Dec</a:t>
            </a:r>
            <a:endParaRPr lang="en-US" altLang="en-US" sz="2400" b="1" dirty="0">
              <a:solidFill>
                <a:srgbClr val="002060"/>
              </a:solidFill>
              <a:latin typeface="Century Gothic" panose="020B0702020202020204" pitchFamily="34" charset="0"/>
              <a:cs typeface="Century Gothic" panose="020B0702020202020204" pitchFamily="34" charset="0"/>
            </a:endParaRPr>
          </a:p>
          <a:p>
            <a:r>
              <a:rPr lang="en-US" sz="2400" b="1" dirty="0">
                <a:solidFill>
                  <a:srgbClr val="002060"/>
                </a:solidFill>
                <a:latin typeface="Century Gothic" panose="020B0702020202020204" pitchFamily="34" charset="0"/>
                <a:cs typeface="Century Gothic" panose="020B0702020202020204" pitchFamily="34" charset="0"/>
                <a:sym typeface="+mn-ea"/>
              </a:rPr>
              <a:t>USDCNH</a:t>
            </a:r>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CNH_20250630_01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CNH_20250731_01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CNH_20250930_01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CNH_20251031_01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Initial Jobless Claims</a:t>
            </a:r>
            <a:endParaRPr lang="en-US" altLang="en-US" sz="2400" b="1" dirty="0">
              <a:solidFill>
                <a:srgbClr val="002060"/>
              </a:solidFill>
              <a:latin typeface="Century Gothic" panose="020B0702020202020204" pitchFamily="34" charset="0"/>
              <a:cs typeface="Century Gothic" panose="020B0702020202020204" pitchFamily="34" charset="0"/>
            </a:endParaRPr>
          </a:p>
          <a:p>
            <a:endParaRPr lang="en-US" alt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25450" y="6483350"/>
            <a:ext cx="3750310" cy="366395"/>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highlight>
                  <a:srgbClr val="FFFF00"/>
                </a:highlight>
                <a:latin typeface="Century Gothic" panose="020B0702020202020204" pitchFamily="34" charset="0"/>
                <a:cs typeface="Century Gothic" panose="020B0702020202020204" pitchFamily="34" charset="0"/>
              </a:rPr>
              <a:t> </a:t>
            </a:r>
            <a:endParaRPr lang="en-US" sz="600" i="1" dirty="0">
              <a:solidFill>
                <a:srgbClr val="002060"/>
              </a:solidFill>
              <a:highlight>
                <a:srgbClr val="FFFF00"/>
              </a:highlight>
              <a:latin typeface="Century Gothic" panose="020B0702020202020204" pitchFamily="34" charset="0"/>
              <a:cs typeface="Century Gothic" panose="020B0702020202020204" pitchFamily="34" charset="0"/>
            </a:endParaRPr>
          </a:p>
        </p:txBody>
      </p:sp>
      <p:sp>
        <p:nvSpPr>
          <p:cNvPr id="5" name="Rectangle 4"/>
          <p:cNvSpPr/>
          <p:nvPr/>
        </p:nvSpPr>
        <p:spPr>
          <a:xfrm>
            <a:off x="264680" y="134110"/>
            <a:ext cx="11407299" cy="366084"/>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2400" b="1" dirty="0">
                <a:solidFill>
                  <a:srgbClr val="002060"/>
                </a:solidFill>
                <a:latin typeface="Century Gothic" panose="020B0702020202020204" pitchFamily="34" charset="0"/>
                <a:cs typeface="Century Gothic" panose="020B0702020202020204" pitchFamily="34" charset="0"/>
              </a:rPr>
              <a:t>Initial Jobless Claims</a:t>
            </a:r>
            <a:endParaRPr lang="en-US" altLang="en-US" sz="2400" b="1" dirty="0">
              <a:solidFill>
                <a:srgbClr val="002060"/>
              </a:solidFill>
              <a:latin typeface="Century Gothic" panose="020B0702020202020204" pitchFamily="34" charset="0"/>
              <a:cs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endPar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endParaRPr>
          </a:p>
        </p:txBody>
      </p:sp>
      <p:graphicFrame>
        <p:nvGraphicFramePr>
          <p:cNvPr id="15" name="Table 14"/>
          <p:cNvGraphicFramePr>
            <a:graphicFrameLocks noGrp="1"/>
          </p:cNvGraphicFramePr>
          <p:nvPr/>
        </p:nvGraphicFramePr>
        <p:xfrm>
          <a:off x="450215" y="889635"/>
          <a:ext cx="11475085" cy="5349240"/>
        </p:xfrm>
        <a:graphic>
          <a:graphicData uri="http://schemas.openxmlformats.org/drawingml/2006/table">
            <a:tbl>
              <a:tblPr/>
              <a:tblGrid>
                <a:gridCol w="1275080"/>
                <a:gridCol w="1275080"/>
                <a:gridCol w="1275080"/>
                <a:gridCol w="1275080"/>
                <a:gridCol w="6374765"/>
              </a:tblGrid>
              <a:tr h="445770">
                <a:tc>
                  <a:txBody>
                    <a:bodyPr/>
                    <a:p>
                      <a:pP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Event</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c gridSpan="3">
                  <a:txBody>
                    <a:bodyPr/>
                    <a:p>
                      <a:pPr algn="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Initial Jobless Claims</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c hMerge="1">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solidFill>
                      <a:schemeClr val="bg1">
                        <a:lumMod val="65000"/>
                      </a:schemeClr>
                    </a:solidFill>
                  </a:tcPr>
                </a:tc>
                <a:tc hMerge="1">
                  <a:tcPr anchor="ctr">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65000"/>
                      </a:schemeClr>
                    </a:solidFill>
                  </a:tcPr>
                </a:tc>
                <a:tc>
                  <a:txBody>
                    <a:bodyPr/>
                    <a:p>
                      <a:pPr algn="ct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Description</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r>
              <a:tr h="445770">
                <a:tc>
                  <a:txBody>
                    <a:bodyPr/>
                    <a:p>
                      <a:pP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Actual:</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fontAlgn="ctr"/>
                      <a:endParaRPr sz="12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rowSpan="11">
                  <a:txBody>
                    <a:bodyPr/>
                    <a:p>
                      <a:r>
                        <a:rPr lang="en-US" altLang="en-US" sz="1200">
                          <a:solidFill>
                            <a:schemeClr val="bg1">
                              <a:lumMod val="50000"/>
                            </a:schemeClr>
                          </a:solidFill>
                          <a:latin typeface="Century Gothic" panose="020B0702020202020204" pitchFamily="34" charset="0"/>
                          <a:cs typeface="Century Gothic" panose="020B0702020202020204" pitchFamily="34" charset="0"/>
                        </a:rPr>
                        <a:t>Initial Jobless Claims measures the number of individuals who filed for unemployment insurance for the first time during the past week. This is the earliest U.S. economic data, but the market impact varies from week to week.</a:t>
                      </a:r>
                      <a:endParaRPr lang="en-US" altLang="en-US" sz="1200">
                        <a:solidFill>
                          <a:schemeClr val="bg1">
                            <a:lumMod val="50000"/>
                          </a:schemeClr>
                        </a:solidFill>
                        <a:latin typeface="Century Gothic" panose="020B0702020202020204" pitchFamily="34" charset="0"/>
                        <a:cs typeface="Century Gothic" panose="020B0702020202020204" pitchFamily="34" charset="0"/>
                      </a:endParaRPr>
                    </a:p>
                    <a:p>
                      <a:endParaRPr lang="en-US" altLang="en-US" sz="1200">
                        <a:solidFill>
                          <a:schemeClr val="bg1">
                            <a:lumMod val="50000"/>
                          </a:schemeClr>
                        </a:solidFill>
                        <a:latin typeface="Century Gothic" panose="020B0702020202020204" pitchFamily="34" charset="0"/>
                        <a:cs typeface="Century Gothic" panose="020B0702020202020204" pitchFamily="34" charset="0"/>
                      </a:endParaRPr>
                    </a:p>
                    <a:p>
                      <a:r>
                        <a:rPr lang="en-US" altLang="en-US" sz="1200">
                          <a:solidFill>
                            <a:schemeClr val="bg1">
                              <a:lumMod val="50000"/>
                            </a:schemeClr>
                          </a:solidFill>
                          <a:latin typeface="Century Gothic" panose="020B0702020202020204" pitchFamily="34" charset="0"/>
                          <a:cs typeface="Century Gothic" panose="020B0702020202020204" pitchFamily="34" charset="0"/>
                        </a:rPr>
                        <a:t>A higher than expected reading should be taken as negative/bearish for the USD, while a lower than expected reading should be taken as positive/bullish for the USD.</a:t>
                      </a:r>
                      <a:endParaRPr lang="en-US" altLang="en-US" sz="1200">
                        <a:solidFill>
                          <a:schemeClr val="bg1">
                            <a:lumMod val="50000"/>
                          </a:schemeClr>
                        </a:solidFill>
                        <a:latin typeface="Century Gothic" panose="020B0702020202020204" pitchFamily="34" charset="0"/>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r>
              <a:tr h="445770">
                <a:tc>
                  <a:txBody>
                    <a:bodyPr/>
                    <a:p>
                      <a:pP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Forecast:</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fontAlgn="ctr"/>
                      <a:endParaRPr sz="12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Previous:</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fontAlgn="ctr"/>
                      <a:endParaRPr sz="12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Time (GMT):</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13:30</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Release Date</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Actual</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Forecast</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Previous</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24-Dec-25</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214</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224</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224</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18-Dec-25</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224</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224</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237</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11-Dec-25</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236</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220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192</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04-Dec-25</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191</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219</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218</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26-Nov-25</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216</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226</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222</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20-Nov-25</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220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fontAlgn="b"/>
                      <a:endParaRPr sz="12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228</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a:solidFill>
                        <a:schemeClr val="bg1">
                          <a:lumMod val="75000"/>
                        </a:schemeClr>
                      </a:solidFill>
                      <a:prstDash val="solid"/>
                    </a:lnB>
                    <a:noFill/>
                  </a:tcPr>
                </a:tc>
              </a:tr>
            </a:tbl>
          </a:graphicData>
        </a:graphic>
      </p:graphicFrame>
      <p:cxnSp>
        <p:nvCxnSpPr>
          <p:cNvPr id="3" name="Straight Connector 2"/>
          <p:cNvCxnSpPr/>
          <p:nvPr/>
        </p:nvCxnSpPr>
        <p:spPr>
          <a:xfrm>
            <a:off x="368300" y="689610"/>
            <a:ext cx="11920220" cy="254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Initial Jobless Claims</a:t>
            </a:r>
            <a:endParaRPr lang="en-US" altLang="en-US" sz="2400" b="1" dirty="0">
              <a:solidFill>
                <a:srgbClr val="002060"/>
              </a:solidFill>
              <a:latin typeface="Century Gothic" panose="020B0702020202020204" pitchFamily="34" charset="0"/>
              <a:cs typeface="Century Gothic" panose="020B0702020202020204" pitchFamily="34" charset="0"/>
            </a:endParaRPr>
          </a:p>
          <a:p>
            <a:r>
              <a:rPr lang="en-US" altLang="en-US" sz="2400" b="1" dirty="0">
                <a:solidFill>
                  <a:srgbClr val="002060"/>
                </a:solidFill>
                <a:latin typeface="Century Gothic" panose="020B0702020202020204" pitchFamily="34" charset="0"/>
                <a:cs typeface="Century Gothic" panose="020B0702020202020204" pitchFamily="34" charset="0"/>
              </a:rPr>
              <a:t>USDJPY</a:t>
            </a:r>
            <a:endParaRPr lang="en-US" alt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1120_13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1126_13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1204_13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1211_13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1218_13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1224_13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Initial Jobless Claims</a:t>
            </a:r>
            <a:endParaRPr lang="en-US" altLang="en-US" sz="2400" b="1" dirty="0">
              <a:solidFill>
                <a:srgbClr val="002060"/>
              </a:solidFill>
              <a:latin typeface="Century Gothic" panose="020B0702020202020204" pitchFamily="34" charset="0"/>
              <a:cs typeface="Century Gothic" panose="020B0702020202020204" pitchFamily="34" charset="0"/>
            </a:endParaRPr>
          </a:p>
          <a:p>
            <a:r>
              <a:rPr lang="en-US" altLang="en-US" sz="2400" b="1" dirty="0">
                <a:solidFill>
                  <a:srgbClr val="002060"/>
                </a:solidFill>
                <a:latin typeface="Century Gothic" panose="020B0702020202020204" pitchFamily="34" charset="0"/>
                <a:cs typeface="Century Gothic" panose="020B0702020202020204" pitchFamily="34" charset="0"/>
                <a:sym typeface="+mn-ea"/>
              </a:rPr>
              <a:t>EURUSD</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1120_13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1126_13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1204_13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1211_13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1218_13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1224_13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Chicago PMI (Dec)</a:t>
            </a:r>
            <a:endParaRPr lang="en-US" altLang="en-US" sz="2400" b="1" dirty="0">
              <a:solidFill>
                <a:srgbClr val="002060"/>
              </a:solidFill>
              <a:latin typeface="Century Gothic" panose="020B0702020202020204" pitchFamily="34" charset="0"/>
              <a:cs typeface="Century Gothic" panose="020B0702020202020204" pitchFamily="34" charset="0"/>
            </a:endParaRPr>
          </a:p>
          <a:p>
            <a:endParaRPr lang="en-US" alt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25450" y="6483350"/>
            <a:ext cx="3750310" cy="366395"/>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highlight>
                  <a:srgbClr val="FFFF00"/>
                </a:highlight>
                <a:latin typeface="Century Gothic" panose="020B0702020202020204" pitchFamily="34" charset="0"/>
                <a:cs typeface="Century Gothic" panose="020B0702020202020204" pitchFamily="34" charset="0"/>
              </a:rPr>
              <a:t> </a:t>
            </a:r>
            <a:endParaRPr lang="en-US" sz="600" i="1" dirty="0">
              <a:solidFill>
                <a:srgbClr val="002060"/>
              </a:solidFill>
              <a:highlight>
                <a:srgbClr val="FFFF00"/>
              </a:highlight>
              <a:latin typeface="Century Gothic" panose="020B0702020202020204" pitchFamily="34" charset="0"/>
              <a:cs typeface="Century Gothic" panose="020B0702020202020204" pitchFamily="34" charset="0"/>
            </a:endParaRPr>
          </a:p>
        </p:txBody>
      </p:sp>
      <p:sp>
        <p:nvSpPr>
          <p:cNvPr id="5" name="Rectangle 4"/>
          <p:cNvSpPr/>
          <p:nvPr/>
        </p:nvSpPr>
        <p:spPr>
          <a:xfrm>
            <a:off x="264680" y="134110"/>
            <a:ext cx="11407299" cy="366084"/>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2400" b="1" dirty="0">
                <a:solidFill>
                  <a:srgbClr val="002060"/>
                </a:solidFill>
                <a:latin typeface="Century Gothic" panose="020B0702020202020204" pitchFamily="34" charset="0"/>
                <a:cs typeface="Century Gothic" panose="020B0702020202020204" pitchFamily="34" charset="0"/>
              </a:rPr>
              <a:t>Chicago PMI (Dec)</a:t>
            </a:r>
            <a:endParaRPr lang="en-US" altLang="en-US" sz="2400" b="1" dirty="0">
              <a:solidFill>
                <a:srgbClr val="002060"/>
              </a:solidFill>
              <a:latin typeface="Century Gothic" panose="020B0702020202020204" pitchFamily="34" charset="0"/>
              <a:cs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endPar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endParaRPr>
          </a:p>
        </p:txBody>
      </p:sp>
      <p:graphicFrame>
        <p:nvGraphicFramePr>
          <p:cNvPr id="15" name="Table 14"/>
          <p:cNvGraphicFramePr>
            <a:graphicFrameLocks noGrp="1"/>
          </p:cNvGraphicFramePr>
          <p:nvPr/>
        </p:nvGraphicFramePr>
        <p:xfrm>
          <a:off x="450215" y="889635"/>
          <a:ext cx="11475085" cy="5349240"/>
        </p:xfrm>
        <a:graphic>
          <a:graphicData uri="http://schemas.openxmlformats.org/drawingml/2006/table">
            <a:tbl>
              <a:tblPr/>
              <a:tblGrid>
                <a:gridCol w="1275080"/>
                <a:gridCol w="1275080"/>
                <a:gridCol w="1275080"/>
                <a:gridCol w="1275080"/>
                <a:gridCol w="6374765"/>
              </a:tblGrid>
              <a:tr h="445770">
                <a:tc>
                  <a:txBody>
                    <a:bodyPr/>
                    <a:p>
                      <a:pP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Event</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c gridSpan="3">
                  <a:txBody>
                    <a:bodyPr/>
                    <a:p>
                      <a:pPr algn="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Chicago PMI (Dec)</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c hMerge="1">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solidFill>
                      <a:schemeClr val="bg1">
                        <a:lumMod val="65000"/>
                      </a:schemeClr>
                    </a:solidFill>
                  </a:tcPr>
                </a:tc>
                <a:tc hMerge="1">
                  <a:tcPr anchor="ctr">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65000"/>
                      </a:schemeClr>
                    </a:solidFill>
                  </a:tcPr>
                </a:tc>
                <a:tc>
                  <a:txBody>
                    <a:bodyPr/>
                    <a:p>
                      <a:pPr algn="ct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Description</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r>
              <a:tr h="445770">
                <a:tc>
                  <a:txBody>
                    <a:bodyPr/>
                    <a:p>
                      <a:pP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Actual:</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fontAlgn="ctr"/>
                      <a:endParaRPr sz="12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rowSpan="11">
                  <a:txBody>
                    <a:bodyPr/>
                    <a:p>
                      <a:r>
                        <a:rPr lang="en-US" altLang="en-US" sz="1200">
                          <a:solidFill>
                            <a:schemeClr val="bg1">
                              <a:lumMod val="50000"/>
                            </a:schemeClr>
                          </a:solidFill>
                          <a:latin typeface="Century Gothic" panose="020B0702020202020204" pitchFamily="34" charset="0"/>
                          <a:cs typeface="Century Gothic" panose="020B0702020202020204" pitchFamily="34" charset="0"/>
                        </a:rPr>
                        <a:t>The Chicago Purchasing Managers' Index (PMI) determines the economic health of the manufacturing sector in Chicago region. A reading above 50 indicates expansion of the manufacturing sector; a reading below indicates contraction. The Chicago PMI can be of some help in forecasting the ISM manufacturing PMI.</a:t>
                      </a:r>
                      <a:endParaRPr lang="en-US" altLang="en-US" sz="1200">
                        <a:solidFill>
                          <a:schemeClr val="bg1">
                            <a:lumMod val="50000"/>
                          </a:schemeClr>
                        </a:solidFill>
                        <a:latin typeface="Century Gothic" panose="020B0702020202020204" pitchFamily="34" charset="0"/>
                        <a:cs typeface="Century Gothic" panose="020B0702020202020204" pitchFamily="34" charset="0"/>
                      </a:endParaRPr>
                    </a:p>
                    <a:p>
                      <a:endParaRPr lang="en-US" altLang="en-US" sz="1200">
                        <a:solidFill>
                          <a:schemeClr val="bg1">
                            <a:lumMod val="50000"/>
                          </a:schemeClr>
                        </a:solidFill>
                        <a:latin typeface="Century Gothic" panose="020B0702020202020204" pitchFamily="34" charset="0"/>
                        <a:cs typeface="Century Gothic" panose="020B0702020202020204" pitchFamily="34" charset="0"/>
                      </a:endParaRPr>
                    </a:p>
                    <a:p>
                      <a:r>
                        <a:rPr lang="en-US" altLang="en-US" sz="1200">
                          <a:solidFill>
                            <a:schemeClr val="bg1">
                              <a:lumMod val="50000"/>
                            </a:schemeClr>
                          </a:solidFill>
                          <a:latin typeface="Century Gothic" panose="020B0702020202020204" pitchFamily="34" charset="0"/>
                          <a:cs typeface="Century Gothic" panose="020B0702020202020204" pitchFamily="34" charset="0"/>
                        </a:rPr>
                        <a:t>A higher than expected reading should be taken as positive/bullish for the USD, while a lower than expected reading should be taken as negative/bearish for the USD.</a:t>
                      </a:r>
                      <a:endParaRPr lang="en-US" altLang="en-US" sz="1200">
                        <a:solidFill>
                          <a:schemeClr val="bg1">
                            <a:lumMod val="50000"/>
                          </a:schemeClr>
                        </a:solidFill>
                        <a:latin typeface="Century Gothic" panose="020B0702020202020204" pitchFamily="34" charset="0"/>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r>
              <a:tr h="445770">
                <a:tc>
                  <a:txBody>
                    <a:bodyPr/>
                    <a:p>
                      <a:pP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Forecast:</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fontAlgn="ctr"/>
                      <a:endParaRPr sz="12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Previous:</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49.20</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Time (GMT):</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14:45</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Release Date</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Actual</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Forecast</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Previous</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26-Nov-25</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36.30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44.30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43.80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31-Oct-25</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43.80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42.30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40.60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30-Sep-25</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40.60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43.40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41.50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29-Aug-25</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41.50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46.60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47.10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31-Jul-25</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47.10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41.90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40.40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30-Jun-25</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40.40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42.70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40.50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a:solidFill>
                        <a:schemeClr val="bg1">
                          <a:lumMod val="75000"/>
                        </a:schemeClr>
                      </a:solidFill>
                      <a:prstDash val="solid"/>
                    </a:lnB>
                    <a:noFill/>
                  </a:tcPr>
                </a:tc>
              </a:tr>
            </a:tbl>
          </a:graphicData>
        </a:graphic>
      </p:graphicFrame>
      <p:cxnSp>
        <p:nvCxnSpPr>
          <p:cNvPr id="3" name="Straight Connector 2"/>
          <p:cNvCxnSpPr/>
          <p:nvPr/>
        </p:nvCxnSpPr>
        <p:spPr>
          <a:xfrm>
            <a:off x="368300" y="689610"/>
            <a:ext cx="11920220" cy="254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Chicago PMI (Dec)</a:t>
            </a:r>
            <a:endParaRPr lang="en-US" altLang="en-US" sz="2400" b="1" dirty="0">
              <a:solidFill>
                <a:srgbClr val="002060"/>
              </a:solidFill>
              <a:latin typeface="Century Gothic" panose="020B0702020202020204" pitchFamily="34" charset="0"/>
              <a:cs typeface="Century Gothic" panose="020B0702020202020204" pitchFamily="34" charset="0"/>
            </a:endParaRPr>
          </a:p>
          <a:p>
            <a:r>
              <a:rPr lang="en-US" altLang="en-US" sz="2400" b="1" dirty="0">
                <a:solidFill>
                  <a:srgbClr val="002060"/>
                </a:solidFill>
                <a:latin typeface="Century Gothic" panose="020B0702020202020204" pitchFamily="34" charset="0"/>
                <a:cs typeface="Century Gothic" panose="020B0702020202020204" pitchFamily="34" charset="0"/>
              </a:rPr>
              <a:t>USDJPY</a:t>
            </a:r>
            <a:endParaRPr lang="en-US" alt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630_134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731_134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829_134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930_134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1031_134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1126_144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Chicago PMI (Dec)</a:t>
            </a:r>
            <a:endParaRPr lang="en-US" altLang="en-US" sz="2400" b="1" dirty="0">
              <a:solidFill>
                <a:srgbClr val="002060"/>
              </a:solidFill>
              <a:latin typeface="Century Gothic" panose="020B0702020202020204" pitchFamily="34" charset="0"/>
              <a:cs typeface="Century Gothic" panose="020B0702020202020204" pitchFamily="34" charset="0"/>
            </a:endParaRPr>
          </a:p>
          <a:p>
            <a:r>
              <a:rPr lang="en-US" altLang="en-US" sz="2400" b="1" dirty="0">
                <a:solidFill>
                  <a:srgbClr val="002060"/>
                </a:solidFill>
                <a:latin typeface="Century Gothic" panose="020B0702020202020204" pitchFamily="34" charset="0"/>
                <a:cs typeface="Century Gothic" panose="020B0702020202020204" pitchFamily="34" charset="0"/>
                <a:sym typeface="+mn-ea"/>
              </a:rPr>
              <a:t>EURUSD</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630_134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731_134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829_134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930_134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1031_134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1126_144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S&amp;P Global Manufacturing PMI (Dec)</a:t>
            </a:r>
            <a:endParaRPr lang="en-US" altLang="en-US" sz="2400" b="1" dirty="0">
              <a:solidFill>
                <a:srgbClr val="002060"/>
              </a:solidFill>
              <a:latin typeface="Century Gothic" panose="020B0702020202020204" pitchFamily="34" charset="0"/>
              <a:cs typeface="Century Gothic" panose="020B0702020202020204" pitchFamily="34" charset="0"/>
            </a:endParaRPr>
          </a:p>
          <a:p>
            <a:endParaRPr lang="en-US" alt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25450" y="6483350"/>
            <a:ext cx="3750310" cy="366395"/>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highlight>
                  <a:srgbClr val="FFFF00"/>
                </a:highlight>
                <a:latin typeface="Century Gothic" panose="020B0702020202020204" pitchFamily="34" charset="0"/>
                <a:cs typeface="Century Gothic" panose="020B0702020202020204" pitchFamily="34" charset="0"/>
              </a:rPr>
              <a:t> </a:t>
            </a:r>
            <a:endParaRPr lang="en-US" sz="600" i="1" dirty="0">
              <a:solidFill>
                <a:srgbClr val="002060"/>
              </a:solidFill>
              <a:highlight>
                <a:srgbClr val="FFFF00"/>
              </a:highlight>
              <a:latin typeface="Century Gothic" panose="020B0702020202020204" pitchFamily="34" charset="0"/>
              <a:cs typeface="Century Gothic" panose="020B0702020202020204" pitchFamily="34" charset="0"/>
            </a:endParaRPr>
          </a:p>
        </p:txBody>
      </p:sp>
      <p:sp>
        <p:nvSpPr>
          <p:cNvPr id="5" name="Rectangle 4"/>
          <p:cNvSpPr/>
          <p:nvPr/>
        </p:nvSpPr>
        <p:spPr>
          <a:xfrm>
            <a:off x="264680" y="134110"/>
            <a:ext cx="11407299" cy="366084"/>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2400" b="1" dirty="0">
                <a:solidFill>
                  <a:srgbClr val="002060"/>
                </a:solidFill>
                <a:latin typeface="Century Gothic" panose="020B0702020202020204" pitchFamily="34" charset="0"/>
                <a:cs typeface="Century Gothic" panose="020B0702020202020204" pitchFamily="34" charset="0"/>
              </a:rPr>
              <a:t>S&amp;P Global Manufacturing PMI (Dec)</a:t>
            </a:r>
            <a:endParaRPr lang="en-US" altLang="en-US" sz="2400" b="1" dirty="0">
              <a:solidFill>
                <a:srgbClr val="002060"/>
              </a:solidFill>
              <a:latin typeface="Century Gothic" panose="020B0702020202020204" pitchFamily="34" charset="0"/>
              <a:cs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endPar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endParaRPr>
          </a:p>
        </p:txBody>
      </p:sp>
      <p:graphicFrame>
        <p:nvGraphicFramePr>
          <p:cNvPr id="15" name="Table 14"/>
          <p:cNvGraphicFramePr>
            <a:graphicFrameLocks noGrp="1"/>
          </p:cNvGraphicFramePr>
          <p:nvPr/>
        </p:nvGraphicFramePr>
        <p:xfrm>
          <a:off x="450215" y="889635"/>
          <a:ext cx="11475085" cy="5349240"/>
        </p:xfrm>
        <a:graphic>
          <a:graphicData uri="http://schemas.openxmlformats.org/drawingml/2006/table">
            <a:tbl>
              <a:tblPr/>
              <a:tblGrid>
                <a:gridCol w="1275080"/>
                <a:gridCol w="1275080"/>
                <a:gridCol w="1275080"/>
                <a:gridCol w="1275080"/>
                <a:gridCol w="6374765"/>
              </a:tblGrid>
              <a:tr h="445770">
                <a:tc>
                  <a:txBody>
                    <a:bodyPr/>
                    <a:p>
                      <a:pPr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Event</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c gridSpan="3">
                  <a:txBody>
                    <a:bodyPr/>
                    <a:p>
                      <a:pPr algn="r"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S&amp;P Global Manufacturing PMI (Dec)</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c hMerge="1">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solidFill>
                      <a:schemeClr val="bg1">
                        <a:lumMod val="65000"/>
                      </a:schemeClr>
                    </a:solidFill>
                  </a:tcPr>
                </a:tc>
                <a:tc hMerge="1">
                  <a:tcPr anchor="ctr">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65000"/>
                      </a:schemeClr>
                    </a:solidFill>
                  </a:tcPr>
                </a:tc>
                <a:tc>
                  <a:txBody>
                    <a:bodyPr/>
                    <a:p>
                      <a:pPr algn="ctr"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Description</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r>
              <a:tr h="445770">
                <a:tc>
                  <a:txBody>
                    <a:bodyPr/>
                    <a:p>
                      <a:pPr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Actual:</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fontAlgn="b"/>
                      <a:endParaRPr sz="12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rowSpan="11">
                  <a:txBody>
                    <a:bodyPr/>
                    <a:p>
                      <a:r>
                        <a:rPr lang="en-US" altLang="en-US" sz="1200">
                          <a:solidFill>
                            <a:schemeClr val="bg1">
                              <a:lumMod val="50000"/>
                            </a:schemeClr>
                          </a:solidFill>
                          <a:latin typeface="Century Gothic" panose="020B0702020202020204" pitchFamily="34" charset="0"/>
                          <a:cs typeface="Century Gothic" panose="020B0702020202020204" pitchFamily="34" charset="0"/>
                        </a:rPr>
                        <a:t>The Manufacturing Purchasing Managers' Index (PMI) measures the activity level of purchasing managers in the manufacturing sector. A reading above 50 indicates expansion in the sector; below 50 indicates contraction. Traders watch these surveys closely as purchasing managers usually have early access to data about their company’s performance, which can be a leading indicator of overall economic performance. A higher than expected reading should be taken as positive/bullish for the USD while a lower than expected reading should be taken as negative/bearish for the USD.</a:t>
                      </a:r>
                      <a:endParaRPr lang="en-US" altLang="en-US" sz="1200">
                        <a:solidFill>
                          <a:schemeClr val="bg1">
                            <a:lumMod val="50000"/>
                          </a:schemeClr>
                        </a:solidFill>
                        <a:latin typeface="Century Gothic" panose="020B0702020202020204" pitchFamily="34" charset="0"/>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r>
              <a:tr h="445770">
                <a:tc>
                  <a:txBody>
                    <a:bodyPr/>
                    <a:p>
                      <a:pPr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Forecast:</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fontAlgn="b"/>
                      <a:endParaRPr sz="12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Previous:</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fontAlgn="b"/>
                      <a:endParaRPr sz="1200">
                        <a:solidFill>
                          <a:schemeClr val="bg1">
                            <a:lumMod val="50000"/>
                          </a:schemeClr>
                        </a:solidFill>
                        <a:latin typeface="Century Gothic" panose="020B0702020202020204" pitchFamily="34" charset="0"/>
                        <a:ea typeface="Aptos Narrow"/>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Time (GMT):</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13:45</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Release Date</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Actual</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Forecast</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Previous</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16-Dec-25</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51.80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52.00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52.20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16-Dec-25</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51.80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52.00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52.20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16-Dec-25</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51.80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52.00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52.20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16-Dec-25</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51.80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52.00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52.20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16-Dec-25</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51.80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52.00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52.20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fontAlgn="b"/>
                      <a:r>
                        <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16-Dec-25</a:t>
                      </a:r>
                      <a:endParaRPr sz="1200" b="1">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51.80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52.00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b"/>
                      <a:r>
                        <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rPr>
                        <a:t>52.20</a:t>
                      </a:r>
                      <a:endParaRPr sz="1200" b="0">
                        <a:solidFill>
                          <a:schemeClr val="bg1">
                            <a:lumMod val="50000"/>
                          </a:schemeClr>
                        </a:solidFill>
                        <a:latin typeface="Century Gothic" panose="020B0702020202020204" pitchFamily="34" charset="0"/>
                        <a:ea typeface="Century Gothic" panose="020B0702020202020204"/>
                        <a:cs typeface="Century Gothic" panose="020B0702020202020204" pitchFamily="34" charset="0"/>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a:solidFill>
                        <a:schemeClr val="bg1">
                          <a:lumMod val="75000"/>
                        </a:schemeClr>
                      </a:solidFill>
                      <a:prstDash val="solid"/>
                    </a:lnB>
                    <a:noFill/>
                  </a:tcPr>
                </a:tc>
              </a:tr>
            </a:tbl>
          </a:graphicData>
        </a:graphic>
      </p:graphicFrame>
      <p:cxnSp>
        <p:nvCxnSpPr>
          <p:cNvPr id="3" name="Straight Connector 2"/>
          <p:cNvCxnSpPr/>
          <p:nvPr/>
        </p:nvCxnSpPr>
        <p:spPr>
          <a:xfrm>
            <a:off x="368300" y="689610"/>
            <a:ext cx="11920220" cy="254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S&amp;P Global Manufacturing PMI (Dec)</a:t>
            </a:r>
            <a:endParaRPr lang="en-US" altLang="en-US" sz="2400" b="1" dirty="0">
              <a:solidFill>
                <a:srgbClr val="002060"/>
              </a:solidFill>
              <a:latin typeface="Century Gothic" panose="020B0702020202020204" pitchFamily="34" charset="0"/>
              <a:cs typeface="Century Gothic" panose="020B0702020202020204" pitchFamily="34" charset="0"/>
            </a:endParaRPr>
          </a:p>
          <a:p>
            <a:r>
              <a:rPr lang="en-US" altLang="en-US" sz="2400" b="1" dirty="0">
                <a:solidFill>
                  <a:srgbClr val="002060"/>
                </a:solidFill>
                <a:latin typeface="Century Gothic" panose="020B0702020202020204" pitchFamily="34" charset="0"/>
                <a:cs typeface="Century Gothic" panose="020B0702020202020204" pitchFamily="34" charset="0"/>
              </a:rPr>
              <a:t>USDJPY</a:t>
            </a:r>
            <a:endParaRPr lang="en-US" alt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1216_144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S&amp;P Global Manufacturing PMI (Dec)</a:t>
            </a:r>
            <a:endParaRPr lang="en-US" altLang="en-US" sz="2400" b="1" dirty="0">
              <a:solidFill>
                <a:srgbClr val="002060"/>
              </a:solidFill>
              <a:latin typeface="Century Gothic" panose="020B0702020202020204" pitchFamily="34" charset="0"/>
              <a:cs typeface="Century Gothic" panose="020B0702020202020204" pitchFamily="34" charset="0"/>
            </a:endParaRPr>
          </a:p>
          <a:p>
            <a:r>
              <a:rPr lang="en-US" altLang="en-US" sz="2400" b="1" dirty="0">
                <a:solidFill>
                  <a:srgbClr val="002060"/>
                </a:solidFill>
                <a:latin typeface="Century Gothic" panose="020B0702020202020204" pitchFamily="34" charset="0"/>
                <a:cs typeface="Century Gothic" panose="020B0702020202020204" pitchFamily="34" charset="0"/>
                <a:sym typeface="+mn-ea"/>
              </a:rPr>
              <a:t>EURUSD</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1216_144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Appendix</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highlight>
                  <a:srgbClr val="FFFF00"/>
                </a:highlight>
                <a:latin typeface="Century Gothic" panose="020B0702020202020204" pitchFamily="34" charset="0"/>
                <a:cs typeface="Century Gothic" panose="020B0702020202020204" pitchFamily="34" charset="0"/>
              </a:rPr>
              <a:t> </a:t>
            </a:r>
            <a:endParaRPr lang="en-US" sz="600" i="1" dirty="0">
              <a:solidFill>
                <a:srgbClr val="002060"/>
              </a:solidFill>
              <a:highlight>
                <a:srgbClr val="FFFF00"/>
              </a:highlight>
              <a:latin typeface="Century Gothic" panose="020B0702020202020204" pitchFamily="34" charset="0"/>
              <a:cs typeface="Century Gothic" panose="020B0702020202020204" pitchFamily="34" charset="0"/>
            </a:endParaRPr>
          </a:p>
        </p:txBody>
      </p:sp>
      <p:sp>
        <p:nvSpPr>
          <p:cNvPr id="5" name="Rectangle 4"/>
          <p:cNvSpPr/>
          <p:nvPr/>
        </p:nvSpPr>
        <p:spPr>
          <a:xfrm>
            <a:off x="264680" y="134110"/>
            <a:ext cx="11407299" cy="366084"/>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dirty="0">
                <a:solidFill>
                  <a:srgbClr val="002060"/>
                </a:solidFill>
                <a:latin typeface="Century Gothic" panose="020B0702020202020204" pitchFamily="34" charset="0"/>
                <a:sym typeface="+mn-ea"/>
              </a:rPr>
              <a:t>Important Information</a:t>
            </a:r>
            <a:endParaRPr lang="en-US" sz="2400" b="1" dirty="0">
              <a:solidFill>
                <a:srgbClr val="002060"/>
              </a:solidFill>
              <a:latin typeface="Century Gothic" panose="020B0702020202020204" pitchFamily="34" charset="0"/>
              <a:cs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endPar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endParaRPr>
          </a:p>
        </p:txBody>
      </p:sp>
      <p:cxnSp>
        <p:nvCxnSpPr>
          <p:cNvPr id="2" name="Straight Connector 1"/>
          <p:cNvCxnSpPr/>
          <p:nvPr/>
        </p:nvCxnSpPr>
        <p:spPr>
          <a:xfrm>
            <a:off x="368300" y="689610"/>
            <a:ext cx="11920220" cy="254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graphicFrame>
        <p:nvGraphicFramePr>
          <p:cNvPr id="15" name="Table 14"/>
          <p:cNvGraphicFramePr>
            <a:graphicFrameLocks noGrp="1"/>
          </p:cNvGraphicFramePr>
          <p:nvPr/>
        </p:nvGraphicFramePr>
        <p:xfrm>
          <a:off x="450215" y="889635"/>
          <a:ext cx="11475085" cy="5602605"/>
        </p:xfrm>
        <a:graphic>
          <a:graphicData uri="http://schemas.openxmlformats.org/drawingml/2006/table">
            <a:tbl>
              <a:tblPr/>
              <a:tblGrid>
                <a:gridCol w="11475085"/>
              </a:tblGrid>
              <a:tr h="5602605">
                <a:tc>
                  <a:txBody>
                    <a:bodyPr/>
                    <a:p>
                      <a:pPr algn="l" fontAlgn="ctr">
                        <a:lnSpc>
                          <a:spcPct val="100000"/>
                        </a:lnSpc>
                      </a:pP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p>
                      <a:pPr algn="l" fontAlgn="ctr">
                        <a:lnSpc>
                          <a:spcPct val="100000"/>
                        </a:lnSpc>
                      </a:pPr>
                      <a:r>
                        <a:rPr lang="en-US" altLang="en-US" sz="1600" b="1"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rPr>
                        <a:t>Quantwater Tech Investments</a:t>
                      </a:r>
                      <a:endParaRPr lang="en-US" altLang="en-US" sz="1600" b="1"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p>
                      <a:pPr algn="l" fontAlgn="ctr">
                        <a:lnSpc>
                          <a:spcPct val="100000"/>
                        </a:lnSpc>
                      </a:pPr>
                      <a:r>
                        <a:rPr lang="en-US" altLang="en-US" sz="1600" b="1"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rPr>
                        <a:t>Data Release Deck – 28th December 2025</a:t>
                      </a: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p>
                      <a:pPr algn="l" fontAlgn="ctr">
                        <a:lnSpc>
                          <a:spcPct val="100000"/>
                        </a:lnSpc>
                      </a:pP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p>
                      <a:pPr algn="l" fontAlgn="ctr">
                        <a:lnSpc>
                          <a:spcPct val="100000"/>
                        </a:lnSpc>
                      </a:pPr>
                      <a:r>
                        <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rPr>
                        <a:t>This document is for informational purposes only and does not constitute investment advice, an offer, or a solicitation to buy or sell any securities or financial instruments.</a:t>
                      </a: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p>
                      <a:pPr algn="l" fontAlgn="ctr">
                        <a:lnSpc>
                          <a:spcPct val="100000"/>
                        </a:lnSpc>
                      </a:pPr>
                      <a:br>
                        <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rPr>
                      </a:b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p>
                      <a:pPr algn="l" fontAlgn="ctr">
                        <a:lnSpc>
                          <a:spcPct val="100000"/>
                        </a:lnSpc>
                      </a:pPr>
                      <a:r>
                        <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rPr>
                        <a:t>Past performance is not indicative of future results. Investments involve inherent risks, including the possible loss of principal. No representation or warranty, express or implied, is made regarding the accuracy, completeness, or reliability of the information contained herein.</a:t>
                      </a: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p>
                      <a:pPr algn="l" fontAlgn="ctr">
                        <a:lnSpc>
                          <a:spcPct val="100000"/>
                        </a:lnSpc>
                      </a:pPr>
                      <a:br>
                        <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rPr>
                      </a:b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p>
                      <a:pPr algn="l" fontAlgn="ctr">
                        <a:lnSpc>
                          <a:spcPct val="100000"/>
                        </a:lnSpc>
                      </a:pPr>
                      <a:r>
                        <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rPr>
                        <a:t>The information in this presentation is derived from publicly available sources and internal analysis as of the date indicated and is subject to change without notice. Quantwater Tech Investments and its affiliates do not undertake any obligation to update or revise this material.</a:t>
                      </a: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p>
                      <a:pPr algn="l" fontAlgn="ctr">
                        <a:lnSpc>
                          <a:spcPct val="100000"/>
                        </a:lnSpc>
                      </a:pPr>
                      <a:br>
                        <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rPr>
                      </a:b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p>
                      <a:pPr algn="l" fontAlgn="ctr">
                        <a:lnSpc>
                          <a:spcPct val="100000"/>
                        </a:lnSpc>
                      </a:pPr>
                      <a:r>
                        <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rPr>
                        <a:t>Neither Quantwater Tech Investments nor any of its affiliates, officers, or employees shall be liable for any direct or indirect losses arising from the use of this information. Any misrepresentation is strictly prohibited.</a:t>
                      </a: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p>
                      <a:pPr algn="l" fontAlgn="ctr">
                        <a:lnSpc>
                          <a:spcPct val="100000"/>
                        </a:lnSpc>
                      </a:pP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p>
                      <a:pPr algn="l" fontAlgn="ctr">
                        <a:lnSpc>
                          <a:spcPct val="100000"/>
                        </a:lnSpc>
                      </a:pP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txBody>
                  <a:tcPr marL="0" marR="0" marT="0" marB="0" anchor="ctr">
                    <a:lnL>
                      <a:noFill/>
                    </a:lnL>
                    <a:lnR>
                      <a:noFill/>
                    </a:lnR>
                    <a:lnT>
                      <a:noFill/>
                    </a:lnT>
                    <a:lnB>
                      <a:noFill/>
                    </a:lnB>
                    <a:lnTlToBr>
                      <a:noFill/>
                    </a:lnTlToBr>
                    <a:lnBlToTr>
                      <a:noFill/>
                    </a:lnBlToTr>
                    <a:noFill/>
                  </a:tcPr>
                </a:tc>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64680" y="134110"/>
            <a:ext cx="11407299" cy="366084"/>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dirty="0">
                <a:solidFill>
                  <a:srgbClr val="002060"/>
                </a:solidFill>
                <a:latin typeface="Century Gothic" panose="020B0702020202020204" pitchFamily="34" charset="0"/>
                <a:sym typeface="+mn-ea"/>
              </a:rPr>
              <a:t>Key Economic &amp; Analytical Concepts</a:t>
            </a:r>
            <a:endParaRPr lang="en-US" sz="2400" b="1" dirty="0">
              <a:solidFill>
                <a:srgbClr val="002060"/>
              </a:solidFill>
              <a:latin typeface="Century Gothic" panose="020B0702020202020204" pitchFamily="34" charset="0"/>
              <a:cs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endPar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endParaRPr>
          </a:p>
        </p:txBody>
      </p:sp>
      <p:cxnSp>
        <p:nvCxnSpPr>
          <p:cNvPr id="2" name="Straight Connector 1"/>
          <p:cNvCxnSpPr/>
          <p:nvPr/>
        </p:nvCxnSpPr>
        <p:spPr>
          <a:xfrm>
            <a:off x="368300" y="689610"/>
            <a:ext cx="11920220" cy="254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graphicFrame>
        <p:nvGraphicFramePr>
          <p:cNvPr id="15" name="Table 14"/>
          <p:cNvGraphicFramePr>
            <a:graphicFrameLocks noGrp="1"/>
          </p:cNvGraphicFramePr>
          <p:nvPr/>
        </p:nvGraphicFramePr>
        <p:xfrm>
          <a:off x="450215" y="873125"/>
          <a:ext cx="5340985" cy="508635"/>
        </p:xfrm>
        <a:graphic>
          <a:graphicData uri="http://schemas.openxmlformats.org/drawingml/2006/table">
            <a:tbl>
              <a:tblPr/>
              <a:tblGrid>
                <a:gridCol w="5303520"/>
              </a:tblGrid>
              <a:tr h="508635">
                <a:tc>
                  <a:txBody>
                    <a:bodyPr/>
                    <a:p>
                      <a:pPr algn="l" fontAlgn="ctr">
                        <a:lnSpc>
                          <a:spcPct val="100000"/>
                        </a:lnSpc>
                      </a:pPr>
                      <a:r>
                        <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rPr>
                        <a:t>  Economic Data Interpretation</a:t>
                      </a: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txBody>
                  <a:tcPr marL="0" marR="0" marT="0" marB="0"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bl>
          </a:graphicData>
        </a:graphic>
      </p:graphicFrame>
      <p:sp>
        <p:nvSpPr>
          <p:cNvPr id="4" name="Rectangle 1"/>
          <p:cNvSpPr/>
          <p:nvPr/>
        </p:nvSpPr>
        <p:spPr>
          <a:xfrm>
            <a:off x="439940" y="1538605"/>
            <a:ext cx="5340375" cy="513080"/>
          </a:xfrm>
          <a:prstGeom prst="rect">
            <a:avLst/>
          </a:prstGeom>
          <a:solidFill>
            <a:schemeClr val="bg1">
              <a:lumMod val="95000"/>
            </a:schemeClr>
          </a:solidFill>
          <a:ln>
            <a:solidFill>
              <a:schemeClr val="bg1">
                <a:lumMod val="95000"/>
              </a:schemeClr>
            </a:solid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p>
            <a:pPr marL="171450" indent="-171450">
              <a:buFont typeface="Arial" panose="020B0604020202090204" pitchFamily="34" charset="0"/>
              <a:buChar char="•"/>
            </a:pPr>
            <a:r>
              <a:rPr lang="en-US" sz="800" b="1" i="0" u="none" strike="noStrike" dirty="0">
                <a:solidFill>
                  <a:srgbClr val="002060"/>
                </a:solidFill>
                <a:effectLst/>
                <a:latin typeface="Century Gothic" panose="020B0702020202020204" pitchFamily="34" charset="0"/>
              </a:rPr>
              <a:t>Forecast Vs. Actual</a:t>
            </a:r>
            <a:r>
              <a:rPr lang="en-US" sz="800" b="0" i="0" u="none" strike="noStrike" dirty="0">
                <a:solidFill>
                  <a:srgbClr val="002060"/>
                </a:solidFill>
                <a:effectLst/>
                <a:latin typeface="Century Gothic" panose="020B0702020202020204" pitchFamily="34" charset="0"/>
              </a:rPr>
              <a:t>: Comparing predicted values with released data</a:t>
            </a:r>
            <a:endParaRPr lang="en-US" sz="800" b="0" i="0" u="none" strike="noStrike" dirty="0">
              <a:solidFill>
                <a:srgbClr val="002060"/>
              </a:solidFill>
              <a:effectLst/>
              <a:latin typeface="Century Gothic" panose="020B0702020202020204" pitchFamily="34" charset="0"/>
            </a:endParaRPr>
          </a:p>
          <a:p>
            <a:pPr marL="171450" indent="-171450">
              <a:buFont typeface="Arial" panose="020B0604020202090204" pitchFamily="34" charset="0"/>
              <a:buChar char="•"/>
            </a:pPr>
            <a:r>
              <a:rPr lang="en-US" sz="800" b="1" dirty="0">
                <a:solidFill>
                  <a:srgbClr val="002060"/>
                </a:solidFill>
                <a:latin typeface="Century Gothic" panose="020B0702020202020204" pitchFamily="34" charset="0"/>
              </a:rPr>
              <a:t>Previous Reading: </a:t>
            </a:r>
            <a:r>
              <a:rPr lang="en-US" sz="800" dirty="0">
                <a:solidFill>
                  <a:srgbClr val="002060"/>
                </a:solidFill>
                <a:latin typeface="Century Gothic" panose="020B0702020202020204" pitchFamily="34" charset="0"/>
              </a:rPr>
              <a:t>Last reported value</a:t>
            </a:r>
            <a:endParaRPr lang="en-US" sz="800" dirty="0">
              <a:solidFill>
                <a:srgbClr val="002060"/>
              </a:solidFill>
              <a:latin typeface="Century Gothic" panose="020B0702020202020204" pitchFamily="34" charset="0"/>
            </a:endParaRPr>
          </a:p>
          <a:p>
            <a:pPr marL="171450" indent="-171450">
              <a:buFont typeface="Arial" panose="020B0604020202090204" pitchFamily="34" charset="0"/>
              <a:buChar char="•"/>
            </a:pPr>
            <a:r>
              <a:rPr lang="en-US" sz="800" b="1" dirty="0">
                <a:solidFill>
                  <a:srgbClr val="002060"/>
                </a:solidFill>
                <a:latin typeface="Century Gothic" panose="020B0702020202020204" pitchFamily="34" charset="0"/>
              </a:rPr>
              <a:t>Market Impact</a:t>
            </a:r>
            <a:r>
              <a:rPr lang="en-US" sz="800" dirty="0">
                <a:solidFill>
                  <a:srgbClr val="002060"/>
                </a:solidFill>
                <a:latin typeface="Century Gothic" panose="020B0702020202020204" pitchFamily="34" charset="0"/>
              </a:rPr>
              <a:t>: How releases affect financial markets </a:t>
            </a:r>
            <a:endParaRPr lang="en-US" sz="800" b="1" i="0" u="none" strike="noStrike" dirty="0">
              <a:solidFill>
                <a:srgbClr val="002060"/>
              </a:solidFill>
              <a:effectLst/>
              <a:latin typeface="Century Gothic" panose="020B0702020202020204" pitchFamily="34" charset="0"/>
            </a:endParaRPr>
          </a:p>
        </p:txBody>
      </p:sp>
      <p:graphicFrame>
        <p:nvGraphicFramePr>
          <p:cNvPr id="6" name="Table 5"/>
          <p:cNvGraphicFramePr>
            <a:graphicFrameLocks noGrp="1"/>
          </p:cNvGraphicFramePr>
          <p:nvPr/>
        </p:nvGraphicFramePr>
        <p:xfrm>
          <a:off x="439420" y="2208530"/>
          <a:ext cx="5296535" cy="518160"/>
        </p:xfrm>
        <a:graphic>
          <a:graphicData uri="http://schemas.openxmlformats.org/drawingml/2006/table">
            <a:tbl>
              <a:tblPr/>
              <a:tblGrid>
                <a:gridCol w="5296535"/>
              </a:tblGrid>
              <a:tr h="518160">
                <a:tc>
                  <a:txBody>
                    <a:bodyPr/>
                    <a:p>
                      <a:pPr algn="l" fontAlgn="ctr">
                        <a:lnSpc>
                          <a:spcPct val="100000"/>
                        </a:lnSpc>
                      </a:pPr>
                      <a:r>
                        <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rPr>
                        <a:t>  Average True Range (ATR)</a:t>
                      </a: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txBody>
                  <a:tcPr marL="0" marR="0" marT="0" marB="0" anchor="ctr" anchorCtr="0">
                    <a:lnL>
                      <a:noFill/>
                    </a:lnL>
                    <a:lnR>
                      <a:noFill/>
                    </a:lnR>
                    <a:lnT>
                      <a:noFill/>
                    </a:lnT>
                    <a:lnB>
                      <a:noFill/>
                    </a:lnB>
                    <a:lnTlToBr>
                      <a:noFill/>
                    </a:lnTlToBr>
                    <a:lnBlToTr>
                      <a:noFill/>
                    </a:lnBlToTr>
                    <a:solidFill>
                      <a:schemeClr val="bg1">
                        <a:lumMod val="95000"/>
                      </a:schemeClr>
                    </a:solidFill>
                  </a:tcPr>
                </a:tc>
              </a:tr>
            </a:tbl>
          </a:graphicData>
        </a:graphic>
      </p:graphicFrame>
      <p:sp>
        <p:nvSpPr>
          <p:cNvPr id="8" name="Rectangle 1"/>
          <p:cNvSpPr/>
          <p:nvPr/>
        </p:nvSpPr>
        <p:spPr>
          <a:xfrm>
            <a:off x="429260" y="2894330"/>
            <a:ext cx="5340350" cy="2225675"/>
          </a:xfrm>
          <a:prstGeom prst="rect">
            <a:avLst/>
          </a:prstGeom>
          <a:solidFill>
            <a:schemeClr val="bg1">
              <a:lumMod val="95000"/>
            </a:schemeClr>
          </a:solidFill>
          <a:ln>
            <a:solidFill>
              <a:schemeClr val="bg1">
                <a:lumMod val="95000"/>
              </a:schemeClr>
            </a:solid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p>
            <a:pPr marL="171450" indent="-171450">
              <a:buFont typeface="Arial" panose="020B0604020202090204" pitchFamily="34" charset="0"/>
              <a:buChar char="•"/>
            </a:pPr>
            <a:r>
              <a:rPr lang="en-US" sz="800" b="1" dirty="0">
                <a:solidFill>
                  <a:srgbClr val="002060"/>
                </a:solidFill>
                <a:effectLst/>
                <a:latin typeface="Century Gothic" panose="020B0702020202020204" pitchFamily="34" charset="0"/>
                <a:sym typeface="+mn-ea"/>
              </a:rPr>
              <a:t>Definition</a:t>
            </a:r>
            <a:r>
              <a:rPr lang="en-US" sz="800" dirty="0">
                <a:solidFill>
                  <a:srgbClr val="002060"/>
                </a:solidFill>
                <a:effectLst/>
                <a:latin typeface="Century Gothic" panose="020B0702020202020204" pitchFamily="34" charset="0"/>
                <a:sym typeface="+mn-ea"/>
              </a:rPr>
              <a:t>: A technical indicator that measures market volatility</a:t>
            </a:r>
            <a:endParaRPr lang="en-US" sz="800" i="0" u="none" strike="noStrike" dirty="0">
              <a:solidFill>
                <a:srgbClr val="002060"/>
              </a:solidFill>
              <a:effectLst/>
              <a:latin typeface="Century Gothic" panose="020B0702020202020204" pitchFamily="34" charset="0"/>
            </a:endParaRPr>
          </a:p>
          <a:p>
            <a:pPr marL="171450" indent="-171450">
              <a:buFont typeface="Arial" panose="020B0604020202090204" pitchFamily="34" charset="0"/>
              <a:buChar char="•"/>
            </a:pPr>
            <a:endParaRPr lang="en-US" sz="800" i="0" u="none" strike="noStrike" dirty="0">
              <a:solidFill>
                <a:srgbClr val="002060"/>
              </a:solidFill>
              <a:effectLst/>
              <a:latin typeface="Century Gothic" panose="020B0702020202020204" pitchFamily="34" charset="0"/>
            </a:endParaRPr>
          </a:p>
          <a:p>
            <a:pPr marL="171450" indent="-171450">
              <a:buFont typeface="Arial" panose="020B0604020202090204" pitchFamily="34" charset="0"/>
              <a:buChar char="•"/>
            </a:pPr>
            <a:r>
              <a:rPr lang="en-US" sz="800" b="1" dirty="0">
                <a:solidFill>
                  <a:srgbClr val="002060"/>
                </a:solidFill>
                <a:latin typeface="Century Gothic" panose="020B0702020202020204" pitchFamily="34" charset="0"/>
                <a:sym typeface="+mn-ea"/>
              </a:rPr>
              <a:t>Calculations</a:t>
            </a:r>
            <a:r>
              <a:rPr lang="en-US" sz="800" dirty="0">
                <a:solidFill>
                  <a:srgbClr val="002060"/>
                </a:solidFill>
                <a:latin typeface="Century Gothic" panose="020B0702020202020204" pitchFamily="34" charset="0"/>
                <a:sym typeface="+mn-ea"/>
              </a:rPr>
              <a:t>:</a:t>
            </a:r>
            <a:endParaRPr lang="en-US" sz="800" dirty="0">
              <a:solidFill>
                <a:srgbClr val="002060"/>
              </a:solidFill>
              <a:latin typeface="Century Gothic" panose="020B0702020202020204" pitchFamily="34" charset="0"/>
            </a:endParaRPr>
          </a:p>
          <a:p>
            <a:pPr marL="628650" lvl="1" indent="-171450">
              <a:buFont typeface="Arial" panose="020B0604020202090204" pitchFamily="34" charset="0"/>
              <a:buChar char="•"/>
            </a:pPr>
            <a:r>
              <a:rPr lang="en-US" sz="800" dirty="0">
                <a:solidFill>
                  <a:srgbClr val="002060"/>
                </a:solidFill>
                <a:effectLst/>
                <a:latin typeface="Century Gothic" panose="020B0702020202020204" pitchFamily="34" charset="0"/>
                <a:sym typeface="+mn-ea"/>
              </a:rPr>
              <a:t>Calculate True Range (TR) for each period:</a:t>
            </a:r>
            <a:endParaRPr lang="en-US" sz="800" i="0" u="none" strike="noStrike" dirty="0">
              <a:solidFill>
                <a:srgbClr val="002060"/>
              </a:solidFill>
              <a:effectLst/>
              <a:latin typeface="Century Gothic" panose="020B0702020202020204" pitchFamily="34" charset="0"/>
            </a:endParaRPr>
          </a:p>
          <a:p>
            <a:pPr marL="1085850" lvl="2" indent="-171450">
              <a:buFont typeface="Arial" panose="020B0604020202090204" pitchFamily="34" charset="0"/>
              <a:buChar char="•"/>
            </a:pPr>
            <a:r>
              <a:rPr lang="en-US" sz="800" dirty="0">
                <a:solidFill>
                  <a:srgbClr val="002060"/>
                </a:solidFill>
                <a:latin typeface="Century Gothic" panose="020B0702020202020204" pitchFamily="34" charset="0"/>
                <a:sym typeface="+mn-ea"/>
              </a:rPr>
              <a:t>TR = max [(high - low), abs(high – previous close), abs(low – previous close)]</a:t>
            </a:r>
            <a:endParaRPr lang="en-US" sz="800" dirty="0">
              <a:solidFill>
                <a:srgbClr val="002060"/>
              </a:solidFill>
              <a:latin typeface="Century Gothic" panose="020B0702020202020204" pitchFamily="34" charset="0"/>
            </a:endParaRPr>
          </a:p>
          <a:p>
            <a:pPr marL="628650" lvl="1" indent="-171450">
              <a:buFont typeface="Arial" panose="020B0604020202090204" pitchFamily="34" charset="0"/>
              <a:buChar char="•"/>
            </a:pPr>
            <a:r>
              <a:rPr lang="en-US" sz="800" dirty="0">
                <a:solidFill>
                  <a:srgbClr val="002060"/>
                </a:solidFill>
                <a:effectLst/>
                <a:latin typeface="Century Gothic" panose="020B0702020202020204" pitchFamily="34" charset="0"/>
                <a:sym typeface="+mn-ea"/>
              </a:rPr>
              <a:t>ATR = Simple moving average of TR over N periods (typically 14)</a:t>
            </a:r>
            <a:endParaRPr lang="en-US" sz="800" i="0" u="none" strike="noStrike" dirty="0">
              <a:solidFill>
                <a:srgbClr val="002060"/>
              </a:solidFill>
              <a:effectLst/>
              <a:latin typeface="Century Gothic" panose="020B0702020202020204" pitchFamily="34" charset="0"/>
            </a:endParaRPr>
          </a:p>
          <a:p>
            <a:pPr marL="171450" indent="-171450">
              <a:buFont typeface="Arial" panose="020B0604020202090204" pitchFamily="34" charset="0"/>
              <a:buChar char="•"/>
            </a:pPr>
            <a:r>
              <a:rPr lang="en-US" sz="800" b="1" dirty="0">
                <a:solidFill>
                  <a:srgbClr val="002060"/>
                </a:solidFill>
                <a:effectLst/>
                <a:latin typeface="Century Gothic" panose="020B0702020202020204" pitchFamily="34" charset="0"/>
                <a:sym typeface="+mn-ea"/>
              </a:rPr>
              <a:t>Interpretation</a:t>
            </a:r>
            <a:r>
              <a:rPr lang="en-US" sz="800" dirty="0">
                <a:solidFill>
                  <a:srgbClr val="002060"/>
                </a:solidFill>
                <a:effectLst/>
                <a:latin typeface="Century Gothic" panose="020B0702020202020204" pitchFamily="34" charset="0"/>
                <a:sym typeface="+mn-ea"/>
              </a:rPr>
              <a:t>:</a:t>
            </a:r>
            <a:endParaRPr lang="en-US" sz="800" i="0" u="none" strike="noStrike" dirty="0">
              <a:solidFill>
                <a:srgbClr val="002060"/>
              </a:solidFill>
              <a:effectLst/>
              <a:latin typeface="Century Gothic" panose="020B0702020202020204" pitchFamily="34" charset="0"/>
            </a:endParaRPr>
          </a:p>
          <a:p>
            <a:pPr marL="628650" lvl="1" indent="-171450">
              <a:buFont typeface="Arial" panose="020B0604020202090204" pitchFamily="34" charset="0"/>
              <a:buChar char="•"/>
            </a:pPr>
            <a:r>
              <a:rPr lang="en-US" sz="800" dirty="0">
                <a:solidFill>
                  <a:srgbClr val="002060"/>
                </a:solidFill>
                <a:latin typeface="Century Gothic" panose="020B0702020202020204" pitchFamily="34" charset="0"/>
                <a:sym typeface="+mn-ea"/>
              </a:rPr>
              <a:t>Higher ATR = Higher Volatility </a:t>
            </a:r>
            <a:endParaRPr lang="en-US" sz="800" dirty="0">
              <a:solidFill>
                <a:srgbClr val="002060"/>
              </a:solidFill>
              <a:latin typeface="Century Gothic" panose="020B0702020202020204" pitchFamily="34" charset="0"/>
            </a:endParaRPr>
          </a:p>
          <a:p>
            <a:pPr marL="628650" lvl="1" indent="-171450">
              <a:buFont typeface="Arial" panose="020B0604020202090204" pitchFamily="34" charset="0"/>
              <a:buChar char="•"/>
            </a:pPr>
            <a:r>
              <a:rPr lang="en-US" sz="800" dirty="0">
                <a:solidFill>
                  <a:srgbClr val="002060"/>
                </a:solidFill>
                <a:effectLst/>
                <a:latin typeface="Century Gothic" panose="020B0702020202020204" pitchFamily="34" charset="0"/>
                <a:sym typeface="+mn-ea"/>
              </a:rPr>
              <a:t>Lower ATR = Lower Volatility </a:t>
            </a:r>
            <a:endParaRPr lang="en-US" sz="800" i="0" u="none" strike="noStrike" dirty="0">
              <a:solidFill>
                <a:srgbClr val="002060"/>
              </a:solidFill>
              <a:effectLst/>
              <a:latin typeface="Century Gothic" panose="020B0702020202020204" pitchFamily="34" charset="0"/>
            </a:endParaRPr>
          </a:p>
          <a:p>
            <a:pPr marL="628650" lvl="1" indent="-171450">
              <a:buFont typeface="Arial" panose="020B0604020202090204" pitchFamily="34" charset="0"/>
              <a:buChar char="•"/>
            </a:pPr>
            <a:endParaRPr lang="en-US" sz="800" i="0" u="none" strike="noStrike" dirty="0">
              <a:solidFill>
                <a:srgbClr val="002060"/>
              </a:solidFill>
              <a:effectLst/>
              <a:latin typeface="Century Gothic" panose="020B0702020202020204" pitchFamily="34" charset="0"/>
            </a:endParaRPr>
          </a:p>
          <a:p>
            <a:pPr marL="171450" indent="-171450">
              <a:buFont typeface="Arial" panose="020B0604020202090204" pitchFamily="34" charset="0"/>
              <a:buChar char="•"/>
            </a:pPr>
            <a:r>
              <a:rPr lang="en-US" sz="800" b="1" dirty="0">
                <a:solidFill>
                  <a:srgbClr val="002060"/>
                </a:solidFill>
                <a:effectLst/>
                <a:latin typeface="Century Gothic" panose="020B0702020202020204" pitchFamily="34" charset="0"/>
                <a:sym typeface="+mn-ea"/>
              </a:rPr>
              <a:t>Usage in Our Analysis</a:t>
            </a:r>
            <a:r>
              <a:rPr lang="en-US" sz="800" dirty="0">
                <a:solidFill>
                  <a:srgbClr val="002060"/>
                </a:solidFill>
                <a:effectLst/>
                <a:latin typeface="Century Gothic" panose="020B0702020202020204" pitchFamily="34" charset="0"/>
                <a:sym typeface="+mn-ea"/>
              </a:rPr>
              <a:t>:</a:t>
            </a:r>
            <a:endParaRPr lang="en-US" sz="800" i="0" u="none" strike="noStrike" dirty="0">
              <a:solidFill>
                <a:srgbClr val="002060"/>
              </a:solidFill>
              <a:effectLst/>
              <a:latin typeface="Century Gothic" panose="020B0702020202020204" pitchFamily="34" charset="0"/>
            </a:endParaRPr>
          </a:p>
          <a:p>
            <a:pPr marL="628650" lvl="1" indent="-171450">
              <a:buFont typeface="Arial" panose="020B0604020202090204" pitchFamily="34" charset="0"/>
              <a:buChar char="•"/>
            </a:pPr>
            <a:r>
              <a:rPr lang="en-US" sz="800" dirty="0">
                <a:solidFill>
                  <a:srgbClr val="002060"/>
                </a:solidFill>
                <a:latin typeface="Century Gothic" panose="020B0702020202020204" pitchFamily="34" charset="0"/>
                <a:sym typeface="+mn-ea"/>
              </a:rPr>
              <a:t>Helps standardize price movements across different market conditions</a:t>
            </a:r>
            <a:endParaRPr lang="en-US" sz="800" dirty="0">
              <a:solidFill>
                <a:srgbClr val="002060"/>
              </a:solidFill>
              <a:latin typeface="Century Gothic" panose="020B0702020202020204" pitchFamily="34" charset="0"/>
            </a:endParaRPr>
          </a:p>
          <a:p>
            <a:pPr marL="628650" lvl="1" indent="-171450">
              <a:buFont typeface="Arial" panose="020B0604020202090204" pitchFamily="34" charset="0"/>
              <a:buChar char="•"/>
            </a:pPr>
            <a:r>
              <a:rPr lang="en-US" sz="800" dirty="0">
                <a:solidFill>
                  <a:srgbClr val="002060"/>
                </a:solidFill>
                <a:latin typeface="Century Gothic" panose="020B0702020202020204" pitchFamily="34" charset="0"/>
                <a:sym typeface="+mn-ea"/>
              </a:rPr>
              <a:t>Forms the basis of our Volatility Unit Calculations</a:t>
            </a:r>
            <a:endParaRPr lang="en-US" sz="800" b="1" i="0" u="none" strike="noStrike" dirty="0">
              <a:solidFill>
                <a:srgbClr val="002060"/>
              </a:solidFill>
              <a:effectLst/>
              <a:latin typeface="Century Gothic" panose="020B0702020202020204" pitchFamily="34" charset="0"/>
            </a:endParaRPr>
          </a:p>
        </p:txBody>
      </p:sp>
      <p:graphicFrame>
        <p:nvGraphicFramePr>
          <p:cNvPr id="9" name="Table 8"/>
          <p:cNvGraphicFramePr>
            <a:graphicFrameLocks noGrp="1"/>
          </p:cNvGraphicFramePr>
          <p:nvPr/>
        </p:nvGraphicFramePr>
        <p:xfrm>
          <a:off x="450215" y="5256530"/>
          <a:ext cx="5285105" cy="508635"/>
        </p:xfrm>
        <a:graphic>
          <a:graphicData uri="http://schemas.openxmlformats.org/drawingml/2006/table">
            <a:tbl>
              <a:tblPr/>
              <a:tblGrid>
                <a:gridCol w="5285105"/>
              </a:tblGrid>
              <a:tr h="508635">
                <a:tc>
                  <a:txBody>
                    <a:bodyPr/>
                    <a:p>
                      <a:pPr algn="l" fontAlgn="ctr">
                        <a:lnSpc>
                          <a:spcPct val="100000"/>
                        </a:lnSpc>
                      </a:pPr>
                      <a:r>
                        <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rPr>
                        <a:t>  Volatility Unit</a:t>
                      </a: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txBody>
                  <a:tcPr marL="0" marR="0" marT="0" marB="0"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bl>
          </a:graphicData>
        </a:graphic>
      </p:graphicFrame>
      <p:sp>
        <p:nvSpPr>
          <p:cNvPr id="10" name="Rectangle 1"/>
          <p:cNvSpPr/>
          <p:nvPr/>
        </p:nvSpPr>
        <p:spPr>
          <a:xfrm>
            <a:off x="439940" y="5922010"/>
            <a:ext cx="5340375" cy="513080"/>
          </a:xfrm>
          <a:prstGeom prst="rect">
            <a:avLst/>
          </a:prstGeom>
          <a:solidFill>
            <a:schemeClr val="bg1">
              <a:lumMod val="95000"/>
            </a:schemeClr>
          </a:solidFill>
          <a:ln>
            <a:solidFill>
              <a:schemeClr val="bg1">
                <a:lumMod val="95000"/>
              </a:schemeClr>
            </a:solid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p>
            <a:pPr marL="171450" indent="-171450">
              <a:buFont typeface="Arial" panose="020B0604020202090204" pitchFamily="34" charset="0"/>
              <a:buChar char="•"/>
            </a:pPr>
            <a:r>
              <a:rPr lang="en-US" sz="800" b="1" dirty="0">
                <a:solidFill>
                  <a:srgbClr val="002060"/>
                </a:solidFill>
                <a:effectLst/>
                <a:latin typeface="Century Gothic" panose="020B0702020202020204" pitchFamily="34" charset="0"/>
                <a:sym typeface="+mn-ea"/>
              </a:rPr>
              <a:t>Formula</a:t>
            </a:r>
            <a:r>
              <a:rPr lang="en-US" sz="800" dirty="0">
                <a:solidFill>
                  <a:srgbClr val="002060"/>
                </a:solidFill>
                <a:effectLst/>
                <a:latin typeface="Century Gothic" panose="020B0702020202020204" pitchFamily="34" charset="0"/>
                <a:sym typeface="+mn-ea"/>
              </a:rPr>
              <a:t>: (ATR * </a:t>
            </a:r>
            <a:r>
              <a:rPr lang="en-US" sz="800" i="1" dirty="0">
                <a:solidFill>
                  <a:srgbClr val="002060"/>
                </a:solidFill>
                <a:effectLst/>
                <a:latin typeface="Century Gothic" panose="020B0702020202020204" pitchFamily="34" charset="0"/>
                <a:sym typeface="+mn-ea"/>
              </a:rPr>
              <a:t>multiple</a:t>
            </a:r>
            <a:r>
              <a:rPr lang="en-US" sz="800" dirty="0">
                <a:solidFill>
                  <a:srgbClr val="002060"/>
                </a:solidFill>
                <a:effectLst/>
                <a:latin typeface="Century Gothic" panose="020B0702020202020204" pitchFamily="34" charset="0"/>
                <a:sym typeface="+mn-ea"/>
              </a:rPr>
              <a:t>) + Spread (</a:t>
            </a:r>
            <a:r>
              <a:rPr lang="en-US" sz="800" i="1" dirty="0">
                <a:solidFill>
                  <a:srgbClr val="002060"/>
                </a:solidFill>
                <a:effectLst/>
                <a:latin typeface="Century Gothic" panose="020B0702020202020204" pitchFamily="34" charset="0"/>
                <a:sym typeface="+mn-ea"/>
              </a:rPr>
              <a:t>multiple is typically 1.5</a:t>
            </a:r>
            <a:r>
              <a:rPr lang="en-US" sz="800" dirty="0">
                <a:solidFill>
                  <a:srgbClr val="002060"/>
                </a:solidFill>
                <a:effectLst/>
                <a:latin typeface="Century Gothic" panose="020B0702020202020204" pitchFamily="34" charset="0"/>
                <a:sym typeface="+mn-ea"/>
              </a:rPr>
              <a:t>)</a:t>
            </a:r>
            <a:endParaRPr lang="en-US" sz="800" b="0" u="none" strike="noStrike" dirty="0">
              <a:solidFill>
                <a:srgbClr val="002060"/>
              </a:solidFill>
              <a:effectLst/>
              <a:latin typeface="Century Gothic" panose="020B0702020202020204" pitchFamily="34" charset="0"/>
            </a:endParaRPr>
          </a:p>
          <a:p>
            <a:pPr marL="171450" indent="-171450">
              <a:buFont typeface="Arial" panose="020B0604020202090204" pitchFamily="34" charset="0"/>
              <a:buChar char="•"/>
            </a:pPr>
            <a:r>
              <a:rPr lang="en-US" sz="800" b="1" dirty="0">
                <a:solidFill>
                  <a:srgbClr val="002060"/>
                </a:solidFill>
                <a:latin typeface="Century Gothic" panose="020B0702020202020204" pitchFamily="34" charset="0"/>
                <a:sym typeface="+mn-ea"/>
              </a:rPr>
              <a:t>Purpose</a:t>
            </a:r>
            <a:r>
              <a:rPr lang="en-US" sz="800" dirty="0">
                <a:solidFill>
                  <a:srgbClr val="002060"/>
                </a:solidFill>
                <a:latin typeface="Century Gothic" panose="020B0702020202020204" pitchFamily="34" charset="0"/>
                <a:sym typeface="+mn-ea"/>
              </a:rPr>
              <a:t>: Standardizes price movements</a:t>
            </a:r>
            <a:endParaRPr lang="en-US" sz="800" b="1" i="0" u="none" strike="noStrike" dirty="0">
              <a:solidFill>
                <a:srgbClr val="002060"/>
              </a:solidFill>
              <a:effectLst/>
              <a:latin typeface="Century Gothic" panose="020B0702020202020204" pitchFamily="34" charset="0"/>
            </a:endParaRPr>
          </a:p>
        </p:txBody>
      </p:sp>
      <p:graphicFrame>
        <p:nvGraphicFramePr>
          <p:cNvPr id="11" name="Table 10"/>
          <p:cNvGraphicFramePr>
            <a:graphicFrameLocks noGrp="1"/>
          </p:cNvGraphicFramePr>
          <p:nvPr/>
        </p:nvGraphicFramePr>
        <p:xfrm>
          <a:off x="6593840" y="873125"/>
          <a:ext cx="5340985" cy="508635"/>
        </p:xfrm>
        <a:graphic>
          <a:graphicData uri="http://schemas.openxmlformats.org/drawingml/2006/table">
            <a:tbl>
              <a:tblPr/>
              <a:tblGrid>
                <a:gridCol w="5340985"/>
              </a:tblGrid>
              <a:tr h="508635">
                <a:tc>
                  <a:txBody>
                    <a:bodyPr/>
                    <a:p>
                      <a:pPr algn="l" fontAlgn="ctr">
                        <a:lnSpc>
                          <a:spcPct val="100000"/>
                        </a:lnSpc>
                      </a:pPr>
                      <a:r>
                        <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rPr>
                        <a:t>  Price Movements</a:t>
                      </a: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txBody>
                  <a:tcPr marL="0" marR="0" marT="0" marB="0"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bl>
          </a:graphicData>
        </a:graphic>
      </p:graphicFrame>
      <p:sp>
        <p:nvSpPr>
          <p:cNvPr id="12" name="Rectangle 1"/>
          <p:cNvSpPr/>
          <p:nvPr/>
        </p:nvSpPr>
        <p:spPr>
          <a:xfrm>
            <a:off x="6583565" y="1538605"/>
            <a:ext cx="5340375" cy="513080"/>
          </a:xfrm>
          <a:prstGeom prst="rect">
            <a:avLst/>
          </a:prstGeom>
          <a:solidFill>
            <a:schemeClr val="bg1">
              <a:lumMod val="95000"/>
            </a:schemeClr>
          </a:solidFill>
          <a:ln>
            <a:solidFill>
              <a:schemeClr val="bg1">
                <a:lumMod val="95000"/>
              </a:schemeClr>
            </a:solid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p>
            <a:pPr marL="171450" indent="-171450">
              <a:buFont typeface="Arial" panose="020B0604020202090204" pitchFamily="34" charset="0"/>
              <a:buChar char="•"/>
            </a:pPr>
            <a:r>
              <a:rPr lang="en-US" sz="800" b="1" dirty="0">
                <a:solidFill>
                  <a:srgbClr val="002060"/>
                </a:solidFill>
                <a:effectLst/>
                <a:latin typeface="Century Gothic" panose="020B0702020202020204" pitchFamily="34" charset="0"/>
                <a:sym typeface="+mn-ea"/>
              </a:rPr>
              <a:t>Max Movement</a:t>
            </a:r>
            <a:r>
              <a:rPr lang="en-US" sz="800" dirty="0">
                <a:solidFill>
                  <a:srgbClr val="002060"/>
                </a:solidFill>
                <a:effectLst/>
                <a:latin typeface="Century Gothic" panose="020B0702020202020204" pitchFamily="34" charset="0"/>
                <a:sym typeface="+mn-ea"/>
              </a:rPr>
              <a:t>: Largest upward price move after event</a:t>
            </a:r>
            <a:endParaRPr lang="en-US" sz="800" i="0" u="none" strike="noStrike" dirty="0">
              <a:solidFill>
                <a:srgbClr val="002060"/>
              </a:solidFill>
              <a:effectLst/>
              <a:latin typeface="Century Gothic" panose="020B0702020202020204" pitchFamily="34" charset="0"/>
            </a:endParaRPr>
          </a:p>
          <a:p>
            <a:pPr marL="171450" indent="-171450">
              <a:buFont typeface="Arial" panose="020B0604020202090204" pitchFamily="34" charset="0"/>
              <a:buChar char="•"/>
            </a:pPr>
            <a:r>
              <a:rPr lang="en-US" sz="800" b="1" dirty="0">
                <a:solidFill>
                  <a:srgbClr val="002060"/>
                </a:solidFill>
                <a:latin typeface="Century Gothic" panose="020B0702020202020204" pitchFamily="34" charset="0"/>
                <a:sym typeface="+mn-ea"/>
              </a:rPr>
              <a:t>Min Movement</a:t>
            </a:r>
            <a:r>
              <a:rPr lang="en-US" sz="800" dirty="0">
                <a:solidFill>
                  <a:srgbClr val="002060"/>
                </a:solidFill>
                <a:latin typeface="Century Gothic" panose="020B0702020202020204" pitchFamily="34" charset="0"/>
                <a:sym typeface="+mn-ea"/>
              </a:rPr>
              <a:t>: Largest downward price move after event</a:t>
            </a:r>
            <a:endParaRPr lang="en-US" sz="800" dirty="0">
              <a:solidFill>
                <a:srgbClr val="002060"/>
              </a:solidFill>
              <a:latin typeface="Century Gothic" panose="020B0702020202020204" pitchFamily="34" charset="0"/>
            </a:endParaRPr>
          </a:p>
          <a:p>
            <a:pPr marL="171450" indent="-171450">
              <a:buFont typeface="Arial" panose="020B0604020202090204" pitchFamily="34" charset="0"/>
              <a:buChar char="•"/>
            </a:pPr>
            <a:r>
              <a:rPr lang="en-US" sz="800" dirty="0">
                <a:solidFill>
                  <a:srgbClr val="002060"/>
                </a:solidFill>
                <a:effectLst/>
                <a:latin typeface="Century Gothic" panose="020B0702020202020204" pitchFamily="34" charset="0"/>
                <a:sym typeface="+mn-ea"/>
              </a:rPr>
              <a:t>Both measured in Volatility Units</a:t>
            </a:r>
            <a:r>
              <a:rPr lang="en-US" sz="800" b="1" dirty="0">
                <a:solidFill>
                  <a:srgbClr val="002060"/>
                </a:solidFill>
                <a:effectLst/>
                <a:latin typeface="Century Gothic" panose="020B0702020202020204" pitchFamily="34" charset="0"/>
                <a:sym typeface="+mn-ea"/>
              </a:rPr>
              <a:t> </a:t>
            </a:r>
            <a:endParaRPr lang="en-US" sz="800" b="1" i="0" u="none" strike="noStrike" dirty="0">
              <a:solidFill>
                <a:srgbClr val="002060"/>
              </a:solidFill>
              <a:effectLst/>
              <a:latin typeface="Century Gothic" panose="020B0702020202020204" pitchFamily="34" charset="0"/>
            </a:endParaRPr>
          </a:p>
        </p:txBody>
      </p:sp>
      <p:graphicFrame>
        <p:nvGraphicFramePr>
          <p:cNvPr id="13" name="Table 12"/>
          <p:cNvGraphicFramePr>
            <a:graphicFrameLocks noGrp="1"/>
          </p:cNvGraphicFramePr>
          <p:nvPr/>
        </p:nvGraphicFramePr>
        <p:xfrm>
          <a:off x="6583045" y="2208530"/>
          <a:ext cx="5340985" cy="508635"/>
        </p:xfrm>
        <a:graphic>
          <a:graphicData uri="http://schemas.openxmlformats.org/drawingml/2006/table">
            <a:tbl>
              <a:tblPr/>
              <a:tblGrid>
                <a:gridCol w="5340985"/>
              </a:tblGrid>
              <a:tr h="508635">
                <a:tc>
                  <a:txBody>
                    <a:bodyPr/>
                    <a:p>
                      <a:pPr algn="l" fontAlgn="ctr">
                        <a:lnSpc>
                          <a:spcPct val="100000"/>
                        </a:lnSpc>
                      </a:pPr>
                      <a:r>
                        <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rPr>
                        <a:t>  Using This Analysis</a:t>
                      </a: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txBody>
                  <a:tcPr marL="0" marR="0" marT="0" marB="0"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bl>
          </a:graphicData>
        </a:graphic>
      </p:graphicFrame>
      <p:sp>
        <p:nvSpPr>
          <p:cNvPr id="14" name="Rectangle 1"/>
          <p:cNvSpPr/>
          <p:nvPr/>
        </p:nvSpPr>
        <p:spPr>
          <a:xfrm>
            <a:off x="6572885" y="2874010"/>
            <a:ext cx="5340350" cy="2225675"/>
          </a:xfrm>
          <a:prstGeom prst="rect">
            <a:avLst/>
          </a:prstGeom>
          <a:solidFill>
            <a:schemeClr val="bg1">
              <a:lumMod val="95000"/>
            </a:schemeClr>
          </a:solidFill>
          <a:ln>
            <a:solidFill>
              <a:schemeClr val="bg1">
                <a:lumMod val="95000"/>
              </a:schemeClr>
            </a:solid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p>
            <a:pPr marL="171450" indent="-171450" algn="just">
              <a:buFont typeface="Arial" panose="020B0604020202090204" pitchFamily="34" charset="0"/>
              <a:buChar char="•"/>
            </a:pPr>
            <a:r>
              <a:rPr lang="en-US" sz="615" dirty="0">
                <a:solidFill>
                  <a:srgbClr val="002060"/>
                </a:solidFill>
                <a:latin typeface="Century Gothic" panose="020B0702020202020204" pitchFamily="34" charset="0"/>
                <a:sym typeface="+mn-ea"/>
              </a:rPr>
              <a:t>Analyzing volatility across different economic releases helps identify patterns in market reactions.</a:t>
            </a:r>
            <a:endParaRPr lang="en-US" sz="615" dirty="0">
              <a:solidFill>
                <a:srgbClr val="002060"/>
              </a:solidFill>
              <a:latin typeface="Century Gothic" panose="020B0702020202020204" pitchFamily="34" charset="0"/>
            </a:endParaRPr>
          </a:p>
          <a:p>
            <a:pPr marL="171450" indent="-171450" algn="just">
              <a:buFont typeface="Arial" panose="020B0604020202090204" pitchFamily="34" charset="0"/>
              <a:buChar char="•"/>
            </a:pPr>
            <a:r>
              <a:rPr lang="en-US" sz="615" dirty="0">
                <a:solidFill>
                  <a:srgbClr val="002060"/>
                </a:solidFill>
                <a:latin typeface="Century Gothic" panose="020B0702020202020204" pitchFamily="34" charset="0"/>
                <a:sym typeface="+mn-ea"/>
              </a:rPr>
              <a:t>This approach allows for evaluating the significance of economic indicators based on their market impact.</a:t>
            </a:r>
            <a:endParaRPr lang="en-US" sz="615" dirty="0">
              <a:solidFill>
                <a:srgbClr val="002060"/>
              </a:solidFill>
              <a:latin typeface="Century Gothic" panose="020B0702020202020204" pitchFamily="34" charset="0"/>
            </a:endParaRPr>
          </a:p>
          <a:p>
            <a:pPr marL="171450" indent="-171450" algn="just">
              <a:buFont typeface="Arial" panose="020B0604020202090204" pitchFamily="34" charset="0"/>
              <a:buChar char="•"/>
            </a:pPr>
            <a:r>
              <a:rPr lang="en-US" sz="615" dirty="0">
                <a:solidFill>
                  <a:srgbClr val="002060"/>
                </a:solidFill>
                <a:latin typeface="Century Gothic" panose="020B0702020202020204" pitchFamily="34" charset="0"/>
                <a:sym typeface="+mn-ea"/>
              </a:rPr>
              <a:t>Adhering to standard trading guidelines, the risk amount should not exceed 5% of the trading balance, typically. A risk-reward ratio of 1:1.5x or greater, guided by the win ratio and historical data from this presentation or other estimates, can be used to determine the appropriate risk level, take-profit point, and position size.</a:t>
            </a:r>
            <a:endParaRPr lang="en-US" sz="615" dirty="0">
              <a:solidFill>
                <a:srgbClr val="002060"/>
              </a:solidFill>
              <a:latin typeface="Century Gothic" panose="020B0702020202020204" pitchFamily="34" charset="0"/>
            </a:endParaRPr>
          </a:p>
          <a:p>
            <a:pPr marL="171450" indent="-171450" algn="just">
              <a:buFont typeface="Arial" panose="020B0604020202090204" pitchFamily="34" charset="0"/>
              <a:buChar char="•"/>
            </a:pPr>
            <a:r>
              <a:rPr lang="en-US" sz="615" dirty="0">
                <a:solidFill>
                  <a:srgbClr val="002060"/>
                </a:solidFill>
                <a:latin typeface="Century Gothic" panose="020B0702020202020204" pitchFamily="34" charset="0"/>
                <a:sym typeface="+mn-ea"/>
              </a:rPr>
              <a:t>Trade automation on the MT5/MT4 platform can be implemented using the expert advisor linked below, which takes the specified parameters as input.</a:t>
            </a:r>
            <a:endParaRPr lang="en-US" sz="615" dirty="0">
              <a:solidFill>
                <a:srgbClr val="002060"/>
              </a:solidFill>
              <a:latin typeface="Century Gothic" panose="020B0702020202020204" pitchFamily="34" charset="0"/>
            </a:endParaRPr>
          </a:p>
          <a:p>
            <a:pPr marL="171450" indent="-171450" algn="just">
              <a:buFont typeface="Arial" panose="020B0604020202090204" pitchFamily="34" charset="0"/>
              <a:buChar char="•"/>
            </a:pPr>
            <a:r>
              <a:rPr lang="en-US" sz="615" dirty="0">
                <a:solidFill>
                  <a:srgbClr val="002060"/>
                </a:solidFill>
                <a:latin typeface="Century Gothic" panose="020B0702020202020204" pitchFamily="34" charset="0"/>
                <a:sym typeface="+mn-ea"/>
              </a:rPr>
              <a:t>An MT5/MT4 account can be accessed through a</a:t>
            </a:r>
            <a:r>
              <a:rPr lang="en-US" sz="615" b="1" dirty="0">
                <a:solidFill>
                  <a:srgbClr val="002060"/>
                </a:solidFill>
                <a:latin typeface="Century Gothic" panose="020B0702020202020204" pitchFamily="34" charset="0"/>
                <a:sym typeface="+mn-ea"/>
              </a:rPr>
              <a:t> </a:t>
            </a:r>
            <a:r>
              <a:rPr lang="en-US" sz="615" dirty="0">
                <a:solidFill>
                  <a:schemeClr val="bg1">
                    <a:lumMod val="65000"/>
                  </a:schemeClr>
                </a:solidFill>
                <a:latin typeface="Century Gothic" panose="020B0702020202020204" pitchFamily="34" charset="0"/>
                <a:sym typeface="+mn-ea"/>
                <a:hlinkClick r:id="rId1" action="ppaction://hlinkfile"/>
              </a:rPr>
              <a:t>brokerage/securities dealer firm</a:t>
            </a:r>
            <a:r>
              <a:rPr lang="en-US" sz="615" dirty="0">
                <a:solidFill>
                  <a:srgbClr val="002060"/>
                </a:solidFill>
                <a:latin typeface="Century Gothic" panose="020B0702020202020204" pitchFamily="34" charset="0"/>
                <a:sym typeface="+mn-ea"/>
              </a:rPr>
              <a:t> or by using a </a:t>
            </a:r>
            <a:r>
              <a:rPr lang="en-US" sz="615" dirty="0">
                <a:solidFill>
                  <a:schemeClr val="bg1">
                    <a:lumMod val="65000"/>
                  </a:schemeClr>
                </a:solidFill>
                <a:latin typeface="Century Gothic" panose="020B0702020202020204" pitchFamily="34" charset="0"/>
                <a:sym typeface="+mn-ea"/>
                <a:hlinkClick r:id="rId2" action="ppaction://hlinkfile"/>
              </a:rPr>
              <a:t>proprietary (prop) trading account</a:t>
            </a:r>
            <a:r>
              <a:rPr lang="en-US" sz="615" dirty="0">
                <a:solidFill>
                  <a:schemeClr val="bg1">
                    <a:lumMod val="65000"/>
                  </a:schemeClr>
                </a:solidFill>
                <a:latin typeface="Century Gothic" panose="020B0702020202020204" pitchFamily="34" charset="0"/>
                <a:sym typeface="+mn-ea"/>
              </a:rPr>
              <a:t>.</a:t>
            </a:r>
            <a:r>
              <a:rPr lang="en-US" sz="615" dirty="0">
                <a:solidFill>
                  <a:srgbClr val="002060"/>
                </a:solidFill>
                <a:latin typeface="Century Gothic" panose="020B0702020202020204" pitchFamily="34" charset="0"/>
                <a:sym typeface="+mn-ea"/>
              </a:rPr>
              <a:t>*</a:t>
            </a:r>
            <a:endParaRPr lang="en-US" sz="615" dirty="0">
              <a:solidFill>
                <a:srgbClr val="002060"/>
              </a:solidFill>
              <a:latin typeface="Century Gothic" panose="020B0702020202020204" pitchFamily="34" charset="0"/>
            </a:endParaRPr>
          </a:p>
          <a:p>
            <a:pPr algn="just"/>
            <a:endParaRPr lang="en-US" sz="615" dirty="0">
              <a:solidFill>
                <a:srgbClr val="002060"/>
              </a:solidFill>
              <a:latin typeface="Century Gothic" panose="020B0702020202020204" pitchFamily="34" charset="0"/>
            </a:endParaRPr>
          </a:p>
          <a:p>
            <a:pPr marL="171450" indent="-171450" algn="just">
              <a:buFont typeface="Arial" panose="020B0604020202090204" pitchFamily="34" charset="0"/>
              <a:buChar char="•"/>
            </a:pPr>
            <a:r>
              <a:rPr lang="en-US" sz="615" b="1" dirty="0">
                <a:solidFill>
                  <a:srgbClr val="002060"/>
                </a:solidFill>
                <a:latin typeface="Century Gothic" panose="020B0702020202020204" pitchFamily="34" charset="0"/>
                <a:sym typeface="+mn-ea"/>
              </a:rPr>
              <a:t>Example: </a:t>
            </a:r>
            <a:endParaRPr lang="en-US" sz="615" b="1" dirty="0">
              <a:solidFill>
                <a:srgbClr val="002060"/>
              </a:solidFill>
              <a:latin typeface="Century Gothic" panose="020B0702020202020204" pitchFamily="34" charset="0"/>
            </a:endParaRPr>
          </a:p>
          <a:p>
            <a:pPr marL="628650" lvl="1" indent="-171450" algn="just">
              <a:buFont typeface="Arial" panose="020B0604020202090204" pitchFamily="34" charset="0"/>
              <a:buChar char="•"/>
            </a:pPr>
            <a:r>
              <a:rPr lang="en-US" sz="615" dirty="0">
                <a:solidFill>
                  <a:srgbClr val="002060"/>
                </a:solidFill>
                <a:latin typeface="Century Gothic" panose="020B0702020202020204" pitchFamily="34" charset="0"/>
                <a:sym typeface="+mn-ea"/>
              </a:rPr>
              <a:t>Volatility analysis of economic releases, such as the CPI event, helps identify patterns in market reactions. For instance, if the CPI event typically results in a minimum movement of 0.5x and a maximum movement of 3x, a stop-loss of 1x and a take-profit of 3x can be strategically applied.</a:t>
            </a:r>
            <a:endParaRPr lang="en-US" sz="615" dirty="0">
              <a:solidFill>
                <a:srgbClr val="002060"/>
              </a:solidFill>
              <a:latin typeface="Century Gothic" panose="020B0702020202020204" pitchFamily="34" charset="0"/>
            </a:endParaRPr>
          </a:p>
          <a:p>
            <a:pPr marL="628650" lvl="1" indent="-171450" algn="just">
              <a:buFont typeface="Arial" panose="020B0604020202090204" pitchFamily="34" charset="0"/>
              <a:buChar char="•"/>
            </a:pPr>
            <a:r>
              <a:rPr lang="en-US" sz="615" dirty="0">
                <a:solidFill>
                  <a:srgbClr val="002060"/>
                </a:solidFill>
                <a:latin typeface="Century Gothic" panose="020B0702020202020204" pitchFamily="34" charset="0"/>
                <a:sym typeface="+mn-ea"/>
              </a:rPr>
              <a:t>Following prudent risk management, the risk per trade should not exceed 5% of the trading balance, typically. For a $100,000 trading account (max loss amount post which trading is halted), this translates to a $5,000 stop-loss and a $15,000 take-profit.</a:t>
            </a:r>
            <a:endParaRPr lang="en-US" sz="615" dirty="0">
              <a:solidFill>
                <a:srgbClr val="002060"/>
              </a:solidFill>
              <a:latin typeface="Century Gothic" panose="020B0702020202020204" pitchFamily="34" charset="0"/>
            </a:endParaRPr>
          </a:p>
          <a:p>
            <a:pPr marL="628650" lvl="1" indent="-171450" algn="just">
              <a:buFont typeface="Arial" panose="020B0604020202090204" pitchFamily="34" charset="0"/>
              <a:buChar char="•"/>
            </a:pPr>
            <a:r>
              <a:rPr lang="en-US" sz="615" dirty="0">
                <a:solidFill>
                  <a:srgbClr val="002060"/>
                </a:solidFill>
                <a:latin typeface="Century Gothic" panose="020B0702020202020204" pitchFamily="34" charset="0"/>
                <a:sym typeface="+mn-ea"/>
              </a:rPr>
              <a:t>The guiding principle is that a win ratio of at least 50% combined with a risk-reward ratio of over 1.5 ensures positive expected cash flow. By limiting risk to 5% of the account balance, potential drawdowns from consecutive losses are minimized, preserving capital and maintaining positive cash flow expectations.</a:t>
            </a:r>
            <a:endParaRPr lang="en-US" sz="615" dirty="0">
              <a:solidFill>
                <a:srgbClr val="002060"/>
              </a:solidFill>
              <a:latin typeface="Century Gothic" panose="020B0702020202020204" pitchFamily="34" charset="0"/>
            </a:endParaRPr>
          </a:p>
          <a:p>
            <a:pPr marL="171450" indent="-171450" algn="just">
              <a:buFont typeface="Arial" panose="020B0604020202090204" pitchFamily="34" charset="0"/>
              <a:buChar char="•"/>
            </a:pPr>
            <a:endParaRPr lang="en-US" sz="615" dirty="0">
              <a:solidFill>
                <a:srgbClr val="002060"/>
              </a:solidFill>
              <a:latin typeface="Century Gothic" panose="020B0702020202020204" pitchFamily="34" charset="0"/>
            </a:endParaRPr>
          </a:p>
          <a:p>
            <a:pPr marL="171450" indent="-171450" algn="just">
              <a:buFont typeface="Arial" panose="020B0604020202090204" pitchFamily="34" charset="0"/>
              <a:buChar char="•"/>
            </a:pPr>
            <a:r>
              <a:rPr lang="en-US" sz="615" dirty="0">
                <a:solidFill>
                  <a:srgbClr val="002060"/>
                </a:solidFill>
                <a:latin typeface="Century Gothic" panose="020B0702020202020204" pitchFamily="34" charset="0"/>
                <a:sym typeface="+mn-ea"/>
              </a:rPr>
              <a:t>If you need further assistance, please don’t hesitate to contact us.</a:t>
            </a:r>
            <a:endParaRPr lang="en-US" sz="615" dirty="0">
              <a:solidFill>
                <a:srgbClr val="002060"/>
              </a:solidFill>
              <a:latin typeface="Century Gothic" panose="020B0702020202020204" pitchFamily="34" charset="0"/>
              <a:sym typeface="+mn-ea"/>
            </a:endParaRPr>
          </a:p>
          <a:p>
            <a:pPr marL="171450" indent="-171450" algn="just">
              <a:buFont typeface="Arial" panose="020B0604020202090204" pitchFamily="34" charset="0"/>
              <a:buChar char="•"/>
            </a:pPr>
            <a:endParaRPr lang="en-US" sz="615" dirty="0">
              <a:solidFill>
                <a:srgbClr val="002060"/>
              </a:solidFill>
              <a:latin typeface="Century Gothic" panose="020B0702020202020204" pitchFamily="34" charset="0"/>
            </a:endParaRPr>
          </a:p>
          <a:p>
            <a:pPr marL="171450" indent="-171450" algn="just">
              <a:buFont typeface="Arial" panose="020B0604020202090204" pitchFamily="34" charset="0"/>
              <a:buChar char="•"/>
            </a:pPr>
            <a:r>
              <a:rPr lang="en-US" sz="615" i="1" dirty="0">
                <a:solidFill>
                  <a:srgbClr val="002060"/>
                </a:solidFill>
                <a:latin typeface="Century Gothic" panose="020B0702020202020204" pitchFamily="34" charset="0"/>
                <a:sym typeface="+mn-ea"/>
              </a:rPr>
              <a:t>*Disclaimer: The links are provided for informational purposes only and connect to third-party websites. We are not affiliated with, nor do we endorse, any of these external sites. Trading carries a significant risk of financial loss. Your risk is your own responsibility, and you should carefully consider your investment objectives and risk tolerance before trading.</a:t>
            </a:r>
            <a:endParaRPr lang="en-US" sz="615" b="1" i="1" u="none" strike="noStrike" dirty="0">
              <a:solidFill>
                <a:srgbClr val="002060"/>
              </a:solidFill>
              <a:effectLst/>
              <a:latin typeface="Century Gothic" panose="020B0702020202020204" pitchFamily="34" charset="0"/>
              <a:sym typeface="+mn-ea"/>
            </a:endParaRPr>
          </a:p>
        </p:txBody>
      </p:sp>
      <p:graphicFrame>
        <p:nvGraphicFramePr>
          <p:cNvPr id="16" name="Table 15"/>
          <p:cNvGraphicFramePr>
            <a:graphicFrameLocks noGrp="1"/>
          </p:cNvGraphicFramePr>
          <p:nvPr/>
        </p:nvGraphicFramePr>
        <p:xfrm>
          <a:off x="6593840" y="5256530"/>
          <a:ext cx="5340985" cy="508635"/>
        </p:xfrm>
        <a:graphic>
          <a:graphicData uri="http://schemas.openxmlformats.org/drawingml/2006/table">
            <a:tbl>
              <a:tblPr/>
              <a:tblGrid>
                <a:gridCol w="5340985"/>
              </a:tblGrid>
              <a:tr h="508635">
                <a:tc>
                  <a:txBody>
                    <a:bodyPr/>
                    <a:p>
                      <a:pPr algn="l" fontAlgn="ctr">
                        <a:lnSpc>
                          <a:spcPct val="100000"/>
                        </a:lnSpc>
                      </a:pPr>
                      <a:r>
                        <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rPr>
                        <a:t>  Resources</a:t>
                      </a: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txBody>
                  <a:tcPr marL="0" marR="0" marT="0" marB="0"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bl>
          </a:graphicData>
        </a:graphic>
      </p:graphicFrame>
      <p:sp>
        <p:nvSpPr>
          <p:cNvPr id="17" name="Rectangle 1"/>
          <p:cNvSpPr/>
          <p:nvPr/>
        </p:nvSpPr>
        <p:spPr>
          <a:xfrm>
            <a:off x="6583565" y="5922010"/>
            <a:ext cx="5340375" cy="513080"/>
          </a:xfrm>
          <a:prstGeom prst="rect">
            <a:avLst/>
          </a:prstGeom>
          <a:solidFill>
            <a:schemeClr val="bg1">
              <a:lumMod val="95000"/>
            </a:schemeClr>
          </a:solidFill>
          <a:ln>
            <a:solidFill>
              <a:schemeClr val="bg1">
                <a:lumMod val="95000"/>
              </a:schemeClr>
            </a:solid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p>
            <a:pPr marL="171450" indent="-171450">
              <a:buFont typeface="Arial" panose="020B0604020202090204" pitchFamily="34" charset="0"/>
              <a:buChar char="•"/>
            </a:pPr>
            <a:r>
              <a:rPr lang="en-US" sz="800" u="sng" dirty="0">
                <a:solidFill>
                  <a:schemeClr val="bg1">
                    <a:lumMod val="65000"/>
                  </a:schemeClr>
                </a:solidFill>
                <a:effectLst/>
                <a:latin typeface="Century Gothic" panose="020B0702020202020204" pitchFamily="34" charset="0"/>
                <a:sym typeface="+mn-ea"/>
                <a:hlinkClick r:id="rId3" action="ppaction://hlinkfile"/>
              </a:rPr>
              <a:t>https://github.com/pawan-pro/quantwater-tech-investments/blob/main/QuantPulse</a:t>
            </a:r>
            <a:endParaRPr lang="en-US" sz="800" u="sng" strike="noStrike" dirty="0">
              <a:solidFill>
                <a:schemeClr val="bg1">
                  <a:lumMod val="65000"/>
                </a:schemeClr>
              </a:solidFill>
              <a:effectLst/>
              <a:latin typeface="Century Gothic" panose="020B0702020202020204" pitchFamily="34" charset="0"/>
            </a:endParaRPr>
          </a:p>
          <a:p>
            <a:pPr marL="171450" indent="-171450">
              <a:buFont typeface="Arial" panose="020B0604020202090204" pitchFamily="34" charset="0"/>
              <a:buChar char="•"/>
            </a:pPr>
            <a:r>
              <a:rPr lang="en-US" sz="800" u="sng" dirty="0">
                <a:solidFill>
                  <a:schemeClr val="bg1">
                    <a:lumMod val="65000"/>
                  </a:schemeClr>
                </a:solidFill>
                <a:latin typeface="Century Gothic" panose="020B0702020202020204" pitchFamily="34" charset="0"/>
                <a:sym typeface="+mn-ea"/>
                <a:hlinkClick r:id="rId4"/>
              </a:rPr>
              <a:t>https://quantwatertech.netlify.app/research</a:t>
            </a:r>
            <a:endParaRPr lang="en-US" sz="800" u="sng" dirty="0">
              <a:solidFill>
                <a:schemeClr val="bg1">
                  <a:lumMod val="65000"/>
                </a:schemeClr>
              </a:solidFill>
              <a:latin typeface="Century Gothic" panose="020B0702020202020204" pitchFamily="34" charset="0"/>
            </a:endParaRPr>
          </a:p>
          <a:p>
            <a:pPr marL="171450" indent="-171450">
              <a:buFont typeface="Arial" panose="020B0604020202090204" pitchFamily="34" charset="0"/>
              <a:buChar char="•"/>
            </a:pPr>
            <a:r>
              <a:rPr lang="en-US" sz="800" u="sng" dirty="0">
                <a:solidFill>
                  <a:schemeClr val="bg1">
                    <a:lumMod val="65000"/>
                  </a:schemeClr>
                </a:solidFill>
                <a:latin typeface="Century Gothic" panose="020B0702020202020204" pitchFamily="34" charset="0"/>
                <a:sym typeface="+mn-ea"/>
                <a:hlinkClick r:id="rId5"/>
              </a:rPr>
              <a:t>https://quantwater.tech/blog</a:t>
            </a:r>
            <a:endParaRPr lang="en-US" sz="800" b="1" i="0" u="sng" strike="noStrike" dirty="0">
              <a:solidFill>
                <a:schemeClr val="bg1">
                  <a:lumMod val="65000"/>
                </a:schemeClr>
              </a:solidFill>
              <a:effectLst/>
              <a:latin typeface="Century Gothic" panose="020B0702020202020204" pitchFamily="34" charset="0"/>
              <a:sym typeface="+mn-ea"/>
              <a:hlinkClick r:id="rId5"/>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8606" y="376150"/>
            <a:ext cx="5877454" cy="1765801"/>
          </a:xfrm>
        </p:spPr>
        <p:txBody>
          <a:bodyPr>
            <a:normAutofit/>
          </a:bodyPr>
          <a:lstStyle/>
          <a:p>
            <a:r>
              <a:rPr lang="en-US" dirty="0">
                <a:solidFill>
                  <a:schemeClr val="accent5">
                    <a:lumMod val="50000"/>
                  </a:schemeClr>
                </a:solidFill>
                <a:latin typeface="Century Gothic" panose="020B0702020202020204" pitchFamily="34" charset="0"/>
                <a:cs typeface="Century Gothic" panose="020B0702020202020204" pitchFamily="34" charset="0"/>
              </a:rPr>
              <a:t>Thank You!</a:t>
            </a:r>
            <a:endParaRPr lang="en-US" sz="1100" dirty="0">
              <a:solidFill>
                <a:schemeClr val="accent5">
                  <a:lumMod val="50000"/>
                </a:schemeClr>
              </a:solidFill>
              <a:latin typeface="Century Gothic" panose="020B0702020202020204" pitchFamily="34" charset="0"/>
              <a:cs typeface="Century Gothic" panose="020B0702020202020204" pitchFamily="34" charset="0"/>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a:pPr>
            <a:endParaRPr kumimoji="0" lang="en-US" sz="1800" b="1" i="0" u="none" strike="noStrike" kern="1200" cap="none" spc="0" normalizeH="0" baseline="0" noProof="0" dirty="0">
              <a:ln>
                <a:noFill/>
              </a:ln>
              <a:solidFill>
                <a:srgbClr val="111121"/>
              </a:solidFill>
              <a:effectLst/>
              <a:uLnTx/>
              <a:uFillTx/>
              <a:latin typeface="Century Gothic" panose="020B0702020202020204" pitchFamily="34" charset="0"/>
              <a:ea typeface="+mn-ea"/>
              <a:cs typeface="Century Gothic" panose="020B0702020202020204" pitchFamily="34" charset="0"/>
            </a:endParaRPr>
          </a:p>
        </p:txBody>
      </p:sp>
      <p:pic>
        <p:nvPicPr>
          <p:cNvPr id="7" name="Picture 6" descr="A line drawn on a white background&#10;&#10;Description automatically generated"/>
          <p:cNvPicPr>
            <a:picLocks noChangeAspect="1"/>
          </p:cNvPicPr>
          <p:nvPr/>
        </p:nvPicPr>
        <p:blipFill>
          <a:blip r:embed="rId1">
            <a:extLst>
              <a:ext uri="{BEBA8EAE-BF5A-486C-A8C5-ECC9F3942E4B}">
                <a14:imgProps xmlns:a14="http://schemas.microsoft.com/office/drawing/2010/main">
                  <a14:imgLayer r:embed="rId2">
                    <a14:imgEffect>
                      <a14:sharpenSoften amount="-60000"/>
                    </a14:imgEffect>
                  </a14:imgLayer>
                </a14:imgProps>
              </a:ext>
            </a:extLst>
          </a:blip>
          <a:srcRect b="15261"/>
          <a:stretch>
            <a:fillRect/>
          </a:stretch>
        </p:blipFill>
        <p:spPr>
          <a:xfrm>
            <a:off x="0" y="-24903"/>
            <a:ext cx="12192000" cy="5849438"/>
          </a:xfrm>
          <a:prstGeom prst="rect">
            <a:avLst/>
          </a:prstGeom>
        </p:spPr>
      </p:pic>
      <p:sp>
        <p:nvSpPr>
          <p:cNvPr id="10" name="Title 1"/>
          <p:cNvSpPr txBox="1"/>
          <p:nvPr/>
        </p:nvSpPr>
        <p:spPr>
          <a:xfrm>
            <a:off x="361586" y="376151"/>
            <a:ext cx="6046662" cy="18121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sz="3300" dirty="0">
                <a:solidFill>
                  <a:schemeClr val="bg1">
                    <a:lumMod val="65000"/>
                  </a:schemeClr>
                </a:solidFill>
                <a:latin typeface="Century Gothic" panose="020B0702020202020204" pitchFamily="34" charset="0"/>
                <a:cs typeface="Century Gothic" panose="020B0702020202020204" pitchFamily="34" charset="0"/>
              </a:rPr>
              <a:t>Thank You!</a:t>
            </a:r>
            <a:endParaRPr lang="en-US" sz="3300" dirty="0">
              <a:solidFill>
                <a:schemeClr val="bg1">
                  <a:lumMod val="65000"/>
                </a:schemeClr>
              </a:solidFill>
              <a:latin typeface="Century Gothic" panose="020B0702020202020204" pitchFamily="34" charset="0"/>
              <a:cs typeface="Century Gothic" panose="020B0702020202020204" pitchFamily="34" charset="0"/>
            </a:endParaRPr>
          </a:p>
        </p:txBody>
      </p:sp>
      <p:sp>
        <p:nvSpPr>
          <p:cNvPr id="4" name="Title 1"/>
          <p:cNvSpPr txBox="1"/>
          <p:nvPr/>
        </p:nvSpPr>
        <p:spPr>
          <a:xfrm>
            <a:off x="1654446" y="6268547"/>
            <a:ext cx="8583248" cy="512781"/>
          </a:xfrm>
          <a:prstGeom prst="rect">
            <a:avLst/>
          </a:prstGeom>
          <a:solidFill>
            <a:schemeClr val="bg1"/>
          </a:solidFill>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pPr algn="ctr"/>
            <a:r>
              <a:rPr lang="en-US" sz="3300" dirty="0">
                <a:solidFill>
                  <a:schemeClr val="bg1">
                    <a:lumMod val="65000"/>
                  </a:schemeClr>
                </a:solidFill>
                <a:latin typeface="Century Gothic" panose="020B0702020202020204" pitchFamily="34" charset="0"/>
                <a:cs typeface="Century Gothic" panose="020B0702020202020204" pitchFamily="34" charset="0"/>
              </a:rPr>
              <a:t>Quantwater Tech Investments</a:t>
            </a:r>
            <a:endParaRPr lang="en-US" sz="3300" dirty="0">
              <a:solidFill>
                <a:schemeClr val="bg1">
                  <a:lumMod val="65000"/>
                </a:schemeClr>
              </a:solidFill>
              <a:latin typeface="Century Gothic" panose="020B0702020202020204" pitchFamily="34" charset="0"/>
              <a:cs typeface="Century Gothic" panose="020B0702020202020204" pitchFamily="34" charset="0"/>
            </a:endParaRPr>
          </a:p>
        </p:txBody>
      </p:sp>
      <p:sp>
        <p:nvSpPr>
          <p:cNvPr id="3" name="Title 1"/>
          <p:cNvSpPr txBox="1"/>
          <p:nvPr/>
        </p:nvSpPr>
        <p:spPr>
          <a:xfrm>
            <a:off x="373063" y="5575874"/>
            <a:ext cx="1653553" cy="666778"/>
          </a:xfrm>
          <a:prstGeom prst="rect">
            <a:avLst/>
          </a:prstGeom>
          <a:solidFill>
            <a:schemeClr val="bg1">
              <a:lumMod val="95000"/>
            </a:schemeClr>
          </a:solidFill>
          <a:effectLst>
            <a:outerShdw blurRad="50800" dist="38100" dir="2700000" algn="tl" rotWithShape="0">
              <a:prstClr val="black">
                <a:alpha val="40000"/>
              </a:prstClr>
            </a:outerShdw>
          </a:effectLst>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sz="1500" dirty="0">
                <a:solidFill>
                  <a:schemeClr val="bg1">
                    <a:lumMod val="65000"/>
                  </a:schemeClr>
                </a:solidFill>
                <a:latin typeface="Century Gothic" panose="020B0702020202020204" pitchFamily="34" charset="0"/>
                <a:cs typeface="Century Gothic" panose="020B0702020202020204" pitchFamily="34" charset="0"/>
              </a:rPr>
              <a:t>Pawan Jatale</a:t>
            </a:r>
            <a:endParaRPr lang="en-US" sz="1500" dirty="0">
              <a:solidFill>
                <a:schemeClr val="bg1">
                  <a:lumMod val="65000"/>
                </a:schemeClr>
              </a:solidFill>
              <a:latin typeface="Century Gothic" panose="020B0702020202020204" pitchFamily="34" charset="0"/>
              <a:cs typeface="Century Gothic" panose="020B0702020202020204" pitchFamily="34" charset="0"/>
            </a:endParaRPr>
          </a:p>
          <a:p>
            <a:endParaRPr lang="en-US" sz="1500" dirty="0">
              <a:solidFill>
                <a:schemeClr val="bg1">
                  <a:lumMod val="65000"/>
                </a:schemeClr>
              </a:solidFill>
              <a:latin typeface="Century Gothic" panose="020B0702020202020204" pitchFamily="34" charset="0"/>
              <a:cs typeface="Century Gothic" panose="020B0702020202020204" pitchFamily="34" charset="0"/>
            </a:endParaRPr>
          </a:p>
          <a:p>
            <a:r>
              <a:rPr lang="en-US" sz="1500" dirty="0">
                <a:solidFill>
                  <a:schemeClr val="bg1">
                    <a:lumMod val="65000"/>
                  </a:schemeClr>
                </a:solidFill>
                <a:latin typeface="Century Gothic" panose="020B0702020202020204" pitchFamily="34" charset="0"/>
                <a:cs typeface="Century Gothic" panose="020B0702020202020204" pitchFamily="34" charset="0"/>
              </a:rPr>
              <a:t>pawan@quantwater.tech</a:t>
            </a:r>
            <a:endParaRPr lang="en-US" sz="1500" dirty="0">
              <a:solidFill>
                <a:schemeClr val="bg1">
                  <a:lumMod val="65000"/>
                </a:schemeClr>
              </a:solidFill>
              <a:latin typeface="Century Gothic" panose="020B0702020202020204" pitchFamily="34" charset="0"/>
              <a:cs typeface="Century Gothic" panose="020B0702020202020204" pitchFamily="34" charset="0"/>
            </a:endParaRPr>
          </a:p>
          <a:p>
            <a:endParaRPr lang="en-US" sz="1500" dirty="0">
              <a:solidFill>
                <a:schemeClr val="bg1">
                  <a:lumMod val="65000"/>
                </a:schemeClr>
              </a:solidFill>
              <a:latin typeface="Century Gothic" panose="020B0702020202020204" pitchFamily="34" charset="0"/>
              <a:cs typeface="Century Gothic" panose="020B0702020202020204" pitchFamily="34" charset="0"/>
            </a:endParaRPr>
          </a:p>
          <a:p>
            <a:r>
              <a:rPr lang="en-US" sz="1500" dirty="0">
                <a:solidFill>
                  <a:schemeClr val="bg1">
                    <a:lumMod val="65000"/>
                  </a:schemeClr>
                </a:solidFill>
                <a:latin typeface="Century Gothic" panose="020B0702020202020204" pitchFamily="34" charset="0"/>
                <a:cs typeface="Century Gothic" panose="020B0702020202020204" pitchFamily="34" charset="0"/>
              </a:rPr>
              <a:t>Founder</a:t>
            </a:r>
            <a:endParaRPr lang="en-US" sz="1500" dirty="0">
              <a:solidFill>
                <a:schemeClr val="bg1">
                  <a:lumMod val="65000"/>
                </a:schemeClr>
              </a:solidFill>
              <a:latin typeface="Century Gothic" panose="020B0702020202020204" pitchFamily="34" charset="0"/>
              <a:cs typeface="Century Gothic" panose="020B0702020202020204" pitchFamily="34" charset="0"/>
            </a:endParaRPr>
          </a:p>
        </p:txBody>
      </p:sp>
    </p:spTree>
  </p:cSld>
  <p:clrMapOvr>
    <a:masterClrMapping/>
  </p:clrMapOvr>
</p:sld>
</file>

<file path=ppt/theme/theme1.xml><?xml version="1.0" encoding="utf-8"?>
<a:theme xmlns:a="http://schemas.openxmlformats.org/drawingml/2006/main" name="TAQA Templat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10">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45572</Words>
  <Application>WPS Presentation</Application>
  <PresentationFormat>Widescreen</PresentationFormat>
  <Paragraphs>1028</Paragraphs>
  <Slides>76</Slides>
  <Notes>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76</vt:i4>
      </vt:variant>
    </vt:vector>
  </HeadingPairs>
  <TitlesOfParts>
    <vt:vector size="91" baseType="lpstr">
      <vt:lpstr>Arial</vt:lpstr>
      <vt:lpstr>SimSun</vt:lpstr>
      <vt:lpstr>Wingdings</vt:lpstr>
      <vt:lpstr>Century Gothic</vt:lpstr>
      <vt:lpstr>Verdana</vt:lpstr>
      <vt:lpstr>Arial</vt:lpstr>
      <vt:lpstr>Century Gothic</vt:lpstr>
      <vt:lpstr>Aptos Narrow</vt:lpstr>
      <vt:lpstr>Microsoft YaHei</vt:lpstr>
      <vt:lpstr>汉仪旗黑</vt:lpstr>
      <vt:lpstr>Arial Unicode MS</vt:lpstr>
      <vt:lpstr>Aptos</vt:lpstr>
      <vt:lpstr>Helvetica Neue</vt:lpstr>
      <vt:lpstr>Calibri</vt:lpstr>
      <vt:lpstr>TAQA Template</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Pawan J</dc:creator>
  <cp:lastModifiedBy>Pawan Jatale</cp:lastModifiedBy>
  <cp:revision>134</cp:revision>
  <dcterms:created xsi:type="dcterms:W3CDTF">2025-12-28T13:54:48Z</dcterms:created>
  <dcterms:modified xsi:type="dcterms:W3CDTF">2025-12-28T13:54:48Z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BB49D656ACBF13EFA1365169F1F77099_43</vt:lpwstr>
  </property>
  <property fmtid="{D5CDD505-2E9C-101B-9397-08002B2CF9AE}" pid="3" name="KSOProductBuildVer">
    <vt:lpwstr>1033-12.1.23153.23153</vt:lpwstr>
  </property>
</Properties>
</file>