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4102425" r:id="rId3"/>
    <p:sldId id="4102427" r:id="rId4"/>
    <p:sldId id="4102400" r:id="rId6"/>
    <p:sldId id="4102444" r:id="rId7"/>
    <p:sldId id="4102527" r:id="rId8"/>
    <p:sldId id="4102785" r:id="rId9"/>
    <p:sldId id="4102786" r:id="rId10"/>
    <p:sldId id="4102787" r:id="rId11"/>
    <p:sldId id="4102788" r:id="rId12"/>
    <p:sldId id="4102789" r:id="rId13"/>
    <p:sldId id="4102790" r:id="rId14"/>
    <p:sldId id="4102896" r:id="rId15"/>
    <p:sldId id="4102893" r:id="rId16"/>
    <p:sldId id="4102894" r:id="rId17"/>
    <p:sldId id="4102895" r:id="rId18"/>
    <p:sldId id="4102791" r:id="rId19"/>
    <p:sldId id="4102792" r:id="rId20"/>
    <p:sldId id="4102793" r:id="rId21"/>
    <p:sldId id="4102794" r:id="rId22"/>
    <p:sldId id="4102795" r:id="rId23"/>
    <p:sldId id="4102796" r:id="rId24"/>
    <p:sldId id="4102900" r:id="rId25"/>
    <p:sldId id="4102897" r:id="rId26"/>
    <p:sldId id="4102898" r:id="rId27"/>
    <p:sldId id="4102899" r:id="rId28"/>
    <p:sldId id="4102797" r:id="rId29"/>
    <p:sldId id="4102798" r:id="rId30"/>
    <p:sldId id="4102799" r:id="rId31"/>
    <p:sldId id="4102800" r:id="rId32"/>
    <p:sldId id="4102801" r:id="rId33"/>
    <p:sldId id="4102802" r:id="rId34"/>
    <p:sldId id="4102904" r:id="rId35"/>
    <p:sldId id="4102901" r:id="rId36"/>
    <p:sldId id="4102902" r:id="rId37"/>
    <p:sldId id="4102903" r:id="rId38"/>
    <p:sldId id="4102803" r:id="rId39"/>
    <p:sldId id="4102804" r:id="rId40"/>
    <p:sldId id="4102805" r:id="rId41"/>
    <p:sldId id="4102806" r:id="rId42"/>
    <p:sldId id="4102807" r:id="rId43"/>
    <p:sldId id="4102808" r:id="rId44"/>
    <p:sldId id="4102908" r:id="rId45"/>
    <p:sldId id="4102905" r:id="rId46"/>
    <p:sldId id="4102906" r:id="rId47"/>
    <p:sldId id="4102907" r:id="rId48"/>
    <p:sldId id="4102809" r:id="rId49"/>
    <p:sldId id="4102810" r:id="rId50"/>
    <p:sldId id="4102811" r:id="rId51"/>
    <p:sldId id="4102812" r:id="rId52"/>
    <p:sldId id="4102813" r:id="rId53"/>
    <p:sldId id="4102814" r:id="rId54"/>
    <p:sldId id="4102912" r:id="rId55"/>
    <p:sldId id="4102909" r:id="rId56"/>
    <p:sldId id="4102910" r:id="rId57"/>
    <p:sldId id="4102911" r:id="rId58"/>
    <p:sldId id="4102815" r:id="rId59"/>
    <p:sldId id="4102816" r:id="rId60"/>
    <p:sldId id="4102817" r:id="rId61"/>
    <p:sldId id="4102818" r:id="rId62"/>
    <p:sldId id="4102819" r:id="rId63"/>
    <p:sldId id="4102820" r:id="rId64"/>
    <p:sldId id="4102916" r:id="rId65"/>
    <p:sldId id="4102913" r:id="rId66"/>
    <p:sldId id="4102914" r:id="rId67"/>
    <p:sldId id="4102915" r:id="rId68"/>
    <p:sldId id="4102917" r:id="rId69"/>
    <p:sldId id="4102918" r:id="rId70"/>
    <p:sldId id="4102919" r:id="rId71"/>
    <p:sldId id="4102920" r:id="rId72"/>
    <p:sldId id="4102821" r:id="rId73"/>
    <p:sldId id="4102822" r:id="rId74"/>
    <p:sldId id="4102823" r:id="rId75"/>
    <p:sldId id="4102824" r:id="rId76"/>
    <p:sldId id="4102825" r:id="rId77"/>
    <p:sldId id="4102826" r:id="rId78"/>
    <p:sldId id="4102924" r:id="rId79"/>
    <p:sldId id="4102921" r:id="rId80"/>
    <p:sldId id="4102922" r:id="rId81"/>
    <p:sldId id="4102923" r:id="rId82"/>
    <p:sldId id="4102827" r:id="rId83"/>
    <p:sldId id="4102828" r:id="rId84"/>
    <p:sldId id="4102829" r:id="rId85"/>
    <p:sldId id="4102830" r:id="rId86"/>
    <p:sldId id="4102831" r:id="rId87"/>
    <p:sldId id="4102832" r:id="rId88"/>
    <p:sldId id="4102928" r:id="rId89"/>
    <p:sldId id="4102925" r:id="rId90"/>
    <p:sldId id="4102926" r:id="rId91"/>
    <p:sldId id="4102927" r:id="rId92"/>
    <p:sldId id="4102929" r:id="rId93"/>
    <p:sldId id="4102661" r:id="rId94"/>
    <p:sldId id="4102662" r:id="rId95"/>
    <p:sldId id="4102663" r:id="rId9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29"/>
    <p:restoredTop sz="94682"/>
  </p:normalViewPr>
  <p:slideViewPr>
    <p:cSldViewPr snapToGrid="0" showGuides="1">
      <p:cViewPr>
        <p:scale>
          <a:sx n="90" d="100"/>
          <a:sy n="90" d="100"/>
        </p:scale>
        <p:origin x="-32" y="81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406E5E-8587-7944-A611-EE9F859B850F}"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A3D73E-6582-8C42-9592-FC2CEFA619E6}"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image5.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image6.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image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7" name="Title 1"/>
          <p:cNvSpPr txBox="1"/>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t>Click to edit Master title style</a:t>
            </a:r>
            <a:endParaRPr lang="en-US" dirty="0"/>
          </a:p>
        </p:txBody>
      </p:sp>
      <p:sp>
        <p:nvSpPr>
          <p:cNvPr id="6" name="Title 1"/>
          <p:cNvSpPr txBox="1"/>
          <p:nvPr userDrawn="1"/>
        </p:nvSpPr>
        <p:spPr>
          <a:xfrm>
            <a:off x="6059020" y="3501931"/>
            <a:ext cx="5443870" cy="220035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3300" dirty="0">
                <a:solidFill>
                  <a:schemeClr val="bg1">
                    <a:lumMod val="50000"/>
                  </a:schemeClr>
                </a:solidFill>
              </a:rPr>
              <a:t>[Date]</a:t>
            </a:r>
            <a:endParaRPr lang="en-US" sz="3300" dirty="0">
              <a:solidFill>
                <a:schemeClr val="bg1">
                  <a:lumMod val="50000"/>
                </a:schemeClr>
              </a:solidFill>
            </a:endParaRPr>
          </a:p>
          <a:p>
            <a:endParaRPr lang="en-US" sz="3300" dirty="0">
              <a:solidFill>
                <a:schemeClr val="bg1">
                  <a:lumMod val="50000"/>
                </a:schemeClr>
              </a:solidFill>
            </a:endParaRPr>
          </a:p>
          <a:p>
            <a:r>
              <a:rPr lang="en-US" sz="3300" dirty="0">
                <a:solidFill>
                  <a:schemeClr val="bg1">
                    <a:lumMod val="50000"/>
                  </a:schemeClr>
                </a:solidFill>
              </a:rPr>
              <a:t>Economic Data Releases &amp; Their Historical Impact on Assets</a:t>
            </a:r>
            <a:endParaRPr lang="en-US" sz="3300" dirty="0">
              <a:solidFill>
                <a:schemeClr val="bg1">
                  <a:lumMod val="50000"/>
                </a:schemeClr>
              </a:solidFill>
            </a:endParaRPr>
          </a:p>
        </p:txBody>
      </p:sp>
      <p:sp>
        <p:nvSpPr>
          <p:cNvPr id="8" name="TextBox 7"/>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3" name="Rectangle 2"/>
          <p:cNvSpPr/>
          <p:nvPr userDrawn="1"/>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702020202020204" pitchFamily="34" charset="0"/>
              </a:rPr>
              <a:t>Brief</a:t>
            </a:r>
            <a:endParaRPr lang="en-US" b="1" dirty="0">
              <a:solidFill>
                <a:srgbClr val="002060"/>
              </a:solidFill>
              <a:latin typeface="Century Gothic" panose="020B0702020202020204" pitchFamily="34" charset="0"/>
            </a:endParaRPr>
          </a:p>
        </p:txBody>
      </p:sp>
      <p:graphicFrame>
        <p:nvGraphicFramePr>
          <p:cNvPr id="4" name="Table 3"/>
          <p:cNvGraphicFramePr>
            <a:graphicFrameLocks noGrp="1"/>
          </p:cNvGraphicFramePr>
          <p:nvPr userDrawn="1"/>
        </p:nvGraphicFramePr>
        <p:xfrm>
          <a:off x="439939" y="882757"/>
          <a:ext cx="11407299" cy="5810186"/>
        </p:xfrm>
        <a:graphic>
          <a:graphicData uri="http://schemas.openxmlformats.org/drawingml/2006/table">
            <a:tbl>
              <a:tblPr>
                <a:tableStyleId>{5C22544A-7EE6-4342-B048-85BDC9FD1C3A}</a:tableStyleId>
              </a:tblPr>
              <a:tblGrid>
                <a:gridCol w="1492493"/>
                <a:gridCol w="949772"/>
                <a:gridCol w="1283396"/>
                <a:gridCol w="927100"/>
                <a:gridCol w="723900"/>
                <a:gridCol w="6030638"/>
              </a:tblGrid>
              <a:tr h="276893">
                <a:tc>
                  <a:txBody>
                    <a:bodyPr/>
                    <a:lstStyle/>
                    <a:p>
                      <a:pPr algn="ctr" fontAlgn="ctr"/>
                      <a:r>
                        <a:rPr lang="en-US" sz="1050" b="1" i="0" u="none" strike="noStrike" dirty="0">
                          <a:solidFill>
                            <a:srgbClr val="002060"/>
                          </a:solidFill>
                          <a:effectLst/>
                          <a:latin typeface="Verdana" panose="020B0604030504040204" pitchFamily="34" charset="0"/>
                        </a:rPr>
                        <a:t>Date</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Day</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Time (IST)</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Cur.</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Imp.</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Event</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153">
                <a:tc gridSpan="6">
                  <a:txBody>
                    <a:bodyPr/>
                    <a:lstStyle/>
                    <a:p>
                      <a:pPr lvl="0" algn="ctr" fontAlgn="ctr"/>
                      <a:endParaRPr lang="en-US" sz="8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TextBox 5"/>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7" name="Title 1"/>
          <p:cNvSpPr txBox="1"/>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t>Click to edit Master title style</a:t>
            </a:r>
            <a:endParaRPr lang="en-US" dirty="0"/>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p:txBody>
      </p:sp>
      <p:sp>
        <p:nvSpPr>
          <p:cNvPr id="9" name="TextBox 8"/>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Main Title 02">
    <p:bg>
      <p:bgRef idx="1001">
        <a:schemeClr val="bg2"/>
      </p:bgRef>
    </p:bg>
    <p:spTree>
      <p:nvGrpSpPr>
        <p:cNvPr id="1" name=""/>
        <p:cNvGrpSpPr/>
        <p:nvPr/>
      </p:nvGrpSpPr>
      <p:grpSpPr>
        <a:xfrm>
          <a:off x="0" y="0"/>
          <a:ext cx="0" cy="0"/>
          <a:chOff x="0" y="0"/>
          <a:chExt cx="0" cy="0"/>
        </a:xfrm>
      </p:grpSpPr>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8" name="Rectangle 7"/>
          <p:cNvSpPr/>
          <p:nvPr userDrawn="1"/>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702020202020204" pitchFamily="34" charset="0"/>
              </a:rPr>
              <a:t>[Event Name]</a:t>
            </a:r>
            <a:endParaRPr lang="en-US" sz="1800" b="1" dirty="0">
              <a:solidFill>
                <a:srgbClr val="002060"/>
              </a:solidFill>
              <a:latin typeface="Century Gothic" panose="020B0702020202020204" pitchFamily="34" charset="0"/>
            </a:endParaRPr>
          </a:p>
        </p:txBody>
      </p:sp>
      <p:graphicFrame>
        <p:nvGraphicFramePr>
          <p:cNvPr id="9" name="Table 8"/>
          <p:cNvGraphicFramePr>
            <a:graphicFrameLocks noGrp="1"/>
          </p:cNvGraphicFramePr>
          <p:nvPr userDrawn="1"/>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rtl="0" fontAlgn="ctr"/>
                      <a:r>
                        <a:rPr lang="en-US" sz="1800" b="1" i="0" u="none" strike="noStrike" dirty="0">
                          <a:solidFill>
                            <a:srgbClr val="000000"/>
                          </a:solidFill>
                          <a:effectLst/>
                          <a:latin typeface="Century Gothic" panose="020B0702020202020204" pitchFamily="34" charset="0"/>
                        </a:rPr>
                        <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rtl="0" fontAlgn="ctr"/>
                      <a:r>
                        <a:rPr lang="en-US" sz="1800" b="1" i="0" u="none" strike="noStrike" dirty="0">
                          <a:solidFill>
                            <a:srgbClr val="000000"/>
                          </a:solidFill>
                          <a:effectLst/>
                          <a:latin typeface="Century Gothic" panose="020B0702020202020204" pitchFamily="34" charset="0"/>
                        </a:rPr>
                        <a:t>[Event Name]</a:t>
                      </a: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rtl="0" fontAlgn="ctr"/>
                      <a:r>
                        <a:rPr lang="en-US" sz="1800" b="1" i="0" u="none" strike="noStrike">
                          <a:solidFill>
                            <a:srgbClr val="000000"/>
                          </a:solidFill>
                          <a:effectLst/>
                          <a:latin typeface="Century Gothic" panose="020B0702020202020204" pitchFamily="34" charset="0"/>
                        </a:rPr>
                        <a:t>Description</a:t>
                      </a:r>
                      <a:endParaRPr lang="en-US" sz="1800" b="1" i="0" u="none" strike="noStrike">
                        <a:solidFill>
                          <a:srgbClr val="000000"/>
                        </a:solidFill>
                        <a:effectLst/>
                        <a:latin typeface="Century Gothic" panose="020B0702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rtl="0" fontAlgn="ctr"/>
                      <a:r>
                        <a:rPr lang="en-US" sz="1800" b="1" i="0" u="none" strike="noStrike">
                          <a:solidFill>
                            <a:srgbClr val="000000"/>
                          </a:solidFill>
                          <a:effectLst/>
                          <a:latin typeface="Century Gothic" panose="020B0702020202020204" pitchFamily="34" charset="0"/>
                        </a:rPr>
                        <a:t>Actual:</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702020202020204" pitchFamily="34" charset="0"/>
                        </a:rPr>
                        <a:t> </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rtl="0" fontAlgn="ctr"/>
                      <a:endParaRPr lang="en-US" sz="900" b="0" i="0" u="none" strike="noStrike" dirty="0">
                        <a:solidFill>
                          <a:srgbClr val="000000"/>
                        </a:solidFill>
                        <a:effectLst/>
                        <a:latin typeface="Century Gothic" panose="020B07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6500">
                <a:tc>
                  <a:txBody>
                    <a:bodyPr/>
                    <a:lstStyle/>
                    <a:p>
                      <a:pPr algn="l" rtl="0" fontAlgn="ctr"/>
                      <a:r>
                        <a:rPr lang="en-US" sz="1800" b="1" i="0" u="none" strike="noStrike">
                          <a:solidFill>
                            <a:srgbClr val="000000"/>
                          </a:solidFill>
                          <a:effectLst/>
                          <a:latin typeface="Century Gothic" panose="020B0702020202020204" pitchFamily="34" charset="0"/>
                        </a:rPr>
                        <a:t>Forecast:</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702020202020204" pitchFamily="34" charset="0"/>
                        </a:rPr>
                        <a:t> </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Previous:</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Time (GMT):</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Release Date</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702020202020204" pitchFamily="34" charset="0"/>
                        </a:rPr>
                        <a:t>Actual</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702020202020204" pitchFamily="34" charset="0"/>
                        </a:rPr>
                        <a:t>Forecast</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dirty="0">
                          <a:solidFill>
                            <a:srgbClr val="000000"/>
                          </a:solidFill>
                          <a:effectLst/>
                          <a:latin typeface="Century Gothic" panose="020B0702020202020204" pitchFamily="34" charset="0"/>
                        </a:rPr>
                        <a:t>Previous</a:t>
                      </a: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
        <p:nvSpPr>
          <p:cNvPr id="11" name="TextBox 10"/>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[asset name 1]</a:t>
            </a:r>
            <a:endParaRPr lang="en-US" sz="2000" b="1" dirty="0">
              <a:solidFill>
                <a:srgbClr val="002060"/>
              </a:solidFill>
              <a:latin typeface="Century Gothic" panose="020B0702020202020204" pitchFamily="34" charset="0"/>
            </a:endParaRPr>
          </a:p>
        </p:txBody>
      </p:sp>
      <p:sp>
        <p:nvSpPr>
          <p:cNvPr id="9" name="TextBox 8"/>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5" name="TextBox 4"/>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[asset name 2]</a:t>
            </a:r>
            <a:endParaRPr lang="en-US" sz="2000" b="1" dirty="0">
              <a:solidFill>
                <a:srgbClr val="002060"/>
              </a:solidFill>
              <a:latin typeface="Century Gothic" panose="020B0702020202020204" pitchFamily="34" charset="0"/>
            </a:endParaRPr>
          </a:p>
        </p:txBody>
      </p:sp>
      <p:sp>
        <p:nvSpPr>
          <p:cNvPr id="9" name="TextBox 8"/>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5" name="TextBox 4"/>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743200" cy="365125"/>
          </a:xfrm>
          <a:prstGeom prst="rect">
            <a:avLst/>
          </a:prstGeom>
        </p:spPr>
        <p:txBody>
          <a:bodyPr/>
          <a:lstStyle/>
          <a:p>
            <a:fld id="{9C520731-65EA-CE43-94A5-88CA2912E5C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24CBB0-FF61-A741-B66C-72250AAD4BCF}" type="slidenum">
              <a:rPr lang="en-US" smtClean="0"/>
            </a:fld>
            <a:endParaRPr lang="en-US"/>
          </a:p>
        </p:txBody>
      </p:sp>
      <p:sp>
        <p:nvSpPr>
          <p:cNvPr id="6" name="TextBox 5"/>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6700" y="228600"/>
            <a:ext cx="11658600" cy="571500"/>
          </a:xfrm>
          <a:prstGeom prst="rect">
            <a:avLst/>
          </a:prstGeom>
        </p:spPr>
        <p:txBody>
          <a:bodyPr vert="horz" lIns="91440" tIns="45720" rIns="91440" bIns="45720" rtlCol="0" anchor="ctr">
            <a:normAutofit/>
          </a:bodyPr>
          <a:lstStyle/>
          <a:p>
            <a:r>
              <a:rPr lang="en-US" dirty="0"/>
              <a:t>Insert Text Here</a:t>
            </a:r>
            <a:endParaRPr lang="en-US" dirty="0"/>
          </a:p>
        </p:txBody>
      </p:sp>
      <p:sp>
        <p:nvSpPr>
          <p:cNvPr id="3" name="Text Placeholder 2"/>
          <p:cNvSpPr>
            <a:spLocks noGrp="1"/>
          </p:cNvSpPr>
          <p:nvPr>
            <p:ph type="body" idx="1"/>
          </p:nvPr>
        </p:nvSpPr>
        <p:spPr>
          <a:xfrm>
            <a:off x="266700" y="892098"/>
            <a:ext cx="11658600" cy="5343677"/>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latin typeface="Arial" panose="020B0704020202020204" pitchFamily="34" charset="0"/>
              </a:defRPr>
            </a:lvl1pPr>
          </a:lstStyle>
          <a:p>
            <a:endParaRPr lang="en-US" dirty="0"/>
          </a:p>
        </p:txBody>
      </p:sp>
      <p:sp>
        <p:nvSpPr>
          <p:cNvPr id="6" name="Slide Number Placeholder 5"/>
          <p:cNvSpPr>
            <a:spLocks noGrp="1"/>
          </p:cNvSpPr>
          <p:nvPr>
            <p:ph type="sldNum" sz="quarter" idx="4"/>
          </p:nvPr>
        </p:nvSpPr>
        <p:spPr>
          <a:xfrm>
            <a:off x="8839200" y="6356350"/>
            <a:ext cx="2743200" cy="365125"/>
          </a:xfrm>
          <a:prstGeom prst="rect">
            <a:avLst/>
          </a:prstGeom>
        </p:spPr>
        <p:txBody>
          <a:bodyPr vert="horz" lIns="91440" tIns="45720" rIns="91440" bIns="45720" rtlCol="0" anchor="ctr"/>
          <a:lstStyle>
            <a:lvl1pPr algn="r">
              <a:defRPr sz="1100">
                <a:solidFill>
                  <a:schemeClr val="tx1">
                    <a:tint val="75000"/>
                  </a:schemeClr>
                </a:solidFill>
                <a:latin typeface="Arial" panose="020B0704020202020204" pitchFamily="34" charset="0"/>
              </a:defRPr>
            </a:lvl1pPr>
          </a:lstStyle>
          <a:p>
            <a:fld id="{743B1F26-96D9-40A6-83AD-00943405493D}"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2800" b="1" kern="1200">
          <a:solidFill>
            <a:srgbClr val="0E1120"/>
          </a:solidFill>
          <a:latin typeface="Arial" panose="020B0704020202020204" pitchFamily="34" charset="0"/>
          <a:ea typeface="+mj-ea"/>
          <a:cs typeface="Arial" panose="020B0704020202020204" pitchFamily="34" charset="0"/>
        </a:defRPr>
      </a:lvl1pPr>
    </p:titleStyle>
    <p:bodyStyle>
      <a:lvl1pPr marL="0" indent="0" algn="l" defTabSz="914400" rtl="0" eaLnBrk="1" latinLnBrk="0" hangingPunct="1">
        <a:lnSpc>
          <a:spcPct val="90000"/>
        </a:lnSpc>
        <a:spcBef>
          <a:spcPts val="1000"/>
        </a:spcBef>
        <a:buFont typeface="Arial" panose="020B0704020202020204" pitchFamily="34" charset="0"/>
        <a:buNone/>
        <a:defRPr sz="2000" kern="1200">
          <a:solidFill>
            <a:srgbClr val="0E1120"/>
          </a:solidFill>
          <a:latin typeface="Arial" panose="020B0704020202020204" pitchFamily="34" charset="0"/>
          <a:ea typeface="+mn-ea"/>
          <a:cs typeface="+mn-cs"/>
        </a:defRPr>
      </a:lvl1pPr>
      <a:lvl2pPr marL="457200" indent="0" algn="l"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2pPr>
      <a:lvl3pPr marL="914400" indent="0" algn="l"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3pPr>
      <a:lvl4pPr marL="1371600" indent="0" algn="l" defTabSz="914400" rtl="0" eaLnBrk="1" latinLnBrk="0" hangingPunct="1">
        <a:lnSpc>
          <a:spcPct val="90000"/>
        </a:lnSpc>
        <a:spcBef>
          <a:spcPts val="500"/>
        </a:spcBef>
        <a:buFont typeface="Arial" panose="020B0704020202020204" pitchFamily="34" charset="0"/>
        <a:buNone/>
        <a:defRPr sz="1400" kern="1200">
          <a:solidFill>
            <a:srgbClr val="0E1120"/>
          </a:solidFill>
          <a:latin typeface="Arial" panose="020B0704020202020204" pitchFamily="34" charset="0"/>
          <a:ea typeface="+mn-ea"/>
          <a:cs typeface="+mn-cs"/>
        </a:defRPr>
      </a:lvl4pPr>
      <a:lvl5pPr marL="1828800" indent="0" algn="l" defTabSz="914400" rtl="0" eaLnBrk="1" latinLnBrk="0" hangingPunct="1">
        <a:lnSpc>
          <a:spcPct val="90000"/>
        </a:lnSpc>
        <a:spcBef>
          <a:spcPts val="500"/>
        </a:spcBef>
        <a:buFont typeface="Arial" panose="020B0704020202020204" pitchFamily="34" charset="0"/>
        <a:buNone/>
        <a:defRPr sz="1400" kern="1200">
          <a:solidFill>
            <a:srgbClr val="0E1120"/>
          </a:solidFill>
          <a:latin typeface="Arial" panose="020B0704020202020204" pitchFamily="34" charset="0"/>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8.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7.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hyperlink" Target="https://quantwatertech.netlify.app/blog" TargetMode="External"/><Relationship Id="rId4" Type="http://schemas.openxmlformats.org/officeDocument/2006/relationships/hyperlink" Target="https://quantwatertech.netlify.app/research" TargetMode="External"/><Relationship Id="rId3" Type="http://schemas.openxmlformats.org/officeDocument/2006/relationships/hyperlink" Target="https://github.com/pawan-pro/quantwater-tech-investments/blob/main/QuantPulse" TargetMode="External"/><Relationship Id="rId2" Type="http://schemas.openxmlformats.org/officeDocument/2006/relationships/hyperlink" Target="https://www.investing.com/brokers/firms-prop-trading/" TargetMode="External"/><Relationship Id="rId1" Type="http://schemas.openxmlformats.org/officeDocument/2006/relationships/hyperlink" Target="https://portal.my-equiti.com/sc/register/?clickid=1154892&amp;affid=C02232911" TargetMode="External"/></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58.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6059020" y="3501931"/>
            <a:ext cx="5443870" cy="220035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3300" b="0" dirty="0">
                <a:solidFill>
                  <a:schemeClr val="bg1">
                    <a:lumMod val="50000"/>
                  </a:schemeClr>
                </a:solidFill>
                <a:latin typeface="Century Gothic" panose="020B0702020202020204" pitchFamily="34" charset="0"/>
                <a:cs typeface="Century Gothic" panose="020B0702020202020204" pitchFamily="34" charset="0"/>
              </a:rPr>
              <a:t>13</a:t>
            </a:r>
            <a:r>
              <a:rPr lang="en-US" sz="3300" b="0" baseline="30000" dirty="0">
                <a:solidFill>
                  <a:schemeClr val="bg1">
                    <a:lumMod val="50000"/>
                  </a:schemeClr>
                </a:solidFill>
                <a:latin typeface="Century Gothic" panose="020B0702020202020204" pitchFamily="34" charset="0"/>
                <a:cs typeface="Century Gothic" panose="020B0702020202020204" pitchFamily="34" charset="0"/>
              </a:rPr>
              <a:t>th</a:t>
            </a:r>
            <a:r>
              <a:rPr lang="en-US" sz="3300" b="0" dirty="0">
                <a:solidFill>
                  <a:schemeClr val="bg1">
                    <a:lumMod val="50000"/>
                  </a:schemeClr>
                </a:solidFill>
                <a:latin typeface="Century Gothic" panose="020B0702020202020204" pitchFamily="34" charset="0"/>
                <a:cs typeface="Century Gothic" panose="020B0702020202020204" pitchFamily="34" charset="0"/>
              </a:rPr>
              <a:t> October 2025</a:t>
            </a:r>
            <a:endParaRPr lang="en-US" sz="3300" b="0" dirty="0">
              <a:solidFill>
                <a:schemeClr val="bg1">
                  <a:lumMod val="50000"/>
                </a:schemeClr>
              </a:solidFill>
              <a:latin typeface="Century Gothic" panose="020B0702020202020204" pitchFamily="34" charset="0"/>
              <a:cs typeface="Century Gothic" panose="020B0702020202020204" pitchFamily="34" charset="0"/>
            </a:endParaRPr>
          </a:p>
          <a:p>
            <a:endParaRPr lang="en-US" sz="3300" b="0" dirty="0">
              <a:solidFill>
                <a:schemeClr val="bg1">
                  <a:lumMod val="50000"/>
                </a:schemeClr>
              </a:solidFill>
              <a:latin typeface="Century Gothic" panose="020B0702020202020204" pitchFamily="34" charset="0"/>
              <a:cs typeface="Century Gothic" panose="020B0702020202020204" pitchFamily="34" charset="0"/>
            </a:endParaRPr>
          </a:p>
          <a:p>
            <a:r>
              <a:rPr lang="en-US" sz="3300" b="0" dirty="0">
                <a:solidFill>
                  <a:schemeClr val="bg1">
                    <a:lumMod val="50000"/>
                  </a:schemeClr>
                </a:solidFill>
                <a:latin typeface="Century Gothic" panose="020B0702020202020204" pitchFamily="34" charset="0"/>
                <a:cs typeface="Century Gothic" panose="020B0702020202020204" pitchFamily="34" charset="0"/>
              </a:rPr>
              <a:t>Economic Data Releases &amp; Their Historical Impact on Assets</a:t>
            </a:r>
            <a:endParaRPr lang="en-US" sz="3300" b="0" dirty="0">
              <a:solidFill>
                <a:schemeClr val="bg1">
                  <a:lumMod val="50000"/>
                </a:schemeClr>
              </a:solidFill>
              <a:latin typeface="Century Gothic" panose="020B0702020202020204" pitchFamily="34" charset="0"/>
              <a:cs typeface="Century Gothic" panose="020B0702020202020204" pitchFamily="34" charset="0"/>
            </a:endParaRPr>
          </a:p>
        </p:txBody>
      </p:sp>
      <p:sp>
        <p:nvSpPr>
          <p:cNvPr id="18" name="Rectangle 17"/>
          <p:cNvSpPr/>
          <p:nvPr/>
        </p:nvSpPr>
        <p:spPr>
          <a:xfrm>
            <a:off x="1606230" y="5820770"/>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702020202020204" pitchFamily="34" charset="0"/>
              </a:rPr>
              <a:t>Overview</a:t>
            </a:r>
            <a:endParaRPr lang="en-US"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8" name="Table 7"/>
          <p:cNvGraphicFramePr>
            <a:graphicFrameLocks noGrp="1"/>
          </p:cNvGraphicFramePr>
          <p:nvPr/>
        </p:nvGraphicFramePr>
        <p:xfrm>
          <a:off x="440055" y="882650"/>
          <a:ext cx="11407140" cy="5600065"/>
        </p:xfrm>
        <a:graphic>
          <a:graphicData uri="http://schemas.openxmlformats.org/drawingml/2006/table">
            <a:tbl>
              <a:tblPr>
                <a:tableStyleId>{5C22544A-7EE6-4342-B048-85BDC9FD1C3A}</a:tableStyleId>
              </a:tblPr>
              <a:tblGrid>
                <a:gridCol w="1492250"/>
                <a:gridCol w="949960"/>
                <a:gridCol w="1283335"/>
                <a:gridCol w="927100"/>
                <a:gridCol w="723900"/>
                <a:gridCol w="6030595"/>
              </a:tblGrid>
              <a:tr h="255270">
                <a:tc>
                  <a:txBody>
                    <a:bodyPr/>
                    <a:lstStyle/>
                    <a:p>
                      <a:pPr algn="ctr" fontAlgn="ctr"/>
                      <a:r>
                        <a:rPr sz="1200" b="0" i="0">
                          <a:solidFill>
                            <a:schemeClr val="tx1"/>
                          </a:solidFill>
                          <a:latin typeface="Century Gothic" panose="020B0702020202020204" pitchFamily="34" charset="0"/>
                          <a:ea typeface="Century Gothic" panose="020B0702020202020204"/>
                          <a:cs typeface="Century Gothic" panose="020B0702020202020204" pitchFamily="34" charset="0"/>
                        </a:rPr>
                        <a:t>Date</a:t>
                      </a:r>
                      <a:endParaRPr sz="12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200" b="0" i="0">
                          <a:solidFill>
                            <a:schemeClr val="tx1"/>
                          </a:solidFill>
                          <a:latin typeface="Century Gothic" panose="020B0702020202020204" pitchFamily="34" charset="0"/>
                          <a:ea typeface="Century Gothic" panose="020B0702020202020204"/>
                          <a:cs typeface="Century Gothic" panose="020B0702020202020204" pitchFamily="34" charset="0"/>
                        </a:rPr>
                        <a:t>Day</a:t>
                      </a:r>
                      <a:endParaRPr sz="12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200" b="0" i="0">
                          <a:solidFill>
                            <a:schemeClr val="tx1"/>
                          </a:solidFill>
                          <a:latin typeface="Century Gothic" panose="020B0702020202020204" pitchFamily="34" charset="0"/>
                          <a:ea typeface="Century Gothic" panose="020B0702020202020204"/>
                          <a:cs typeface="Century Gothic" panose="020B0702020202020204" pitchFamily="34" charset="0"/>
                        </a:rPr>
                        <a:t>Time (IST)</a:t>
                      </a:r>
                      <a:endParaRPr sz="12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200" b="0" i="0">
                          <a:solidFill>
                            <a:schemeClr val="tx1"/>
                          </a:solidFill>
                          <a:latin typeface="Century Gothic" panose="020B0702020202020204" pitchFamily="34" charset="0"/>
                          <a:ea typeface="Century Gothic" panose="020B0702020202020204"/>
                          <a:cs typeface="Century Gothic" panose="020B0702020202020204" pitchFamily="34" charset="0"/>
                        </a:rPr>
                        <a:t>Cur.</a:t>
                      </a:r>
                      <a:endParaRPr sz="12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200" b="0" i="0">
                          <a:solidFill>
                            <a:schemeClr val="tx1"/>
                          </a:solidFill>
                          <a:latin typeface="Century Gothic" panose="020B0702020202020204" pitchFamily="34" charset="0"/>
                          <a:ea typeface="Century Gothic" panose="020B0702020202020204"/>
                          <a:cs typeface="Century Gothic" panose="020B0702020202020204" pitchFamily="34" charset="0"/>
                        </a:rPr>
                        <a:t>Imp.</a:t>
                      </a:r>
                      <a:endParaRPr sz="12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200" b="0" i="0">
                          <a:solidFill>
                            <a:schemeClr val="tx1"/>
                          </a:solidFill>
                          <a:latin typeface="Century Gothic" panose="020B0702020202020204" pitchFamily="34" charset="0"/>
                          <a:ea typeface="Century Gothic" panose="020B0702020202020204"/>
                          <a:cs typeface="Century Gothic" panose="020B0702020202020204" pitchFamily="34" charset="0"/>
                        </a:rPr>
                        <a:t>Event</a:t>
                      </a:r>
                      <a:endParaRPr sz="12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205">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05-Oct-25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Sun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All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KRW</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South Korea - Chuseok - Thanksgiving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205">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06-Oct-25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Mon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All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CNY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China - National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205">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06-Oct-25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Mon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All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KRW</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South Korea - Chuseok - Thanksgiving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2570">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07-Oct-25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Tue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All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CNY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China - National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205">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07-Oct-25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Tue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All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KRW</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South Korea - Chuseok - Thanksgiving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840">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08-Oct-25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Wed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All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CNY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China - Mid-Autumn Festival</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2570">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08-Oct-25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Wed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All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KRW</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South Korea - Chuseok Alternative Holiday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205">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08-Oct-25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Wed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06:30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NZD</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RBNZ Interest Rate Decision</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205">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08-Oct-25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Wed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22:30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20:00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 - Crude Oil Inventories</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205">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08-Oct-25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Wed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22:30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 - 10-Year Note Auction</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205">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09-Oct-25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Thur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All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KRW</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South Korea - Hangul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2570">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09-Oct-25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Thur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All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KRW</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South Korea - Hangul Day</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840">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09-Oct-25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Thur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00:30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 - FOMC Meeting Minutes</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205">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09-Oct-25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Thur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18:00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 - Fed Chair Powell Speaks</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2570">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09-Oct-25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Thur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18:00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 - Initial Jobless Claims</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840">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09-Oct-25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Thur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22:30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 - 30-Year Bond Auction</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2570">
                <a:tc>
                  <a:txBody>
                    <a:bodyPr/>
                    <a:lstStyle/>
                    <a:p>
                      <a:pPr algn="ctr" fontAlgn="ct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10-</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Fri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18:00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 - Average Hourly Earnings (MoM) (Sep)</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205">
                <a:tc>
                  <a:txBody>
                    <a:bodyPr/>
                    <a:lstStyle/>
                    <a:p>
                      <a:pPr algn="ctr" fontAlgn="ct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10</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Fri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18:00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 - Nonfarm Payrolls (Sep)</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205">
                <a:tc>
                  <a:txBody>
                    <a:bodyPr/>
                    <a:lstStyle/>
                    <a:p>
                      <a:pPr algn="ctr" fontAlgn="ct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10</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Fri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18:00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 - Unemployment Rate (Sep)</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205">
                <a:tc>
                  <a:txBody>
                    <a:bodyPr/>
                    <a:p>
                      <a:pPr algn="ctr" fontAlgn="ct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10</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Fri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1</a:t>
                      </a: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9</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a:t>
                      </a: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fontAlgn="ctr">
                        <a:buNone/>
                      </a:pP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2</a:t>
                      </a:r>
                      <a:endParaRPr lang="en-US"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fontAlgn="ctr">
                        <a:buNone/>
                      </a:pPr>
                      <a:r>
                        <a:rPr lang="en-US" altLang="en-US" sz="1000" dirty="0">
                          <a:solidFill>
                            <a:schemeClr val="tx1"/>
                          </a:solidFill>
                          <a:latin typeface="Century Gothic" panose="020B0702020202020204" pitchFamily="34" charset="0"/>
                          <a:sym typeface="+mn-ea"/>
                        </a:rPr>
                        <a:t>USD - Michigan Consumer Sentiment (Oct) P</a:t>
                      </a:r>
                      <a:endParaRPr lang="en-US" altLang="en-US" sz="1000" b="0" i="0" dirty="0">
                        <a:solidFill>
                          <a:schemeClr val="tx1"/>
                        </a:solidFill>
                        <a:latin typeface="Century Gothic" panose="020B0702020202020204" pitchFamily="34" charset="0"/>
                        <a:ea typeface="Century Gothic" panose="020B0702020202020204"/>
                        <a:cs typeface="Century Gothic" panose="020B0702020202020204" pitchFamily="34" charset="0"/>
                        <a:sym typeface="+mn-ea"/>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205">
                <a:tc>
                  <a:txBody>
                    <a:bodyPr/>
                    <a:lstStyle/>
                    <a:p>
                      <a:pPr algn="ctr" fontAlgn="ct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2</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9-Oct-25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a:t>
                      </a: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Wed</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23</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a:t>
                      </a: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 - </a:t>
                      </a:r>
                      <a:r>
                        <a:rPr lang="en-US" alt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Fed Interest Rate Decision</a:t>
                      </a:r>
                      <a:endParaRPr lang="en-US" altLang="en-US"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38760">
                <a:tc gridSpan="6">
                  <a:txBody>
                    <a:bodyPr/>
                    <a:lstStyle/>
                    <a:p>
                      <a:pPr lvl="0" algn="ctr" fontAlgn="ctr"/>
                      <a:r>
                        <a:rPr sz="1000" b="0" i="0" u="none" strike="noStrike">
                          <a:solidFill>
                            <a:schemeClr val="tx1"/>
                          </a:solidFill>
                          <a:latin typeface="Century Gothic" panose="020B0702020202020204" pitchFamily="34" charset="0"/>
                          <a:ea typeface="Century Gothic" panose="020B0702020202020204"/>
                          <a:cs typeface="Century Gothic" panose="020B0702020202020204" pitchFamily="34" charset="0"/>
                        </a:rPr>
                        <a:t>Annexur</a:t>
                      </a:r>
                      <a:r>
                        <a:rPr lang="en-US" sz="1000" b="0" i="0" u="none" strike="noStrike">
                          <a:solidFill>
                            <a:schemeClr val="tx1"/>
                          </a:solidFill>
                          <a:latin typeface="Century Gothic" panose="020B0702020202020204" pitchFamily="34" charset="0"/>
                          <a:ea typeface="Century Gothic" panose="020B0702020202020204"/>
                          <a:cs typeface="Century Gothic" panose="020B0702020202020204" pitchFamily="34" charset="0"/>
                        </a:rPr>
                        <a:t>e: Key Terms &amp; Links </a:t>
                      </a:r>
                      <a:endParaRPr lang="en-US" sz="800" b="0" i="0" u="none" strike="noStrike" dirty="0">
                        <a:solidFill>
                          <a:srgbClr val="000000"/>
                        </a:solidFill>
                        <a:effectLs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German CPI (MoM)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German CPI (MoM) (Sep)</a:t>
            </a:r>
            <a:endParaRPr 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German CPI (MoM)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The German Consumer Price Index (CPI) measures the changes in the price of goods and services purchased by consumers.</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EUR, while a lower than expected reading should be taken as negative/bearish for the EUR.</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EURJPY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0.20%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06:00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30-Sep-25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12-Sep-25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29-Aug-25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13-Aug-25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31-Jul-25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10-Jul-25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German CPI (MoM) (Sep)</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EURJPY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710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731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813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829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912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930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German CPI (MoM) (Sep)</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Core CPI (MoM)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Core CPI (MoM) (Sep)</a:t>
            </a:r>
            <a:endParaRPr 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Core CPI (MoM)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The Core Consumer Price Index (CPI) measures the changes in the price of goods and services, excluding food and energy. The CPI measures price change from the perspective of the consumer. It is a key way to measure changes in purchasing trends and inflation.</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USDJPY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0.3%</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12:30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12-Aug-25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11-Jun-25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13-May-25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10-Apr-25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Core CPI (MoM)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USDJPY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Core CPI (MoM)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(YoY)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CPI (YoY) (Sep)</a:t>
            </a:r>
            <a:endParaRPr 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CPI (YoY)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The Consumer Price Index (CPI) measures the change in the price of goods and services from the perspective of the consumer. It is a key way to measure changes in purchasing trends and inflation.</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USDJPY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2.90%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12:30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Sep 11,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Aug 12,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2.80%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Jul 15,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2.60%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Jun 11,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May 13,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Apr 10,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2.80%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(YoY) (Sep)</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USDJPY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717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801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820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902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917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1001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highlight>
                  <a:srgbClr val="FFFF00"/>
                </a:highlight>
                <a:latin typeface="Century Gothic" panose="020B0702020202020204" pitchFamily="34" charset="0"/>
                <a:sym typeface="+mn-ea"/>
              </a:rPr>
              <a:t>CPI (YoY) (Sep)</a:t>
            </a:r>
            <a:endParaRPr lang="en-US" sz="2000" b="1" dirty="0">
              <a:solidFill>
                <a:srgbClr val="002060"/>
              </a:solidFill>
              <a:highlight>
                <a:srgbClr val="FFFF00"/>
              </a:highlight>
              <a:latin typeface="Century Gothic" panose="020B0702020202020204" pitchFamily="34" charset="0"/>
            </a:endParaRPr>
          </a:p>
          <a:p>
            <a:r>
              <a:rPr lang="en-US" sz="2000" b="1" dirty="0">
                <a:solidFill>
                  <a:srgbClr val="002060"/>
                </a:solidFill>
                <a:highlight>
                  <a:srgbClr val="FFFF00"/>
                </a:highlight>
                <a:latin typeface="Century Gothic" panose="020B0702020202020204" pitchFamily="34" charset="0"/>
              </a:rPr>
              <a:t>EURUSD</a:t>
            </a:r>
            <a:endParaRPr lang="en-US" sz="2000" b="1" dirty="0">
              <a:solidFill>
                <a:srgbClr val="002060"/>
              </a:solidFill>
              <a:highlight>
                <a:srgbClr val="FFFF00"/>
              </a:highlight>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(MoM)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CPI (MoM) (Sep)</a:t>
            </a:r>
            <a:endParaRPr 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CPI (MoM)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The Consumer Price Index (CPI) measures the change in the price of goods and services from the perspective of the consumer. It is a key way to measure changes in purchasing trends and inflation.</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USDJPY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 0.</a:t>
                      </a:r>
                      <a:r>
                        <a:rPr lang="en-US" sz="1500" b="1" i="0">
                          <a:solidFill>
                            <a:srgbClr val="000000"/>
                          </a:solidFill>
                          <a:latin typeface="Century Gothic" panose="020B0702020202020204"/>
                          <a:ea typeface="Century Gothic" panose="020B0702020202020204"/>
                        </a:rPr>
                        <a:t>4</a:t>
                      </a:r>
                      <a:r>
                        <a:rPr sz="1500" b="1" i="0">
                          <a:solidFill>
                            <a:srgbClr val="000000"/>
                          </a:solidFill>
                          <a:latin typeface="Century Gothic" panose="020B0702020202020204"/>
                          <a:ea typeface="Century Gothic" panose="020B0702020202020204"/>
                        </a:rPr>
                        <a:t>0</a:t>
                      </a:r>
                      <a:r>
                        <a:rPr lang="en-US" sz="1500" b="1" i="0">
                          <a:solidFill>
                            <a:srgbClr val="000000"/>
                          </a:solidFill>
                          <a:latin typeface="Century Gothic" panose="020B0702020202020204"/>
                          <a:ea typeface="Century Gothic" panose="020B0702020202020204"/>
                        </a:rPr>
                        <a:t>%</a:t>
                      </a:r>
                      <a:r>
                        <a:rPr sz="1500" b="1" i="0">
                          <a:solidFill>
                            <a:srgbClr val="000000"/>
                          </a:solidFill>
                          <a:latin typeface="Century Gothic" panose="020B0702020202020204"/>
                          <a:ea typeface="Century Gothic" panose="020B0702020202020204"/>
                        </a:rPr>
                        <a:t> </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12:30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12-Aug-25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11-Jun-25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13-May-25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10-Apr-25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(MoM) (Sep)</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USDJPY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(MoM) (Sep)</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GDP (MoM) (Aug)</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GDP (MoM) (Aug)</a:t>
            </a:r>
            <a:endParaRPr lang="en-US" alt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GDP (MoM) (Aug)</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Gross Domestic Product (GDP) measures the annualized change in the inflation-adjusted value of all goods and services produced by the economy. It is the broadest measure of economic activity and the primary indicator of the economy's health. A higher than expected reading should be taken as positive/bullish for the GBP, while a lower than expected reading should be taken as negative/bearish for the GBP.</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GBPJPY | GBPUSD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0.00%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06:00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12-Sep-25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14-Aug-25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12-Jun-25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15-May-25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11-Apr-25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GDP (MoM) (Aug)</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GBPJPY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411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515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612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711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814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912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GDP (MoM) (Aug)</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GBPUSD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Core Retail Sales (MoM)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Core Retail Sales (MoM) (Sep)</a:t>
            </a:r>
            <a:endParaRPr lang="en-US" alt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Core Retail Sales (MoM)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Core Retail Sales measures the change in the total value of sales at the retail level in the U.S., excluding automobiles. It is an important indicator of consumer spending and is also considered as a pace indicator for the U.S. economy.</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USDJPY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0.70%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12:30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16-Sep-25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0.80%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17-Jul-25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17-Jun-25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15-May-25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0.80%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16-Apr-25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Core Retail Sales (MoM) (Sep)</a:t>
            </a:r>
            <a:endParaRPr lang="en-US" altLang="en-US" sz="2000" dirty="0">
              <a:solidFill>
                <a:srgbClr val="002060"/>
              </a:solidFill>
              <a:latin typeface="Century Gothic" panose="020B0702020202020204" pitchFamily="34" charset="0"/>
              <a:sym typeface="+mn-ea"/>
            </a:endParaRPr>
          </a:p>
          <a:p>
            <a:r>
              <a:rPr lang="en-US" altLang="en-US" sz="2000" dirty="0">
                <a:solidFill>
                  <a:srgbClr val="002060"/>
                </a:solidFill>
                <a:latin typeface="Century Gothic" panose="020B0702020202020204" pitchFamily="34" charset="0"/>
                <a:sym typeface="+mn-ea"/>
              </a:rPr>
              <a:t>USD</a:t>
            </a:r>
            <a:r>
              <a:rPr lang="en-US" sz="2000" b="1" dirty="0">
                <a:solidFill>
                  <a:srgbClr val="002060"/>
                </a:solidFill>
                <a:latin typeface="Century Gothic" panose="020B0702020202020204" pitchFamily="34" charset="0"/>
              </a:rPr>
              <a:t>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Core Retail Sales (MoM) (Sep)</a:t>
            </a:r>
            <a:endParaRPr lang="en-US" altLang="en-US" sz="2000" dirty="0">
              <a:solidFill>
                <a:srgbClr val="002060"/>
              </a:solidFill>
              <a:latin typeface="Century Gothic" panose="020B0702020202020204" pitchFamily="34" charset="0"/>
              <a:sym typeface="+mn-ea"/>
            </a:endParaRPr>
          </a:p>
          <a:p>
            <a:r>
              <a:rPr lang="en-US" altLang="en-US" sz="2000" dirty="0">
                <a:solidFill>
                  <a:srgbClr val="002060"/>
                </a:solidFill>
                <a:latin typeface="Century Gothic" panose="020B0702020202020204" pitchFamily="34" charset="0"/>
                <a:sym typeface="+mn-ea"/>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Philadelphia Fed Manufacturing Index (Oct)</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Philadelphia Fed Manufacturing Index (Oct)</a:t>
            </a:r>
            <a:endParaRPr lang="en-US" alt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700" y="889635"/>
          <a:ext cx="11658600" cy="5862320"/>
        </p:xfrm>
        <a:graphic>
          <a:graphicData uri="http://schemas.openxmlformats.org/drawingml/2006/table">
            <a:tbl>
              <a:tblPr/>
              <a:tblGrid>
                <a:gridCol w="1550670"/>
                <a:gridCol w="1765300"/>
                <a:gridCol w="1765935"/>
                <a:gridCol w="1765300"/>
                <a:gridCol w="4811395"/>
              </a:tblGrid>
              <a:tr h="428625">
                <a:tc>
                  <a:txBody>
                    <a:bodyPr/>
                    <a:lstStyle/>
                    <a:p>
                      <a:pPr algn="l" fontAlgn="ctr"/>
                      <a:r>
                        <a:rPr sz="1500" b="1" i="0">
                          <a:solidFill>
                            <a:srgbClr val="000000"/>
                          </a:solidFill>
                          <a:highlight>
                            <a:srgbClr val="FFFF00"/>
                          </a:highlight>
                          <a:latin typeface="Century Gothic" panose="020B0702020202020204"/>
                          <a:ea typeface="Century Gothic" panose="020B0702020202020204"/>
                        </a:rPr>
                        <a:t>Event</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highlight>
                            <a:srgbClr val="FFFF00"/>
                          </a:highlight>
                          <a:latin typeface="Century Gothic" panose="020B0702020202020204"/>
                          <a:ea typeface="Century Gothic" panose="020B0702020202020204"/>
                        </a:rPr>
                        <a:t>Philadelphia Fed Manufacturing Index (Oct)</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highlight>
                            <a:srgbClr val="FFFF00"/>
                          </a:highlight>
                          <a:latin typeface="Century Gothic" panose="020B0702020202020204"/>
                          <a:ea typeface="Century Gothic" panose="020B0702020202020204"/>
                        </a:rPr>
                        <a:t>Description</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27990">
                <a:tc>
                  <a:txBody>
                    <a:bodyPr/>
                    <a:lstStyle/>
                    <a:p>
                      <a:pPr algn="l" fontAlgn="ctr"/>
                      <a:r>
                        <a:rPr sz="1500" b="1" i="0">
                          <a:solidFill>
                            <a:srgbClr val="000000"/>
                          </a:solidFill>
                          <a:highlight>
                            <a:srgbClr val="FFFF00"/>
                          </a:highlight>
                          <a:latin typeface="Century Gothic" panose="020B0702020202020204"/>
                          <a:ea typeface="Century Gothic" panose="020B0702020202020204"/>
                        </a:rPr>
                        <a:t>Actual:</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highlight>
                            <a:srgbClr val="FFFF00"/>
                          </a:highlight>
                          <a:latin typeface="Century Gothic" panose="020B0702020202020204"/>
                          <a:ea typeface="Century Gothic" panose="020B0702020202020204"/>
                        </a:rPr>
                        <a:t>The Philadelphia Federal Reserve Manufacturing Index rates the relative level of general business conditions in Philadelphia. A level above zero on the index indicates improving conditions; below indicates worsening conditions. The data is compiled from a survey of about 250 manufacturers in the Philadelphia Federal Reserve district.</a:t>
                      </a:r>
                      <a:br>
                        <a:rPr sz="1500" b="0" i="0">
                          <a:solidFill>
                            <a:srgbClr val="000000"/>
                          </a:solidFill>
                          <a:highlight>
                            <a:srgbClr val="FFFF00"/>
                          </a:highlight>
                          <a:latin typeface="Century Gothic" panose="020B0702020202020204"/>
                          <a:ea typeface="Century Gothic" panose="020B0702020202020204"/>
                        </a:rPr>
                      </a:br>
                      <a:br>
                        <a:rPr sz="1500" b="0" i="0">
                          <a:solidFill>
                            <a:srgbClr val="000000"/>
                          </a:solidFill>
                          <a:highlight>
                            <a:srgbClr val="FFFF00"/>
                          </a:highlight>
                          <a:latin typeface="Century Gothic" panose="020B0702020202020204"/>
                          <a:ea typeface="Century Gothic" panose="020B0702020202020204"/>
                        </a:rPr>
                      </a:br>
                      <a:r>
                        <a:rPr sz="1500" b="0" i="0">
                          <a:solidFill>
                            <a:srgbClr val="000000"/>
                          </a:solidFill>
                          <a:highlight>
                            <a:srgbClr val="FFFF00"/>
                          </a:highlight>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highlight>
                            <a:srgbClr val="FFFF00"/>
                          </a:highlight>
                          <a:latin typeface="Century Gothic" panose="020B0702020202020204"/>
                          <a:ea typeface="Century Gothic" panose="020B0702020202020204"/>
                        </a:rPr>
                      </a:br>
                      <a:br>
                        <a:rPr sz="1500" b="0" i="0">
                          <a:solidFill>
                            <a:srgbClr val="000000"/>
                          </a:solidFill>
                          <a:highlight>
                            <a:srgbClr val="FFFF00"/>
                          </a:highlight>
                          <a:latin typeface="Century Gothic" panose="020B0702020202020204"/>
                          <a:ea typeface="Century Gothic" panose="020B0702020202020204"/>
                        </a:rPr>
                      </a:br>
                      <a:r>
                        <a:rPr sz="1500" b="0" i="0">
                          <a:solidFill>
                            <a:srgbClr val="000000"/>
                          </a:solidFill>
                          <a:highlight>
                            <a:srgbClr val="FFFF00"/>
                          </a:highlight>
                          <a:latin typeface="Century Gothic" panose="020B0702020202020204"/>
                          <a:ea typeface="Century Gothic" panose="020B0702020202020204"/>
                        </a:rPr>
                        <a:t>Learn More: USDJPY | EURUSD</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28625">
                <a:tc>
                  <a:txBody>
                    <a:bodyPr/>
                    <a:lstStyle/>
                    <a:p>
                      <a:pPr algn="l" fontAlgn="ctr"/>
                      <a:r>
                        <a:rPr sz="1500" b="1" i="0">
                          <a:solidFill>
                            <a:srgbClr val="000000"/>
                          </a:solidFill>
                          <a:highlight>
                            <a:srgbClr val="FFFF00"/>
                          </a:highlight>
                          <a:latin typeface="Century Gothic" panose="020B0702020202020204"/>
                          <a:ea typeface="Century Gothic" panose="020B0702020202020204"/>
                        </a:rPr>
                        <a:t>Forecast:</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28625">
                <a:tc>
                  <a:txBody>
                    <a:bodyPr/>
                    <a:lstStyle/>
                    <a:p>
                      <a:pPr algn="l" fontAlgn="ctr"/>
                      <a:r>
                        <a:rPr sz="1500" b="1" i="0">
                          <a:solidFill>
                            <a:srgbClr val="000000"/>
                          </a:solidFill>
                          <a:highlight>
                            <a:srgbClr val="FFFF00"/>
                          </a:highlight>
                          <a:latin typeface="Century Gothic" panose="020B0702020202020204"/>
                          <a:ea typeface="Century Gothic" panose="020B0702020202020204"/>
                        </a:rPr>
                        <a:t>Previous:</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highlight>
                            <a:srgbClr val="FFFF00"/>
                          </a:highlight>
                          <a:latin typeface="Century Gothic" panose="020B0702020202020204"/>
                          <a:ea typeface="Century Gothic" panose="020B0702020202020204"/>
                        </a:rPr>
                        <a:t> 23.20</a:t>
                      </a:r>
                      <a:r>
                        <a:rPr sz="1500" b="1" i="0">
                          <a:solidFill>
                            <a:srgbClr val="000000"/>
                          </a:solidFill>
                          <a:highlight>
                            <a:srgbClr val="FFFF00"/>
                          </a:highlight>
                          <a:latin typeface="Century Gothic" panose="020B0702020202020204"/>
                          <a:ea typeface="Century Gothic" panose="020B0702020202020204"/>
                        </a:rPr>
                        <a:t> </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27990">
                <a:tc>
                  <a:txBody>
                    <a:bodyPr/>
                    <a:lstStyle/>
                    <a:p>
                      <a:pPr algn="l" fontAlgn="ctr"/>
                      <a:r>
                        <a:rPr sz="1500" b="1" i="0">
                          <a:solidFill>
                            <a:srgbClr val="000000"/>
                          </a:solidFill>
                          <a:highlight>
                            <a:srgbClr val="FFFF00"/>
                          </a:highlight>
                          <a:latin typeface="Century Gothic" panose="020B0702020202020204"/>
                          <a:ea typeface="Century Gothic" panose="020B0702020202020204"/>
                        </a:rPr>
                        <a:t>Time (GMT):</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highlight>
                            <a:srgbClr val="FFFF00"/>
                          </a:highlight>
                          <a:latin typeface="Century Gothic" panose="020B0702020202020204"/>
                          <a:ea typeface="Century Gothic" panose="020B0702020202020204"/>
                        </a:rPr>
                        <a:t>12:30</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28625">
                <a:tc>
                  <a:txBody>
                    <a:bodyPr/>
                    <a:lstStyle/>
                    <a:p>
                      <a:pPr algn="l" fontAlgn="ctr"/>
                      <a:r>
                        <a:rPr sz="1500" b="1" i="0">
                          <a:solidFill>
                            <a:srgbClr val="000000"/>
                          </a:solidFill>
                          <a:highlight>
                            <a:srgbClr val="FFFF00"/>
                          </a:highlight>
                          <a:latin typeface="Century Gothic" panose="020B0702020202020204"/>
                          <a:ea typeface="Century Gothic" panose="020B0702020202020204"/>
                        </a:rPr>
                        <a:t>Release Date</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highlight>
                            <a:srgbClr val="FFFF00"/>
                          </a:highlight>
                          <a:latin typeface="Century Gothic" panose="020B0702020202020204"/>
                          <a:ea typeface="Century Gothic" panose="020B0702020202020204"/>
                        </a:rPr>
                        <a:t>Actual</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highlight>
                            <a:srgbClr val="FFFF00"/>
                          </a:highlight>
                          <a:latin typeface="Century Gothic" panose="020B0702020202020204"/>
                          <a:ea typeface="Century Gothic" panose="020B0702020202020204"/>
                        </a:rPr>
                        <a:t>Forecast</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highlight>
                            <a:srgbClr val="FFFF00"/>
                          </a:highlight>
                          <a:latin typeface="Century Gothic" panose="020B0702020202020204"/>
                          <a:ea typeface="Century Gothic" panose="020B0702020202020204"/>
                        </a:rPr>
                        <a:t>Previous</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548640">
                <a:tc>
                  <a:txBody>
                    <a:bodyPr/>
                    <a:lstStyle/>
                    <a:p>
                      <a:pPr algn="l" fontAlgn="ctr"/>
                      <a:r>
                        <a:rPr sz="1500" b="1" i="0">
                          <a:solidFill>
                            <a:srgbClr val="000000"/>
                          </a:solidFill>
                          <a:highlight>
                            <a:srgbClr val="FFFF00"/>
                          </a:highlight>
                          <a:latin typeface="Century Gothic" panose="020B0702020202020204"/>
                          <a:ea typeface="Century Gothic" panose="020B0702020202020204"/>
                        </a:rPr>
                        <a:t>Sep 18, 2025 (Sep)</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23.20</a:t>
                      </a:r>
                      <a:r>
                        <a:rPr sz="1500" b="0" i="0">
                          <a:solidFill>
                            <a:srgbClr val="000000"/>
                          </a:solidFill>
                          <a:highlight>
                            <a:srgbClr val="FFFF00"/>
                          </a:highlight>
                          <a:latin typeface="Century Gothic" panose="020B0702020202020204"/>
                          <a:ea typeface="Century Gothic" panose="020B0702020202020204"/>
                        </a:rPr>
                        <a:t> </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1.70</a:t>
                      </a:r>
                      <a:r>
                        <a:rPr sz="1500" b="0" i="0">
                          <a:solidFill>
                            <a:srgbClr val="000000"/>
                          </a:solidFill>
                          <a:highlight>
                            <a:srgbClr val="FFFF00"/>
                          </a:highlight>
                          <a:latin typeface="Century Gothic" panose="020B0702020202020204"/>
                          <a:ea typeface="Century Gothic" panose="020B0702020202020204"/>
                        </a:rPr>
                        <a:t> </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a:t>
                      </a:r>
                      <a:r>
                        <a:rPr sz="1500" b="0" i="0">
                          <a:solidFill>
                            <a:srgbClr val="000000"/>
                          </a:solidFill>
                          <a:highlight>
                            <a:srgbClr val="FFFF00"/>
                          </a:highlight>
                          <a:latin typeface="Century Gothic" panose="020B0702020202020204"/>
                          <a:ea typeface="Century Gothic" panose="020B0702020202020204"/>
                        </a:rPr>
                        <a:t>(0.30)</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548640">
                <a:tc>
                  <a:txBody>
                    <a:bodyPr/>
                    <a:lstStyle/>
                    <a:p>
                      <a:pPr algn="l" fontAlgn="ctr"/>
                      <a:r>
                        <a:rPr sz="1500" b="1" i="0">
                          <a:solidFill>
                            <a:srgbClr val="000000"/>
                          </a:solidFill>
                          <a:highlight>
                            <a:srgbClr val="FFFF00"/>
                          </a:highlight>
                          <a:latin typeface="Century Gothic" panose="020B0702020202020204"/>
                          <a:ea typeface="Century Gothic" panose="020B0702020202020204"/>
                        </a:rPr>
                        <a:t>Aug 21, 2025 (Aug)</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a:t>
                      </a:r>
                      <a:r>
                        <a:rPr sz="1500" b="0" i="0">
                          <a:solidFill>
                            <a:srgbClr val="000000"/>
                          </a:solidFill>
                          <a:highlight>
                            <a:srgbClr val="FFFF00"/>
                          </a:highlight>
                          <a:latin typeface="Century Gothic" panose="020B0702020202020204"/>
                          <a:ea typeface="Century Gothic" panose="020B0702020202020204"/>
                        </a:rPr>
                        <a:t>(0.30)</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6.80</a:t>
                      </a:r>
                      <a:r>
                        <a:rPr sz="1500" b="0" i="0">
                          <a:solidFill>
                            <a:srgbClr val="000000"/>
                          </a:solidFill>
                          <a:highlight>
                            <a:srgbClr val="FFFF00"/>
                          </a:highlight>
                          <a:latin typeface="Century Gothic" panose="020B0702020202020204"/>
                          <a:ea typeface="Century Gothic" panose="020B0702020202020204"/>
                        </a:rPr>
                        <a:t> </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15.90</a:t>
                      </a:r>
                      <a:r>
                        <a:rPr sz="1500" b="0" i="0">
                          <a:solidFill>
                            <a:srgbClr val="000000"/>
                          </a:solidFill>
                          <a:highlight>
                            <a:srgbClr val="FFFF00"/>
                          </a:highlight>
                          <a:latin typeface="Century Gothic" panose="020B0702020202020204"/>
                          <a:ea typeface="Century Gothic" panose="020B0702020202020204"/>
                        </a:rPr>
                        <a:t> </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548640">
                <a:tc>
                  <a:txBody>
                    <a:bodyPr/>
                    <a:lstStyle/>
                    <a:p>
                      <a:pPr algn="l" fontAlgn="ctr"/>
                      <a:r>
                        <a:rPr sz="1500" b="1" i="0">
                          <a:solidFill>
                            <a:srgbClr val="000000"/>
                          </a:solidFill>
                          <a:highlight>
                            <a:srgbClr val="FFFF00"/>
                          </a:highlight>
                          <a:latin typeface="Century Gothic" panose="020B0702020202020204"/>
                          <a:ea typeface="Century Gothic" panose="020B0702020202020204"/>
                        </a:rPr>
                        <a:t>Jul 17, 2025 (Jul)</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15.90</a:t>
                      </a:r>
                      <a:r>
                        <a:rPr sz="1500" b="0" i="0">
                          <a:solidFill>
                            <a:srgbClr val="000000"/>
                          </a:solidFill>
                          <a:highlight>
                            <a:srgbClr val="FFFF00"/>
                          </a:highlight>
                          <a:latin typeface="Century Gothic" panose="020B0702020202020204"/>
                          <a:ea typeface="Century Gothic" panose="020B0702020202020204"/>
                        </a:rPr>
                        <a:t> </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a:t>
                      </a:r>
                      <a:r>
                        <a:rPr sz="1500" b="0" i="0">
                          <a:solidFill>
                            <a:srgbClr val="000000"/>
                          </a:solidFill>
                          <a:highlight>
                            <a:srgbClr val="FFFF00"/>
                          </a:highlight>
                          <a:latin typeface="Century Gothic" panose="020B0702020202020204"/>
                          <a:ea typeface="Century Gothic" panose="020B0702020202020204"/>
                        </a:rPr>
                        <a:t>(1.20)</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a:t>
                      </a:r>
                      <a:r>
                        <a:rPr sz="1500" b="0" i="0">
                          <a:solidFill>
                            <a:srgbClr val="000000"/>
                          </a:solidFill>
                          <a:highlight>
                            <a:srgbClr val="FFFF00"/>
                          </a:highlight>
                          <a:latin typeface="Century Gothic" panose="020B0702020202020204"/>
                          <a:ea typeface="Century Gothic" panose="020B0702020202020204"/>
                        </a:rPr>
                        <a:t>(4.00)</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548640">
                <a:tc>
                  <a:txBody>
                    <a:bodyPr/>
                    <a:lstStyle/>
                    <a:p>
                      <a:pPr algn="l" fontAlgn="ctr"/>
                      <a:r>
                        <a:rPr sz="1500" b="1" i="0">
                          <a:solidFill>
                            <a:srgbClr val="000000"/>
                          </a:solidFill>
                          <a:highlight>
                            <a:srgbClr val="FFFF00"/>
                          </a:highlight>
                          <a:latin typeface="Century Gothic" panose="020B0702020202020204"/>
                          <a:ea typeface="Century Gothic" panose="020B0702020202020204"/>
                        </a:rPr>
                        <a:t>Jun 20, 2025 (Jun)</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a:t>
                      </a:r>
                      <a:r>
                        <a:rPr sz="1500" b="0" i="0">
                          <a:solidFill>
                            <a:srgbClr val="000000"/>
                          </a:solidFill>
                          <a:highlight>
                            <a:srgbClr val="FFFF00"/>
                          </a:highlight>
                          <a:latin typeface="Century Gothic" panose="020B0702020202020204"/>
                          <a:ea typeface="Century Gothic" panose="020B0702020202020204"/>
                        </a:rPr>
                        <a:t>(4.00)</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a:t>
                      </a:r>
                      <a:r>
                        <a:rPr sz="1500" b="0" i="0">
                          <a:solidFill>
                            <a:srgbClr val="000000"/>
                          </a:solidFill>
                          <a:highlight>
                            <a:srgbClr val="FFFF00"/>
                          </a:highlight>
                          <a:latin typeface="Century Gothic" panose="020B0702020202020204"/>
                          <a:ea typeface="Century Gothic" panose="020B0702020202020204"/>
                        </a:rPr>
                        <a:t>(1.70)</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a:t>
                      </a:r>
                      <a:r>
                        <a:rPr sz="1500" b="0" i="0">
                          <a:solidFill>
                            <a:srgbClr val="000000"/>
                          </a:solidFill>
                          <a:highlight>
                            <a:srgbClr val="FFFF00"/>
                          </a:highlight>
                          <a:latin typeface="Century Gothic" panose="020B0702020202020204"/>
                          <a:ea typeface="Century Gothic" panose="020B0702020202020204"/>
                        </a:rPr>
                        <a:t>(4.00)</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548640">
                <a:tc>
                  <a:txBody>
                    <a:bodyPr/>
                    <a:lstStyle/>
                    <a:p>
                      <a:pPr algn="l" fontAlgn="ctr"/>
                      <a:r>
                        <a:rPr sz="1500" b="1" i="0">
                          <a:solidFill>
                            <a:srgbClr val="000000"/>
                          </a:solidFill>
                          <a:highlight>
                            <a:srgbClr val="FFFF00"/>
                          </a:highlight>
                          <a:latin typeface="Century Gothic" panose="020B0702020202020204"/>
                          <a:ea typeface="Century Gothic" panose="020B0702020202020204"/>
                        </a:rPr>
                        <a:t>May 15, 2025 (May)</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a:t>
                      </a:r>
                      <a:r>
                        <a:rPr sz="1500" b="0" i="0">
                          <a:solidFill>
                            <a:srgbClr val="000000"/>
                          </a:solidFill>
                          <a:highlight>
                            <a:srgbClr val="FFFF00"/>
                          </a:highlight>
                          <a:latin typeface="Century Gothic" panose="020B0702020202020204"/>
                          <a:ea typeface="Century Gothic" panose="020B0702020202020204"/>
                        </a:rPr>
                        <a:t>(4.00)</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a:t>
                      </a:r>
                      <a:r>
                        <a:rPr sz="1500" b="0" i="0">
                          <a:solidFill>
                            <a:srgbClr val="000000"/>
                          </a:solidFill>
                          <a:highlight>
                            <a:srgbClr val="FFFF00"/>
                          </a:highlight>
                          <a:latin typeface="Century Gothic" panose="020B0702020202020204"/>
                          <a:ea typeface="Century Gothic" panose="020B0702020202020204"/>
                        </a:rPr>
                        <a:t>(11.30)</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a:t>
                      </a:r>
                      <a:r>
                        <a:rPr sz="1500" b="0" i="0">
                          <a:solidFill>
                            <a:srgbClr val="000000"/>
                          </a:solidFill>
                          <a:highlight>
                            <a:srgbClr val="FFFF00"/>
                          </a:highlight>
                          <a:latin typeface="Century Gothic" panose="020B0702020202020204"/>
                          <a:ea typeface="Century Gothic" panose="020B0702020202020204"/>
                        </a:rPr>
                        <a:t>(26.40)</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548640">
                <a:tc>
                  <a:txBody>
                    <a:bodyPr/>
                    <a:lstStyle/>
                    <a:p>
                      <a:pPr algn="l" fontAlgn="ctr"/>
                      <a:r>
                        <a:rPr sz="1500" b="1" i="0">
                          <a:solidFill>
                            <a:srgbClr val="000000"/>
                          </a:solidFill>
                          <a:highlight>
                            <a:srgbClr val="FFFF00"/>
                          </a:highlight>
                          <a:latin typeface="Century Gothic" panose="020B0702020202020204"/>
                          <a:ea typeface="Century Gothic" panose="020B0702020202020204"/>
                        </a:rPr>
                        <a:t>Apr 17, 2025 (Apr)</a:t>
                      </a:r>
                      <a:endParaRPr sz="1500" b="1"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a:t>
                      </a:r>
                      <a:r>
                        <a:rPr sz="1500" b="0" i="0">
                          <a:solidFill>
                            <a:srgbClr val="000000"/>
                          </a:solidFill>
                          <a:highlight>
                            <a:srgbClr val="FFFF00"/>
                          </a:highlight>
                          <a:latin typeface="Century Gothic" panose="020B0702020202020204"/>
                          <a:ea typeface="Century Gothic" panose="020B0702020202020204"/>
                        </a:rPr>
                        <a:t>(26.40)</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2.20</a:t>
                      </a:r>
                      <a:r>
                        <a:rPr sz="1500" b="0" i="0">
                          <a:solidFill>
                            <a:srgbClr val="000000"/>
                          </a:solidFill>
                          <a:highlight>
                            <a:srgbClr val="FFFF00"/>
                          </a:highlight>
                          <a:latin typeface="Century Gothic" panose="020B0702020202020204"/>
                          <a:ea typeface="Century Gothic" panose="020B0702020202020204"/>
                        </a:rPr>
                        <a:t> </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highlight>
                            <a:srgbClr val="FFFF00"/>
                          </a:highlight>
                          <a:latin typeface="Century Gothic" panose="020B0702020202020204"/>
                          <a:ea typeface="Century Gothic" panose="020B0702020202020204"/>
                        </a:rPr>
                        <a:t> 12.50</a:t>
                      </a:r>
                      <a:r>
                        <a:rPr sz="1500" b="0" i="0">
                          <a:solidFill>
                            <a:srgbClr val="000000"/>
                          </a:solidFill>
                          <a:highlight>
                            <a:srgbClr val="FFFF00"/>
                          </a:highlight>
                          <a:latin typeface="Century Gothic" panose="020B0702020202020204"/>
                          <a:ea typeface="Century Gothic" panose="020B0702020202020204"/>
                        </a:rPr>
                        <a:t> </a:t>
                      </a:r>
                      <a:endParaRPr sz="1500" b="0" i="0">
                        <a:solidFill>
                          <a:srgbClr val="000000"/>
                        </a:solidFill>
                        <a:highlight>
                          <a:srgbClr val="FFFF00"/>
                        </a:highlight>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Philadelphia Fed Manufacturing Index (Oct)</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USDJPY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Philadelphia Fed Manufacturing Index (Oct)</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PPI (MoM)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PPI (MoM) (Sep)</a:t>
            </a:r>
            <a:endParaRPr lang="en-US" alt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PPI (MoM)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The Producer Price Index (PPI) measures the change in the price of goods sold by manufacturers. It is a leading indicator of consumer price inflation, which accounts for the majority of overall inflation.</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USDJPY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-0.10%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12:30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10-Sep-25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0.7%</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14-Aug-25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0.9%</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16-Jul-25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12-Jun-25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15-May-25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11-Apr-25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PPI (MoM)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USDJPY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4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PPI (MoM)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Retail Sales (MoM)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Retail Sales (MoM) (Sep)</a:t>
            </a:r>
            <a:endParaRPr lang="en-US" alt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Retail Sales (MoM)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Retail Sales measure the change in the total value of sales at the retail level. It is the foremost indicator of consumer spending, which accounts for the majority of overall economic activity.</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USDJPY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0.60%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12:30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16-Sep-25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0.60%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0.60%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0.60%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17-Jul-25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0.60%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17-Jun-25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15-May-25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1.70%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16-Apr-25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1.40%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1.30%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Retail Sales (MoM)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USDJPY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Retail Sales (MoM)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(YoY)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CPI (YoY) (Sep)</a:t>
            </a:r>
            <a:endParaRPr lang="en-US" alt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CPI (YoY)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The Consumer Price Index (CPI) measures the change in the price of goods and services from the perspective of the consumer. It is a key way to measure changes in purchasing trends and inflation.</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EUR, while a lower than expected reading should be taken as negative/bearish for the EUR.</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EURJPY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2.20%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09:00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01-Oct-25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17-Sep-25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02-Sep-25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20-Aug-25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01-Aug-25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1.90%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17-Jul-25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1.90%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(YoY)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USDJPY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(YoY)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702020202020204" pitchFamily="34" charset="0"/>
              </a:rPr>
              <a:t>Important Information</a:t>
            </a:r>
            <a:endParaRPr lang="en-US"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sp>
        <p:nvSpPr>
          <p:cNvPr id="2" name="TextBox 1"/>
          <p:cNvSpPr txBox="1"/>
          <p:nvPr/>
        </p:nvSpPr>
        <p:spPr>
          <a:xfrm>
            <a:off x="738730" y="1563002"/>
            <a:ext cx="10206773" cy="2584450"/>
          </a:xfrm>
          <a:prstGeom prst="rect">
            <a:avLst/>
          </a:prstGeom>
          <a:noFill/>
        </p:spPr>
        <p:txBody>
          <a:bodyPr wrap="square">
            <a:spAutoFit/>
          </a:bodyPr>
          <a:lstStyle/>
          <a:p>
            <a:pPr algn="just"/>
            <a:endParaRPr lang="en-US" sz="900" dirty="0">
              <a:latin typeface="Century Gothic" panose="020B0702020202020204" pitchFamily="34" charset="0"/>
            </a:endParaRPr>
          </a:p>
          <a:p>
            <a:pPr algn="just"/>
            <a:r>
              <a:rPr lang="en-US" sz="900" b="1" dirty="0">
                <a:latin typeface="Century Gothic" panose="020B0702020202020204" pitchFamily="34" charset="0"/>
              </a:rPr>
              <a:t>Quantwater Tech Investments</a:t>
            </a:r>
            <a:endParaRPr lang="en-US" sz="900" b="1" dirty="0">
              <a:latin typeface="Century Gothic" panose="020B0702020202020204" pitchFamily="34" charset="0"/>
            </a:endParaRPr>
          </a:p>
          <a:p>
            <a:pPr algn="just"/>
            <a:r>
              <a:rPr lang="en-US" sz="900" b="1" dirty="0">
                <a:latin typeface="Century Gothic" panose="020B0702020202020204" pitchFamily="34" charset="0"/>
              </a:rPr>
              <a:t>Data Release Deck – 06</a:t>
            </a:r>
            <a:r>
              <a:rPr lang="en-US" sz="900" b="1" baseline="30000" dirty="0">
                <a:latin typeface="Century Gothic" panose="020B0702020202020204" pitchFamily="34" charset="0"/>
              </a:rPr>
              <a:t>th</a:t>
            </a:r>
            <a:r>
              <a:rPr lang="en-US" sz="900" b="1" dirty="0">
                <a:latin typeface="Century Gothic" panose="020B0702020202020204" pitchFamily="34" charset="0"/>
              </a:rPr>
              <a:t> October 2025</a:t>
            </a:r>
            <a:endParaRPr lang="en-US" sz="900" b="1" dirty="0">
              <a:latin typeface="Century Gothic" panose="020B0702020202020204" pitchFamily="34" charset="0"/>
            </a:endParaRPr>
          </a:p>
          <a:p>
            <a:pPr algn="just"/>
            <a:endParaRPr lang="en-US" sz="900" dirty="0">
              <a:latin typeface="Century Gothic" panose="020B0702020202020204" pitchFamily="34" charset="0"/>
            </a:endParaRPr>
          </a:p>
          <a:p>
            <a:pPr algn="just"/>
            <a:r>
              <a:rPr lang="en-US" sz="900" dirty="0">
                <a:latin typeface="Century Gothic" panose="020B0702020202020204" pitchFamily="34" charset="0"/>
              </a:rPr>
              <a:t>This document is for informational purposes only and does not constitute investment advice, an offer, or a solicitation to buy or sell any securities or financial instruments.</a:t>
            </a:r>
            <a:endParaRPr lang="en-US" sz="900" dirty="0">
              <a:latin typeface="Century Gothic" panose="020B0702020202020204" pitchFamily="34" charset="0"/>
            </a:endParaRPr>
          </a:p>
          <a:p>
            <a:pPr algn="just"/>
            <a:br>
              <a:rPr lang="en-US" sz="900" dirty="0">
                <a:latin typeface="Century Gothic" panose="020B0702020202020204" pitchFamily="34" charset="0"/>
              </a:rPr>
            </a:br>
            <a:endParaRPr lang="en-US" sz="900" dirty="0">
              <a:latin typeface="Century Gothic" panose="020B0702020202020204" pitchFamily="34" charset="0"/>
            </a:endParaRPr>
          </a:p>
          <a:p>
            <a:pPr algn="just"/>
            <a:r>
              <a:rPr lang="en-US" sz="900" dirty="0">
                <a:latin typeface="Century Gothic" panose="020B0702020202020204" pitchFamily="34" charset="0"/>
              </a:rPr>
              <a:t>Past performance is not indicative of future results. Investments involve inherent risks, including the possible loss of principal. No representation or warranty, express or implied, is made regarding the accuracy, completeness, or reliability of the information contained herein.</a:t>
            </a:r>
            <a:endParaRPr lang="en-US" sz="900" dirty="0">
              <a:latin typeface="Century Gothic" panose="020B0702020202020204" pitchFamily="34" charset="0"/>
            </a:endParaRPr>
          </a:p>
          <a:p>
            <a:pPr algn="just"/>
            <a:br>
              <a:rPr lang="en-US" sz="900" dirty="0">
                <a:latin typeface="Century Gothic" panose="020B0702020202020204" pitchFamily="34" charset="0"/>
              </a:rPr>
            </a:br>
            <a:endParaRPr lang="en-US" sz="900" dirty="0">
              <a:latin typeface="Century Gothic" panose="020B0702020202020204" pitchFamily="34" charset="0"/>
            </a:endParaRPr>
          </a:p>
          <a:p>
            <a:pPr algn="just"/>
            <a:r>
              <a:rPr lang="en-US" sz="900" dirty="0">
                <a:latin typeface="Century Gothic" panose="020B0702020202020204" pitchFamily="34" charset="0"/>
              </a:rPr>
              <a:t>The information in this presentation is derived from publicly available sources and internal analysis as of the date indicated and is subject to change without notice. Quantwater Tech Investments and its affiliates do not undertake any obligation to update or revise this material.</a:t>
            </a:r>
            <a:endParaRPr lang="en-US" sz="900" dirty="0">
              <a:latin typeface="Century Gothic" panose="020B0702020202020204" pitchFamily="34" charset="0"/>
            </a:endParaRPr>
          </a:p>
          <a:p>
            <a:pPr algn="just"/>
            <a:br>
              <a:rPr lang="en-US" sz="900" dirty="0">
                <a:latin typeface="Century Gothic" panose="020B0702020202020204" pitchFamily="34" charset="0"/>
              </a:rPr>
            </a:br>
            <a:endParaRPr lang="en-US" sz="900" dirty="0">
              <a:latin typeface="Century Gothic" panose="020B0702020202020204" pitchFamily="34" charset="0"/>
            </a:endParaRPr>
          </a:p>
          <a:p>
            <a:pPr algn="just"/>
            <a:r>
              <a:rPr lang="en-US" sz="900" dirty="0">
                <a:latin typeface="Century Gothic" panose="020B0702020202020204" pitchFamily="34" charset="0"/>
              </a:rPr>
              <a:t>Neither Quantwater Tech Investments nor any of its affiliates, officers, or employees shall be liable for any direct or indirect losses arising from the use of this information. Any misrepresentation is strictly prohibited.</a:t>
            </a:r>
            <a:endParaRPr lang="en-US" sz="900" dirty="0">
              <a:latin typeface="Century Gothic" panose="020B0702020202020204" pitchFamily="34" charset="0"/>
            </a:endParaRPr>
          </a:p>
          <a:p>
            <a:pPr algn="just"/>
            <a:endParaRPr lang="en-US" sz="900" dirty="0">
              <a:latin typeface="Century Gothic" panose="020B0702020202020204"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702020202020204" pitchFamily="34" charset="0"/>
              </a:rPr>
              <a:t>Key Economic &amp; Analytical Concepts</a:t>
            </a:r>
            <a:endParaRPr lang="en-US" b="1" dirty="0">
              <a:solidFill>
                <a:srgbClr val="002060"/>
              </a:solidFill>
              <a:latin typeface="Century Gothic" panose="020B0702020202020204" pitchFamily="34" charset="0"/>
            </a:endParaRPr>
          </a:p>
        </p:txBody>
      </p:sp>
      <p:sp>
        <p:nvSpPr>
          <p:cNvPr id="3" name="Rectangle 2"/>
          <p:cNvSpPr/>
          <p:nvPr/>
        </p:nvSpPr>
        <p:spPr>
          <a:xfrm>
            <a:off x="307644" y="6246208"/>
            <a:ext cx="11407299"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b="1" dirty="0">
                <a:solidFill>
                  <a:schemeClr val="accent1"/>
                </a:solidFill>
                <a:latin typeface="Century Gothic" panose="020B0702020202020204" pitchFamily="34" charset="0"/>
              </a:rPr>
              <a:t>[]</a:t>
            </a:r>
            <a:endParaRPr lang="en-US" sz="700" b="1" dirty="0">
              <a:solidFill>
                <a:schemeClr val="accent1"/>
              </a:solidFill>
              <a:latin typeface="Century Gothic" panose="020B0702020202020204" pitchFamily="34" charset="0"/>
            </a:endParaRPr>
          </a:p>
        </p:txBody>
      </p:sp>
      <p:sp>
        <p:nvSpPr>
          <p:cNvPr id="2" name="Rectangle 1"/>
          <p:cNvSpPr/>
          <p:nvPr/>
        </p:nvSpPr>
        <p:spPr>
          <a:xfrm>
            <a:off x="439940" y="1604696"/>
            <a:ext cx="5340375" cy="513471"/>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704020202020204" pitchFamily="34" charset="0"/>
              <a:buChar char="•"/>
            </a:pPr>
            <a:r>
              <a:rPr lang="en-US" sz="800" b="1" i="0" u="none" strike="noStrike" dirty="0">
                <a:solidFill>
                  <a:srgbClr val="002060"/>
                </a:solidFill>
                <a:effectLst/>
                <a:latin typeface="Century Gothic" panose="020B0702020202020204" pitchFamily="34" charset="0"/>
              </a:rPr>
              <a:t>Forecast Vs. Actual</a:t>
            </a:r>
            <a:r>
              <a:rPr lang="en-US" sz="800" b="0" i="0" u="none" strike="noStrike" dirty="0">
                <a:solidFill>
                  <a:srgbClr val="002060"/>
                </a:solidFill>
                <a:effectLst/>
                <a:latin typeface="Century Gothic" panose="020B0702020202020204" pitchFamily="34" charset="0"/>
              </a:rPr>
              <a:t>: Comparing predicted values with released data</a:t>
            </a:r>
            <a:endParaRPr lang="en-US" sz="800" b="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rPr>
              <a:t>Previous Reading: </a:t>
            </a:r>
            <a:r>
              <a:rPr lang="en-US" sz="800" dirty="0">
                <a:solidFill>
                  <a:srgbClr val="002060"/>
                </a:solidFill>
                <a:latin typeface="Century Gothic" panose="020B0702020202020204" pitchFamily="34" charset="0"/>
              </a:rPr>
              <a:t>Last reported value, used as a benchmark</a:t>
            </a:r>
            <a:endParaRPr lang="en-US" sz="800" dirty="0">
              <a:solidFill>
                <a:srgbClr val="002060"/>
              </a:solidFill>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rPr>
              <a:t>Market Impact</a:t>
            </a:r>
            <a:r>
              <a:rPr lang="en-US" sz="800" dirty="0">
                <a:solidFill>
                  <a:srgbClr val="002060"/>
                </a:solidFill>
                <a:latin typeface="Century Gothic" panose="020B0702020202020204" pitchFamily="34" charset="0"/>
              </a:rPr>
              <a:t>: How releases affect financial markets </a:t>
            </a:r>
            <a:endParaRPr lang="en-US" sz="800" b="1" i="0" u="none" strike="noStrike" dirty="0">
              <a:solidFill>
                <a:srgbClr val="002060"/>
              </a:solidFill>
              <a:effectLst/>
              <a:latin typeface="Century Gothic" panose="020B0702020202020204" pitchFamily="34" charset="0"/>
            </a:endParaRPr>
          </a:p>
        </p:txBody>
      </p:sp>
      <p:sp>
        <p:nvSpPr>
          <p:cNvPr id="6" name="Rectangle 5"/>
          <p:cNvSpPr/>
          <p:nvPr/>
        </p:nvSpPr>
        <p:spPr>
          <a:xfrm>
            <a:off x="439939" y="103750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702020202020204" pitchFamily="34" charset="0"/>
              </a:rPr>
              <a:t>Economic Data Interpretation</a:t>
            </a:r>
            <a:endParaRPr lang="en-US" sz="1000" b="1" dirty="0">
              <a:solidFill>
                <a:srgbClr val="002060"/>
              </a:solidFill>
              <a:latin typeface="Century Gothic" panose="020B0702020202020204" pitchFamily="34" charset="0"/>
            </a:endParaRPr>
          </a:p>
        </p:txBody>
      </p:sp>
      <p:sp>
        <p:nvSpPr>
          <p:cNvPr id="7" name="Rectangle 6"/>
          <p:cNvSpPr/>
          <p:nvPr/>
        </p:nvSpPr>
        <p:spPr>
          <a:xfrm>
            <a:off x="439938" y="2996211"/>
            <a:ext cx="5340377" cy="1962927"/>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704020202020204" pitchFamily="34" charset="0"/>
              <a:buChar char="•"/>
            </a:pPr>
            <a:r>
              <a:rPr lang="en-US" sz="800" b="1" i="0" u="none" strike="noStrike" dirty="0">
                <a:solidFill>
                  <a:srgbClr val="002060"/>
                </a:solidFill>
                <a:effectLst/>
                <a:latin typeface="Century Gothic" panose="020B0702020202020204" pitchFamily="34" charset="0"/>
              </a:rPr>
              <a:t>Definition</a:t>
            </a:r>
            <a:r>
              <a:rPr lang="en-US" sz="800" i="0" u="none" strike="noStrike" dirty="0">
                <a:solidFill>
                  <a:srgbClr val="002060"/>
                </a:solidFill>
                <a:effectLst/>
                <a:latin typeface="Century Gothic" panose="020B0702020202020204" pitchFamily="34" charset="0"/>
              </a:rPr>
              <a:t>: A technical indicator that measures market volatility</a:t>
            </a: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rPr>
              <a:t>Calculations</a:t>
            </a:r>
            <a:r>
              <a:rPr lang="en-US" sz="800" dirty="0">
                <a:solidFill>
                  <a:srgbClr val="002060"/>
                </a:solidFill>
                <a:latin typeface="Century Gothic" panose="020B0702020202020204" pitchFamily="34" charset="0"/>
              </a:rPr>
              <a:t>:</a:t>
            </a:r>
            <a:endParaRPr lang="en-US" sz="800" dirty="0">
              <a:solidFill>
                <a:srgbClr val="002060"/>
              </a:solidFill>
              <a:latin typeface="Century Gothic" panose="020B0702020202020204" pitchFamily="34" charset="0"/>
            </a:endParaRPr>
          </a:p>
          <a:p>
            <a:pPr marL="628650" lvl="1" indent="-171450">
              <a:buFont typeface="Arial" panose="020B0704020202020204" pitchFamily="34" charset="0"/>
              <a:buChar char="•"/>
            </a:pPr>
            <a:r>
              <a:rPr lang="en-US" sz="800" i="0" u="none" strike="noStrike" dirty="0">
                <a:solidFill>
                  <a:srgbClr val="002060"/>
                </a:solidFill>
                <a:effectLst/>
                <a:latin typeface="Century Gothic" panose="020B0702020202020204" pitchFamily="34" charset="0"/>
              </a:rPr>
              <a:t>Calculate True Range (TR) for each period:</a:t>
            </a:r>
            <a:endParaRPr lang="en-US" sz="800" i="0" u="none" strike="noStrike" dirty="0">
              <a:solidFill>
                <a:srgbClr val="002060"/>
              </a:solidFill>
              <a:effectLst/>
              <a:latin typeface="Century Gothic" panose="020B0702020202020204" pitchFamily="34" charset="0"/>
            </a:endParaRPr>
          </a:p>
          <a:p>
            <a:pPr marL="1085850" lvl="2" indent="-171450">
              <a:buFont typeface="Arial" panose="020B0704020202020204" pitchFamily="34" charset="0"/>
              <a:buChar char="•"/>
            </a:pPr>
            <a:r>
              <a:rPr lang="en-US" sz="800" dirty="0">
                <a:solidFill>
                  <a:srgbClr val="002060"/>
                </a:solidFill>
                <a:latin typeface="Century Gothic" panose="020B0702020202020204" pitchFamily="34" charset="0"/>
              </a:rPr>
              <a:t>TR = max [(high - low), abs(high – previous close), abs(low – previous close)]</a:t>
            </a:r>
            <a:endParaRPr lang="en-US" sz="800" dirty="0">
              <a:solidFill>
                <a:srgbClr val="002060"/>
              </a:solidFill>
              <a:latin typeface="Century Gothic" panose="020B0702020202020204" pitchFamily="34" charset="0"/>
            </a:endParaRPr>
          </a:p>
          <a:p>
            <a:pPr marL="628650" lvl="1" indent="-171450">
              <a:buFont typeface="Arial" panose="020B0704020202020204" pitchFamily="34" charset="0"/>
              <a:buChar char="•"/>
            </a:pPr>
            <a:r>
              <a:rPr lang="en-US" sz="800" i="0" u="none" strike="noStrike" dirty="0">
                <a:solidFill>
                  <a:srgbClr val="002060"/>
                </a:solidFill>
                <a:effectLst/>
                <a:latin typeface="Century Gothic" panose="020B0702020202020204" pitchFamily="34" charset="0"/>
              </a:rPr>
              <a:t>ATR = Simple moving average of TR over N periods (typically 14)</a:t>
            </a: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i="0" u="none" strike="noStrike" dirty="0">
                <a:solidFill>
                  <a:srgbClr val="002060"/>
                </a:solidFill>
                <a:effectLst/>
                <a:latin typeface="Century Gothic" panose="020B0702020202020204" pitchFamily="34" charset="0"/>
              </a:rPr>
              <a:t>Interpretation</a:t>
            </a:r>
            <a:r>
              <a:rPr lang="en-US" sz="800" i="0" u="none" strike="noStrike" dirty="0">
                <a:solidFill>
                  <a:srgbClr val="002060"/>
                </a:solidFill>
                <a:effectLst/>
                <a:latin typeface="Century Gothic" panose="020B0702020202020204" pitchFamily="34" charset="0"/>
              </a:rPr>
              <a:t>:</a:t>
            </a:r>
            <a:endParaRPr lang="en-US" sz="800" i="0" u="none" strike="noStrike" dirty="0">
              <a:solidFill>
                <a:srgbClr val="002060"/>
              </a:solidFill>
              <a:effectLst/>
              <a:latin typeface="Century Gothic" panose="020B0702020202020204" pitchFamily="34" charset="0"/>
            </a:endParaRPr>
          </a:p>
          <a:p>
            <a:pPr marL="628650" lvl="1" indent="-171450">
              <a:buFont typeface="Arial" panose="020B0704020202020204" pitchFamily="34" charset="0"/>
              <a:buChar char="•"/>
            </a:pPr>
            <a:r>
              <a:rPr lang="en-US" sz="800" dirty="0">
                <a:solidFill>
                  <a:srgbClr val="002060"/>
                </a:solidFill>
                <a:latin typeface="Century Gothic" panose="020B0702020202020204" pitchFamily="34" charset="0"/>
              </a:rPr>
              <a:t>Higher ATR = Higher Volatility </a:t>
            </a:r>
            <a:endParaRPr lang="en-US" sz="800" dirty="0">
              <a:solidFill>
                <a:srgbClr val="002060"/>
              </a:solidFill>
              <a:latin typeface="Century Gothic" panose="020B0702020202020204" pitchFamily="34" charset="0"/>
            </a:endParaRPr>
          </a:p>
          <a:p>
            <a:pPr marL="628650" lvl="1" indent="-171450">
              <a:buFont typeface="Arial" panose="020B0704020202020204" pitchFamily="34" charset="0"/>
              <a:buChar char="•"/>
            </a:pPr>
            <a:r>
              <a:rPr lang="en-US" sz="800" i="0" u="none" strike="noStrike" dirty="0">
                <a:solidFill>
                  <a:srgbClr val="002060"/>
                </a:solidFill>
                <a:effectLst/>
                <a:latin typeface="Century Gothic" panose="020B0702020202020204" pitchFamily="34" charset="0"/>
              </a:rPr>
              <a:t>Lower ATR = Lower Volatility </a:t>
            </a:r>
            <a:endParaRPr lang="en-US" sz="800" i="0" u="none" strike="noStrike" dirty="0">
              <a:solidFill>
                <a:srgbClr val="002060"/>
              </a:solidFill>
              <a:effectLst/>
              <a:latin typeface="Century Gothic" panose="020B0702020202020204" pitchFamily="34" charset="0"/>
            </a:endParaRPr>
          </a:p>
          <a:p>
            <a:pPr marL="628650" lvl="1" indent="-171450">
              <a:buFont typeface="Arial" panose="020B0704020202020204" pitchFamily="34" charset="0"/>
              <a:buChar char="•"/>
            </a:pP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i="0" u="none" strike="noStrike" dirty="0">
                <a:solidFill>
                  <a:srgbClr val="002060"/>
                </a:solidFill>
                <a:effectLst/>
                <a:latin typeface="Century Gothic" panose="020B0702020202020204" pitchFamily="34" charset="0"/>
              </a:rPr>
              <a:t>Usage in Our Analysis</a:t>
            </a:r>
            <a:r>
              <a:rPr lang="en-US" sz="800" i="0" u="none" strike="noStrike" dirty="0">
                <a:solidFill>
                  <a:srgbClr val="002060"/>
                </a:solidFill>
                <a:effectLst/>
                <a:latin typeface="Century Gothic" panose="020B0702020202020204" pitchFamily="34" charset="0"/>
              </a:rPr>
              <a:t>:</a:t>
            </a:r>
            <a:endParaRPr lang="en-US" sz="800" i="0" u="none" strike="noStrike" dirty="0">
              <a:solidFill>
                <a:srgbClr val="002060"/>
              </a:solidFill>
              <a:effectLst/>
              <a:latin typeface="Century Gothic" panose="020B0702020202020204" pitchFamily="34" charset="0"/>
            </a:endParaRPr>
          </a:p>
          <a:p>
            <a:pPr marL="628650" lvl="1" indent="-171450">
              <a:buFont typeface="Arial" panose="020B0704020202020204" pitchFamily="34" charset="0"/>
              <a:buChar char="•"/>
            </a:pPr>
            <a:r>
              <a:rPr lang="en-US" sz="800" dirty="0">
                <a:solidFill>
                  <a:srgbClr val="002060"/>
                </a:solidFill>
                <a:latin typeface="Century Gothic" panose="020B0702020202020204" pitchFamily="34" charset="0"/>
              </a:rPr>
              <a:t>Helps standardize price movements across different market conditions</a:t>
            </a:r>
            <a:endParaRPr lang="en-US" sz="800" dirty="0">
              <a:solidFill>
                <a:srgbClr val="002060"/>
              </a:solidFill>
              <a:latin typeface="Century Gothic" panose="020B0702020202020204" pitchFamily="34" charset="0"/>
            </a:endParaRPr>
          </a:p>
          <a:p>
            <a:pPr marL="628650" lvl="1" indent="-171450">
              <a:buFont typeface="Arial" panose="020B0704020202020204" pitchFamily="34" charset="0"/>
              <a:buChar char="•"/>
            </a:pPr>
            <a:r>
              <a:rPr lang="en-US" sz="800" dirty="0">
                <a:solidFill>
                  <a:srgbClr val="002060"/>
                </a:solidFill>
                <a:latin typeface="Century Gothic" panose="020B0702020202020204" pitchFamily="34" charset="0"/>
              </a:rPr>
              <a:t>Forms the basis of our Volatility Unit Calculations</a:t>
            </a:r>
            <a:endParaRPr lang="en-US" sz="800" dirty="0">
              <a:solidFill>
                <a:srgbClr val="002060"/>
              </a:solidFill>
              <a:latin typeface="Century Gothic" panose="020B0702020202020204" pitchFamily="34" charset="0"/>
            </a:endParaRPr>
          </a:p>
        </p:txBody>
      </p:sp>
      <p:sp>
        <p:nvSpPr>
          <p:cNvPr id="8" name="Rectangle 7"/>
          <p:cNvSpPr/>
          <p:nvPr/>
        </p:nvSpPr>
        <p:spPr>
          <a:xfrm>
            <a:off x="439939" y="239920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702020202020204" pitchFamily="34" charset="0"/>
              </a:rPr>
              <a:t>Average True Range (ATR)</a:t>
            </a:r>
            <a:endParaRPr lang="en-US" sz="1000" b="1" dirty="0">
              <a:solidFill>
                <a:srgbClr val="002060"/>
              </a:solidFill>
              <a:latin typeface="Century Gothic" panose="020B0702020202020204" pitchFamily="34" charset="0"/>
            </a:endParaRPr>
          </a:p>
        </p:txBody>
      </p:sp>
      <p:sp>
        <p:nvSpPr>
          <p:cNvPr id="11" name="Rectangle 10"/>
          <p:cNvSpPr/>
          <p:nvPr/>
        </p:nvSpPr>
        <p:spPr>
          <a:xfrm>
            <a:off x="439939" y="5727436"/>
            <a:ext cx="5340375" cy="513471"/>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704020202020204" pitchFamily="34" charset="0"/>
              <a:buChar char="•"/>
            </a:pPr>
            <a:r>
              <a:rPr lang="en-US" sz="800" b="1" i="0" u="none" strike="noStrike" dirty="0">
                <a:solidFill>
                  <a:srgbClr val="002060"/>
                </a:solidFill>
                <a:effectLst/>
                <a:latin typeface="Century Gothic" panose="020B0702020202020204" pitchFamily="34" charset="0"/>
              </a:rPr>
              <a:t>Formula</a:t>
            </a:r>
            <a:r>
              <a:rPr lang="en-US" sz="800" b="0" i="0" u="none" strike="noStrike" dirty="0">
                <a:solidFill>
                  <a:srgbClr val="002060"/>
                </a:solidFill>
                <a:effectLst/>
                <a:latin typeface="Century Gothic" panose="020B0702020202020204" pitchFamily="34" charset="0"/>
              </a:rPr>
              <a:t>: (ATR * </a:t>
            </a:r>
            <a:r>
              <a:rPr lang="en-US" sz="800" b="0" i="1" u="none" strike="noStrike" dirty="0">
                <a:solidFill>
                  <a:srgbClr val="002060"/>
                </a:solidFill>
                <a:effectLst/>
                <a:latin typeface="Century Gothic" panose="020B0702020202020204" pitchFamily="34" charset="0"/>
              </a:rPr>
              <a:t>multiple</a:t>
            </a:r>
            <a:r>
              <a:rPr lang="en-US" sz="800" b="0" i="0" u="none" strike="noStrike" dirty="0">
                <a:solidFill>
                  <a:srgbClr val="002060"/>
                </a:solidFill>
                <a:effectLst/>
                <a:latin typeface="Century Gothic" panose="020B0702020202020204" pitchFamily="34" charset="0"/>
              </a:rPr>
              <a:t>) + </a:t>
            </a:r>
            <a:r>
              <a:rPr lang="en-US" sz="800" b="0" i="1" u="none" strike="noStrike" dirty="0">
                <a:solidFill>
                  <a:srgbClr val="002060"/>
                </a:solidFill>
                <a:effectLst/>
                <a:latin typeface="Century Gothic" panose="020B0702020202020204" pitchFamily="34" charset="0"/>
              </a:rPr>
              <a:t>Spread </a:t>
            </a:r>
            <a:r>
              <a:rPr lang="en-US" sz="800" b="0" u="none" strike="noStrike" dirty="0">
                <a:solidFill>
                  <a:srgbClr val="002060"/>
                </a:solidFill>
                <a:effectLst/>
                <a:latin typeface="Century Gothic" panose="020B0702020202020204" pitchFamily="34" charset="0"/>
              </a:rPr>
              <a:t>(multiple is typically 1.5)</a:t>
            </a:r>
            <a:endParaRPr lang="en-US" sz="800" b="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rPr>
              <a:t>Purpose</a:t>
            </a:r>
            <a:r>
              <a:rPr lang="en-US" sz="800" dirty="0">
                <a:solidFill>
                  <a:srgbClr val="002060"/>
                </a:solidFill>
                <a:latin typeface="Century Gothic" panose="020B0702020202020204" pitchFamily="34" charset="0"/>
              </a:rPr>
              <a:t>: Standardizes price movements</a:t>
            </a:r>
            <a:endParaRPr lang="en-US" sz="800" dirty="0">
              <a:solidFill>
                <a:srgbClr val="002060"/>
              </a:solidFill>
              <a:latin typeface="Century Gothic" panose="020B0702020202020204" pitchFamily="34" charset="0"/>
            </a:endParaRPr>
          </a:p>
        </p:txBody>
      </p:sp>
      <p:sp>
        <p:nvSpPr>
          <p:cNvPr id="12" name="Rectangle 11"/>
          <p:cNvSpPr/>
          <p:nvPr/>
        </p:nvSpPr>
        <p:spPr>
          <a:xfrm>
            <a:off x="439938" y="516024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702020202020204" pitchFamily="34" charset="0"/>
              </a:rPr>
              <a:t>Volatility Unit</a:t>
            </a:r>
            <a:endParaRPr lang="en-US" sz="1000" b="1" dirty="0">
              <a:solidFill>
                <a:srgbClr val="002060"/>
              </a:solidFill>
              <a:latin typeface="Century Gothic" panose="020B0702020202020204" pitchFamily="34" charset="0"/>
            </a:endParaRPr>
          </a:p>
        </p:txBody>
      </p:sp>
      <p:sp>
        <p:nvSpPr>
          <p:cNvPr id="13" name="Rectangle 12"/>
          <p:cNvSpPr/>
          <p:nvPr/>
        </p:nvSpPr>
        <p:spPr>
          <a:xfrm>
            <a:off x="6078743" y="1604696"/>
            <a:ext cx="5340375" cy="513471"/>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704020202020204" pitchFamily="34" charset="0"/>
              <a:buChar char="•"/>
            </a:pPr>
            <a:r>
              <a:rPr lang="en-US" sz="800" b="1" i="0" u="none" strike="noStrike" dirty="0">
                <a:solidFill>
                  <a:srgbClr val="002060"/>
                </a:solidFill>
                <a:effectLst/>
                <a:latin typeface="Century Gothic" panose="020B0702020202020204" pitchFamily="34" charset="0"/>
              </a:rPr>
              <a:t>Max Movement</a:t>
            </a:r>
            <a:r>
              <a:rPr lang="en-US" sz="800" i="0" u="none" strike="noStrike" dirty="0">
                <a:solidFill>
                  <a:srgbClr val="002060"/>
                </a:solidFill>
                <a:effectLst/>
                <a:latin typeface="Century Gothic" panose="020B0702020202020204" pitchFamily="34" charset="0"/>
              </a:rPr>
              <a:t>: Largest upward price move after event</a:t>
            </a: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rPr>
              <a:t>Min Movement</a:t>
            </a:r>
            <a:r>
              <a:rPr lang="en-US" sz="800" dirty="0">
                <a:solidFill>
                  <a:srgbClr val="002060"/>
                </a:solidFill>
                <a:latin typeface="Century Gothic" panose="020B0702020202020204" pitchFamily="34" charset="0"/>
              </a:rPr>
              <a:t>: Largest downward price move after event</a:t>
            </a:r>
            <a:endParaRPr lang="en-US" sz="800" dirty="0">
              <a:solidFill>
                <a:srgbClr val="002060"/>
              </a:solidFill>
              <a:latin typeface="Century Gothic" panose="020B0702020202020204" pitchFamily="34" charset="0"/>
            </a:endParaRPr>
          </a:p>
          <a:p>
            <a:pPr marL="171450" indent="-171450">
              <a:buFont typeface="Arial" panose="020B0704020202020204" pitchFamily="34" charset="0"/>
              <a:buChar char="•"/>
            </a:pPr>
            <a:r>
              <a:rPr lang="en-US" sz="800" i="0" u="none" strike="noStrike" dirty="0">
                <a:solidFill>
                  <a:srgbClr val="002060"/>
                </a:solidFill>
                <a:effectLst/>
                <a:latin typeface="Century Gothic" panose="020B0702020202020204" pitchFamily="34" charset="0"/>
              </a:rPr>
              <a:t>Both measured in Volatility Units</a:t>
            </a:r>
            <a:r>
              <a:rPr lang="en-US" sz="800" b="1" i="0" u="none" strike="noStrike" dirty="0">
                <a:solidFill>
                  <a:srgbClr val="002060"/>
                </a:solidFill>
                <a:effectLst/>
                <a:latin typeface="Century Gothic" panose="020B0702020202020204" pitchFamily="34" charset="0"/>
              </a:rPr>
              <a:t> </a:t>
            </a:r>
            <a:endParaRPr lang="en-US" sz="800" b="1" i="0" u="none" strike="noStrike" dirty="0">
              <a:solidFill>
                <a:srgbClr val="002060"/>
              </a:solidFill>
              <a:effectLst/>
              <a:latin typeface="Century Gothic" panose="020B0702020202020204" pitchFamily="34" charset="0"/>
            </a:endParaRPr>
          </a:p>
        </p:txBody>
      </p:sp>
      <p:sp>
        <p:nvSpPr>
          <p:cNvPr id="14" name="Rectangle 13"/>
          <p:cNvSpPr/>
          <p:nvPr/>
        </p:nvSpPr>
        <p:spPr>
          <a:xfrm>
            <a:off x="6078742" y="103750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702020202020204" pitchFamily="34" charset="0"/>
              </a:rPr>
              <a:t>Price Movements</a:t>
            </a:r>
            <a:endParaRPr lang="en-US" sz="1000" b="1" dirty="0">
              <a:solidFill>
                <a:srgbClr val="002060"/>
              </a:solidFill>
              <a:latin typeface="Century Gothic" panose="020B0702020202020204" pitchFamily="34" charset="0"/>
            </a:endParaRPr>
          </a:p>
        </p:txBody>
      </p:sp>
      <p:sp>
        <p:nvSpPr>
          <p:cNvPr id="15" name="Rectangle 14"/>
          <p:cNvSpPr/>
          <p:nvPr/>
        </p:nvSpPr>
        <p:spPr>
          <a:xfrm>
            <a:off x="6078741" y="2996211"/>
            <a:ext cx="5340377" cy="1962927"/>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704020202020204" pitchFamily="34" charset="0"/>
              <a:buChar char="•"/>
            </a:pPr>
            <a:r>
              <a:rPr lang="en-US" sz="540" dirty="0">
                <a:solidFill>
                  <a:srgbClr val="002060"/>
                </a:solidFill>
                <a:latin typeface="Century Gothic" panose="020B0702020202020204" pitchFamily="34" charset="0"/>
              </a:rPr>
              <a:t>Analyzing volatility across different economic releases helps identify patterns in market reactions.</a:t>
            </a: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dirty="0">
                <a:solidFill>
                  <a:srgbClr val="002060"/>
                </a:solidFill>
                <a:latin typeface="Century Gothic" panose="020B0702020202020204" pitchFamily="34" charset="0"/>
              </a:rPr>
              <a:t>This approach allows for evaluating the significance of economic indicators based on their market impact.</a:t>
            </a: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dirty="0">
                <a:solidFill>
                  <a:srgbClr val="002060"/>
                </a:solidFill>
                <a:latin typeface="Century Gothic" panose="020B0702020202020204" pitchFamily="34" charset="0"/>
              </a:rPr>
              <a:t>Adhering to standard trading guidelines, the risk amount should not exceed 5% of the trading balance, typically. A risk-reward ratio of 1:1.5x or greater, guided by the win ratio and historical data from this presentation or other estimates, can be used to determine the appropriate risk level, take-profit point, and position size.</a:t>
            </a: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dirty="0">
                <a:solidFill>
                  <a:srgbClr val="002060"/>
                </a:solidFill>
                <a:latin typeface="Century Gothic" panose="020B0702020202020204" pitchFamily="34" charset="0"/>
              </a:rPr>
              <a:t>Trade automation on the MT5/MT4 platform can be implemented using the expert advisor linked below, which takes the specified parameters as input.</a:t>
            </a: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dirty="0">
                <a:solidFill>
                  <a:srgbClr val="002060"/>
                </a:solidFill>
                <a:latin typeface="Century Gothic" panose="020B0702020202020204" pitchFamily="34" charset="0"/>
              </a:rPr>
              <a:t>An MT5/MT4 account can be accessed through a</a:t>
            </a:r>
            <a:r>
              <a:rPr lang="en-US" sz="540" b="1" dirty="0">
                <a:solidFill>
                  <a:srgbClr val="002060"/>
                </a:solidFill>
                <a:latin typeface="Century Gothic" panose="020B0702020202020204" pitchFamily="34" charset="0"/>
              </a:rPr>
              <a:t> </a:t>
            </a:r>
            <a:r>
              <a:rPr lang="en-US" sz="540" dirty="0">
                <a:solidFill>
                  <a:srgbClr val="0070C0"/>
                </a:solidFill>
                <a:latin typeface="Century Gothic" panose="020B0702020202020204" pitchFamily="34" charset="0"/>
                <a:hlinkClick r:id="rId1" action="ppaction://hlinkfile"/>
              </a:rPr>
              <a:t>brokerage/securities dealer firm</a:t>
            </a:r>
            <a:r>
              <a:rPr lang="en-US" sz="540" dirty="0">
                <a:solidFill>
                  <a:srgbClr val="002060"/>
                </a:solidFill>
                <a:latin typeface="Century Gothic" panose="020B0702020202020204" pitchFamily="34" charset="0"/>
              </a:rPr>
              <a:t> or by using a </a:t>
            </a:r>
            <a:r>
              <a:rPr lang="en-US" sz="540" dirty="0">
                <a:solidFill>
                  <a:srgbClr val="0070C0"/>
                </a:solidFill>
                <a:latin typeface="Century Gothic" panose="020B0702020202020204" pitchFamily="34" charset="0"/>
                <a:hlinkClick r:id="rId2" action="ppaction://hlinkfile"/>
              </a:rPr>
              <a:t>proprietary (prop) trading account</a:t>
            </a:r>
            <a:r>
              <a:rPr lang="en-US" sz="540" dirty="0">
                <a:solidFill>
                  <a:srgbClr val="002060"/>
                </a:solidFill>
                <a:latin typeface="Century Gothic" panose="020B0702020202020204" pitchFamily="34" charset="0"/>
              </a:rPr>
              <a:t>.*</a:t>
            </a:r>
            <a:endParaRPr lang="en-US" sz="540" dirty="0">
              <a:solidFill>
                <a:srgbClr val="002060"/>
              </a:solidFill>
              <a:latin typeface="Century Gothic" panose="020B0702020202020204" pitchFamily="34" charset="0"/>
            </a:endParaRPr>
          </a:p>
          <a:p>
            <a:pPr algn="just"/>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b="1" dirty="0">
                <a:solidFill>
                  <a:srgbClr val="002060"/>
                </a:solidFill>
                <a:latin typeface="Century Gothic" panose="020B0702020202020204" pitchFamily="34" charset="0"/>
              </a:rPr>
              <a:t>Example: </a:t>
            </a:r>
            <a:endParaRPr lang="en-US" sz="540" b="1" dirty="0">
              <a:solidFill>
                <a:srgbClr val="002060"/>
              </a:solidFill>
              <a:latin typeface="Century Gothic" panose="020B0702020202020204" pitchFamily="34" charset="0"/>
            </a:endParaRPr>
          </a:p>
          <a:p>
            <a:pPr marL="628650" lvl="1" indent="-171450" algn="just">
              <a:buFont typeface="Arial" panose="020B0704020202020204" pitchFamily="34" charset="0"/>
              <a:buChar char="•"/>
            </a:pPr>
            <a:r>
              <a:rPr lang="en-US" sz="540" dirty="0">
                <a:solidFill>
                  <a:srgbClr val="002060"/>
                </a:solidFill>
                <a:latin typeface="Century Gothic" panose="020B0702020202020204" pitchFamily="34" charset="0"/>
              </a:rPr>
              <a:t>Volatility analysis of economic releases, such as the Consumer Price Index (CPI) event, helps identify patterns in market reactions. For instance, if the CPI event typically results in a minimum movement of 0.5x and a maximum movement of 3x, a stop-loss of 1x and a take-profit of 3x can be strategically applied.</a:t>
            </a:r>
            <a:endParaRPr lang="en-US" sz="540" dirty="0">
              <a:solidFill>
                <a:srgbClr val="002060"/>
              </a:solidFill>
              <a:latin typeface="Century Gothic" panose="020B0702020202020204" pitchFamily="34" charset="0"/>
            </a:endParaRPr>
          </a:p>
          <a:p>
            <a:pPr marL="628650" lvl="1" indent="-171450" algn="just">
              <a:buFont typeface="Arial" panose="020B0704020202020204" pitchFamily="34" charset="0"/>
              <a:buChar char="•"/>
            </a:pPr>
            <a:r>
              <a:rPr lang="en-US" sz="540" dirty="0">
                <a:solidFill>
                  <a:srgbClr val="002060"/>
                </a:solidFill>
                <a:latin typeface="Century Gothic" panose="020B0702020202020204" pitchFamily="34" charset="0"/>
              </a:rPr>
              <a:t>Following prudent risk management, the risk per trade should not exceed 5% of the trading balance, typically. For a $100,000 trading account (max loss amount post which trading is halted), this translates to a $5,000 stop-loss and a $15,000 take-profit.</a:t>
            </a:r>
            <a:endParaRPr lang="en-US" sz="540" dirty="0">
              <a:solidFill>
                <a:srgbClr val="002060"/>
              </a:solidFill>
              <a:latin typeface="Century Gothic" panose="020B0702020202020204" pitchFamily="34" charset="0"/>
            </a:endParaRPr>
          </a:p>
          <a:p>
            <a:pPr marL="628650" lvl="1" indent="-171450" algn="just">
              <a:buFont typeface="Arial" panose="020B0704020202020204" pitchFamily="34" charset="0"/>
              <a:buChar char="•"/>
            </a:pPr>
            <a:r>
              <a:rPr lang="en-US" sz="540" dirty="0">
                <a:solidFill>
                  <a:srgbClr val="002060"/>
                </a:solidFill>
                <a:latin typeface="Century Gothic" panose="020B0702020202020204" pitchFamily="34" charset="0"/>
              </a:rPr>
              <a:t>The guiding principle is that a win ratio of at least 50% combined with a risk-reward ratio of over 1.5-2x ensures positive expected cash flow. By limiting risk to 5% of the account balance, potential drawdowns from consecutive losses are minimized, preserving capital and maintaining positive cash flow expectations.</a:t>
            </a: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dirty="0">
                <a:solidFill>
                  <a:srgbClr val="002060"/>
                </a:solidFill>
                <a:latin typeface="Century Gothic" panose="020B0702020202020204" pitchFamily="34" charset="0"/>
              </a:rPr>
              <a:t>If you need further assistance, please don’t hesitate to contact us.</a:t>
            </a: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i="1" dirty="0">
                <a:solidFill>
                  <a:srgbClr val="002060"/>
                </a:solidFill>
                <a:latin typeface="Century Gothic" panose="020B0702020202020204" pitchFamily="34" charset="0"/>
              </a:rPr>
              <a:t>*Disclaimer: The links are provided for informational purposes only and connect to third-party websites. We are not affiliated with, nor do we endorse, any of these external sites. Trading carries a significant risk of financial loss. Your risk is your own responsibility, and you should carefully consider your investment objectives and risk tolerance before trading.</a:t>
            </a:r>
            <a:endParaRPr lang="en-US" sz="540" i="1" dirty="0">
              <a:solidFill>
                <a:srgbClr val="002060"/>
              </a:solidFill>
              <a:latin typeface="Century Gothic" panose="020B0702020202020204" pitchFamily="34" charset="0"/>
            </a:endParaRPr>
          </a:p>
        </p:txBody>
      </p:sp>
      <p:sp>
        <p:nvSpPr>
          <p:cNvPr id="16" name="Rectangle 15"/>
          <p:cNvSpPr/>
          <p:nvPr/>
        </p:nvSpPr>
        <p:spPr>
          <a:xfrm>
            <a:off x="6078742" y="239920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702020202020204" pitchFamily="34" charset="0"/>
              </a:rPr>
              <a:t>Using This Analysis</a:t>
            </a:r>
            <a:endParaRPr lang="en-US" sz="1000" b="1" dirty="0">
              <a:solidFill>
                <a:srgbClr val="002060"/>
              </a:solidFill>
              <a:latin typeface="Century Gothic" panose="020B0702020202020204" pitchFamily="34" charset="0"/>
            </a:endParaRPr>
          </a:p>
        </p:txBody>
      </p:sp>
      <p:sp>
        <p:nvSpPr>
          <p:cNvPr id="17" name="Rectangle 16"/>
          <p:cNvSpPr/>
          <p:nvPr/>
        </p:nvSpPr>
        <p:spPr>
          <a:xfrm>
            <a:off x="6078742" y="5727436"/>
            <a:ext cx="5340375" cy="513471"/>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704020202020204" pitchFamily="34" charset="0"/>
              <a:buChar char="•"/>
            </a:pPr>
            <a:r>
              <a:rPr lang="en-US" sz="800" u="sng" strike="noStrike" dirty="0">
                <a:solidFill>
                  <a:srgbClr val="0070C0"/>
                </a:solidFill>
                <a:effectLst/>
                <a:latin typeface="Century Gothic" panose="020B0702020202020204" pitchFamily="34" charset="0"/>
                <a:hlinkClick r:id="rId3" action="ppaction://hlinkfile"/>
              </a:rPr>
              <a:t>https://github.com/pawan-pro/quantwater-tech-investments/blob/main/QuantPulse</a:t>
            </a:r>
            <a:endParaRPr lang="en-US" sz="800" u="sng" strike="noStrike" dirty="0">
              <a:solidFill>
                <a:srgbClr val="0070C0"/>
              </a:solidFill>
              <a:effectLst/>
              <a:latin typeface="Century Gothic" panose="020B0702020202020204" pitchFamily="34" charset="0"/>
            </a:endParaRPr>
          </a:p>
          <a:p>
            <a:pPr marL="171450" indent="-171450">
              <a:buFont typeface="Arial" panose="020B0704020202020204" pitchFamily="34" charset="0"/>
              <a:buChar char="•"/>
            </a:pPr>
            <a:r>
              <a:rPr lang="en-US" sz="800" u="sng" dirty="0">
                <a:solidFill>
                  <a:srgbClr val="0070C0"/>
                </a:solidFill>
                <a:latin typeface="Century Gothic" panose="020B0702020202020204" pitchFamily="34" charset="0"/>
                <a:hlinkClick r:id="rId4"/>
              </a:rPr>
              <a:t>https://quantwatertech.netlify.app/research</a:t>
            </a:r>
            <a:endParaRPr lang="en-US" sz="800" u="sng" dirty="0">
              <a:solidFill>
                <a:srgbClr val="0070C0"/>
              </a:solidFill>
              <a:latin typeface="Century Gothic" panose="020B0702020202020204" pitchFamily="34" charset="0"/>
            </a:endParaRPr>
          </a:p>
          <a:p>
            <a:pPr marL="171450" indent="-171450">
              <a:buFont typeface="Arial" panose="020B0704020202020204" pitchFamily="34" charset="0"/>
              <a:buChar char="•"/>
            </a:pPr>
            <a:r>
              <a:rPr lang="en-US" sz="800" u="sng" dirty="0">
                <a:solidFill>
                  <a:srgbClr val="0070C0"/>
                </a:solidFill>
                <a:latin typeface="Century Gothic" panose="020B0702020202020204" pitchFamily="34" charset="0"/>
                <a:hlinkClick r:id="rId5"/>
              </a:rPr>
              <a:t>https://quantwater.tech/blog</a:t>
            </a:r>
            <a:endParaRPr lang="en-US" sz="800" u="sng" dirty="0">
              <a:solidFill>
                <a:srgbClr val="0070C0"/>
              </a:solidFill>
              <a:latin typeface="Century Gothic" panose="020B0702020202020204" pitchFamily="34" charset="0"/>
            </a:endParaRPr>
          </a:p>
        </p:txBody>
      </p:sp>
      <p:sp>
        <p:nvSpPr>
          <p:cNvPr id="18" name="Rectangle 17"/>
          <p:cNvSpPr/>
          <p:nvPr/>
        </p:nvSpPr>
        <p:spPr>
          <a:xfrm>
            <a:off x="6078741" y="516024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702020202020204" pitchFamily="34" charset="0"/>
              </a:rPr>
              <a:t>Resources</a:t>
            </a:r>
            <a:endParaRPr lang="en-US" sz="1000" b="1" dirty="0">
              <a:solidFill>
                <a:srgbClr val="002060"/>
              </a:solidFill>
              <a:latin typeface="Century Gothic" panose="020B070202020202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8606" y="376150"/>
            <a:ext cx="5877454" cy="1765801"/>
          </a:xfrm>
        </p:spPr>
        <p:txBody>
          <a:bodyPr>
            <a:normAutofit/>
          </a:bodyPr>
          <a:lstStyle/>
          <a:p>
            <a:r>
              <a:rPr lang="en-US" dirty="0">
                <a:solidFill>
                  <a:schemeClr val="accent5">
                    <a:lumMod val="50000"/>
                  </a:schemeClr>
                </a:solidFill>
                <a:latin typeface="Century Gothic" panose="020B0702020202020204" pitchFamily="34" charset="0"/>
                <a:cs typeface="Century Gothic" panose="020B0702020202020204" pitchFamily="34" charset="0"/>
              </a:rPr>
              <a:t>Thank You!</a:t>
            </a:r>
            <a:endParaRPr lang="en-US" sz="1100" dirty="0">
              <a:solidFill>
                <a:schemeClr val="accent5">
                  <a:lumMod val="50000"/>
                </a:schemeClr>
              </a:solidFill>
              <a:latin typeface="Century Gothic" panose="020B0702020202020204" pitchFamily="34" charset="0"/>
              <a:cs typeface="Century Gothic" panose="020B0702020202020204" pitchFamily="34" charset="0"/>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704020202020204" pitchFamily="34" charset="0"/>
              <a:buNone/>
              <a:defRPr/>
            </a:pPr>
            <a:endParaRPr kumimoji="0" lang="en-US" sz="1800" b="1" i="0" u="none" strike="noStrike" kern="1200" cap="none" spc="0" normalizeH="0" baseline="0" noProof="0" dirty="0">
              <a:ln>
                <a:noFill/>
              </a:ln>
              <a:solidFill>
                <a:srgbClr val="111121"/>
              </a:solidFill>
              <a:effectLst/>
              <a:uLnTx/>
              <a:uFillTx/>
              <a:latin typeface="Century Gothic" panose="020B0702020202020204" pitchFamily="34" charset="0"/>
              <a:ea typeface="+mn-ea"/>
              <a:cs typeface="Century Gothic" panose="020B0702020202020204" pitchFamily="34" charset="0"/>
            </a:endParaRPr>
          </a:p>
        </p:txBody>
      </p:sp>
      <p:sp>
        <p:nvSpPr>
          <p:cNvPr id="9" name="Rectangle 8"/>
          <p:cNvSpPr/>
          <p:nvPr/>
        </p:nvSpPr>
        <p:spPr>
          <a:xfrm>
            <a:off x="1452282" y="6002963"/>
            <a:ext cx="8785412" cy="588337"/>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Century Gothic" panose="020B0702020202020204" pitchFamily="34" charset="0"/>
              <a:ea typeface="+mn-ea"/>
              <a:cs typeface="Century Gothic" panose="020B0702020202020204" pitchFamily="34" charset="0"/>
            </a:endParaRPr>
          </a:p>
        </p:txBody>
      </p:sp>
      <p:pic>
        <p:nvPicPr>
          <p:cNvPr id="7" name="Picture 6" descr="A line drawn on a white background&#10;&#10;Description automatically generated"/>
          <p:cNvPicPr>
            <a:picLocks noChangeAspect="1"/>
          </p:cNvPicPr>
          <p:nvPr/>
        </p:nvPicPr>
        <p:blipFill>
          <a:blip r:embed="rId1">
            <a:extLst>
              <a:ext uri="{BEBA8EAE-BF5A-486C-A8C5-ECC9F3942E4B}">
                <a14:imgProps xmlns:a14="http://schemas.microsoft.com/office/drawing/2010/main">
                  <a14:imgLayer r:embed="rId2">
                    <a14:imgEffect>
                      <a14:sharpenSoften amount="-60000"/>
                    </a14:imgEffect>
                  </a14:imgLayer>
                </a14:imgProps>
              </a:ext>
            </a:extLst>
          </a:blip>
          <a:srcRect b="15261"/>
          <a:stretch>
            <a:fillRect/>
          </a:stretch>
        </p:blipFill>
        <p:spPr>
          <a:xfrm>
            <a:off x="0" y="-24903"/>
            <a:ext cx="12192000" cy="5849438"/>
          </a:xfrm>
          <a:prstGeom prst="rect">
            <a:avLst/>
          </a:prstGeom>
        </p:spPr>
      </p:pic>
      <p:sp>
        <p:nvSpPr>
          <p:cNvPr id="10" name="Title 1"/>
          <p:cNvSpPr txBox="1"/>
          <p:nvPr/>
        </p:nvSpPr>
        <p:spPr>
          <a:xfrm>
            <a:off x="648606" y="376151"/>
            <a:ext cx="6046662" cy="18121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3300" dirty="0">
                <a:solidFill>
                  <a:schemeClr val="accent3"/>
                </a:solidFill>
                <a:latin typeface="Century Gothic" panose="020B0702020202020204" pitchFamily="34" charset="0"/>
                <a:cs typeface="Century Gothic" panose="020B0702020202020204" pitchFamily="34" charset="0"/>
              </a:rPr>
              <a:t>Thank You!</a:t>
            </a:r>
            <a:endParaRPr lang="en-US" sz="3300" dirty="0">
              <a:solidFill>
                <a:schemeClr val="accent3"/>
              </a:solidFill>
              <a:latin typeface="Century Gothic" panose="020B0702020202020204" pitchFamily="34" charset="0"/>
              <a:cs typeface="Century Gothic" panose="020B0702020202020204" pitchFamily="34" charset="0"/>
            </a:endParaRPr>
          </a:p>
        </p:txBody>
      </p:sp>
      <p:sp>
        <p:nvSpPr>
          <p:cNvPr id="4" name="Title 1"/>
          <p:cNvSpPr txBox="1"/>
          <p:nvPr/>
        </p:nvSpPr>
        <p:spPr>
          <a:xfrm>
            <a:off x="1654446" y="6340302"/>
            <a:ext cx="8583248" cy="512781"/>
          </a:xfrm>
          <a:prstGeom prst="rect">
            <a:avLst/>
          </a:prstGeom>
          <a:solidFill>
            <a:schemeClr val="bg1"/>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pPr algn="ctr"/>
            <a:r>
              <a:rPr lang="en-US" sz="3300" dirty="0">
                <a:solidFill>
                  <a:schemeClr val="accent5"/>
                </a:solidFill>
                <a:latin typeface="Century Gothic" panose="020B0702020202020204" pitchFamily="34" charset="0"/>
                <a:cs typeface="Century Gothic" panose="020B0702020202020204" pitchFamily="34" charset="0"/>
              </a:rPr>
              <a:t>Quantwater Tech Investments</a:t>
            </a:r>
            <a:endParaRPr lang="en-US" sz="3300" dirty="0">
              <a:solidFill>
                <a:schemeClr val="accent5"/>
              </a:solidFill>
              <a:latin typeface="Century Gothic" panose="020B0702020202020204" pitchFamily="34" charset="0"/>
              <a:cs typeface="Century Gothic" panose="020B0702020202020204" pitchFamily="34" charset="0"/>
            </a:endParaRPr>
          </a:p>
        </p:txBody>
      </p:sp>
      <p:sp>
        <p:nvSpPr>
          <p:cNvPr id="3" name="Title 1"/>
          <p:cNvSpPr txBox="1"/>
          <p:nvPr/>
        </p:nvSpPr>
        <p:spPr>
          <a:xfrm>
            <a:off x="731838" y="5575874"/>
            <a:ext cx="1653553" cy="666778"/>
          </a:xfrm>
          <a:prstGeom prst="rect">
            <a:avLst/>
          </a:prstGeom>
          <a:solidFill>
            <a:schemeClr val="bg1">
              <a:lumMod val="95000"/>
            </a:schemeClr>
          </a:solidFill>
          <a:effectLst>
            <a:outerShdw blurRad="50800" dist="38100" dir="2700000" algn="tl" rotWithShape="0">
              <a:prstClr val="black">
                <a:alpha val="40000"/>
              </a:prstClr>
            </a:outerShdw>
          </a:effectLst>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1500" dirty="0">
                <a:solidFill>
                  <a:schemeClr val="bg1">
                    <a:lumMod val="50000"/>
                  </a:schemeClr>
                </a:solidFill>
                <a:latin typeface="Century Gothic" panose="020B0702020202020204" pitchFamily="34" charset="0"/>
                <a:cs typeface="Century Gothic" panose="020B0702020202020204" pitchFamily="34" charset="0"/>
              </a:rPr>
              <a:t>Pawan Jatale</a:t>
            </a:r>
            <a:endParaRPr lang="en-US" sz="1500" dirty="0">
              <a:solidFill>
                <a:schemeClr val="bg1">
                  <a:lumMod val="50000"/>
                </a:schemeClr>
              </a:solidFill>
              <a:latin typeface="Century Gothic" panose="020B0702020202020204" pitchFamily="34" charset="0"/>
              <a:cs typeface="Century Gothic" panose="020B0702020202020204" pitchFamily="34" charset="0"/>
            </a:endParaRPr>
          </a:p>
          <a:p>
            <a:endParaRPr lang="en-US" sz="1500" dirty="0">
              <a:solidFill>
                <a:schemeClr val="bg1">
                  <a:lumMod val="50000"/>
                </a:schemeClr>
              </a:solidFill>
              <a:latin typeface="Century Gothic" panose="020B0702020202020204" pitchFamily="34" charset="0"/>
              <a:cs typeface="Century Gothic" panose="020B0702020202020204" pitchFamily="34" charset="0"/>
            </a:endParaRPr>
          </a:p>
          <a:p>
            <a:r>
              <a:rPr lang="en-US" sz="1500" dirty="0">
                <a:solidFill>
                  <a:schemeClr val="bg1">
                    <a:lumMod val="50000"/>
                  </a:schemeClr>
                </a:solidFill>
                <a:latin typeface="Century Gothic" panose="020B0702020202020204" pitchFamily="34" charset="0"/>
                <a:cs typeface="Century Gothic" panose="020B0702020202020204" pitchFamily="34" charset="0"/>
              </a:rPr>
              <a:t>pawan@quantwater.tech</a:t>
            </a:r>
            <a:endParaRPr lang="en-US" sz="1500" dirty="0">
              <a:solidFill>
                <a:schemeClr val="bg1">
                  <a:lumMod val="50000"/>
                </a:schemeClr>
              </a:solidFill>
              <a:latin typeface="Century Gothic" panose="020B0702020202020204" pitchFamily="34" charset="0"/>
              <a:cs typeface="Century Gothic" panose="020B0702020202020204" pitchFamily="34" charset="0"/>
            </a:endParaRPr>
          </a:p>
          <a:p>
            <a:endParaRPr lang="en-US" sz="1500" dirty="0">
              <a:solidFill>
                <a:schemeClr val="bg1">
                  <a:lumMod val="50000"/>
                </a:schemeClr>
              </a:solidFill>
              <a:latin typeface="Century Gothic" panose="020B0702020202020204" pitchFamily="34" charset="0"/>
              <a:cs typeface="Century Gothic" panose="020B0702020202020204" pitchFamily="34" charset="0"/>
            </a:endParaRPr>
          </a:p>
          <a:p>
            <a:r>
              <a:rPr lang="en-US" sz="1500" dirty="0">
                <a:solidFill>
                  <a:schemeClr val="bg1">
                    <a:lumMod val="50000"/>
                  </a:schemeClr>
                </a:solidFill>
                <a:latin typeface="Century Gothic" panose="020B0702020202020204" pitchFamily="34" charset="0"/>
                <a:cs typeface="Century Gothic" panose="020B0702020202020204" pitchFamily="34" charset="0"/>
              </a:rPr>
              <a:t>Founder</a:t>
            </a:r>
            <a:endParaRPr lang="en-US" sz="1500" dirty="0">
              <a:solidFill>
                <a:schemeClr val="bg1">
                  <a:lumMod val="50000"/>
                </a:schemeClr>
              </a:solidFill>
              <a:latin typeface="Century Gothic" panose="020B0702020202020204" pitchFamily="34" charset="0"/>
              <a:cs typeface="Century Gothic" panose="020B0702020202020204" pitchFamily="34" charset="0"/>
            </a:endParaRPr>
          </a:p>
        </p:txBody>
      </p:sp>
    </p:spTree>
  </p:cSld>
  <p:clrMapOvr>
    <a:masterClrMapping/>
  </p:clrMapOvr>
</p:sld>
</file>

<file path=ppt/theme/theme1.xml><?xml version="1.0" encoding="utf-8"?>
<a:theme xmlns:a="http://schemas.openxmlformats.org/drawingml/2006/main" name="TAQA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0">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58658</Words>
  <Application>WPS Presentation</Application>
  <PresentationFormat>Widescreen</PresentationFormat>
  <Paragraphs>1659</Paragraphs>
  <Slides>93</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93</vt:i4>
      </vt:variant>
    </vt:vector>
  </HeadingPairs>
  <TitlesOfParts>
    <vt:vector size="106" baseType="lpstr">
      <vt:lpstr>Arial</vt:lpstr>
      <vt:lpstr>SimSun</vt:lpstr>
      <vt:lpstr>Wingdings</vt:lpstr>
      <vt:lpstr>Century Gothic</vt:lpstr>
      <vt:lpstr>Verdana</vt:lpstr>
      <vt:lpstr>Arial</vt:lpstr>
      <vt:lpstr>Century Gothic</vt:lpstr>
      <vt:lpstr>Microsoft YaHei</vt:lpstr>
      <vt:lpstr>汉仪旗黑</vt:lpstr>
      <vt:lpstr>Arial Unicode MS</vt:lpstr>
      <vt:lpstr>Aptos</vt:lpstr>
      <vt:lpstr>Helvetica Neue</vt:lpstr>
      <vt:lpstr>TAQA Template</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 Project Spider  Accelerating the Energy Transition  4thMar 2024  Pawan Quantwater Tech Investments  </vt:lpstr>
      <vt:lpstr>PowerPoint 演示文稿</vt:lpstr>
      <vt:lpstr> Project Spider  Accelerating the Energy Transition  4thMar 2024  Pawan Quantwater Tech Investments  </vt:lpstr>
      <vt:lpstr> Project Spider  Accelerating the Energy Transition  4thMar 2024  Pawan Quantwater Tech Investments  </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 Project Spider  Accelerating the Energy Transition  4thMar 2024  Pawan Quantwater Tech Investments  </vt:lpstr>
      <vt:lpstr>PowerPoint 演示文稿</vt:lpstr>
      <vt:lpstr> Project Spider  Accelerating the Energy Transition  4thMar 2024  Pawan Quantwater Tech Investments  </vt:lpstr>
      <vt:lpstr> Project Spider  Accelerating the Energy Transition  4thMar 2024  Pawan Quantwater Tech Investments  </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Pawan J</dc:creator>
  <cp:lastModifiedBy>Pawan Jatale</cp:lastModifiedBy>
  <cp:revision>38</cp:revision>
  <dcterms:created xsi:type="dcterms:W3CDTF">2025-10-12T13:31:51Z</dcterms:created>
  <dcterms:modified xsi:type="dcterms:W3CDTF">2025-10-12T13:31:51Z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7C05A5DD33FA38B674A8EB685DB91473_43</vt:lpwstr>
  </property>
  <property fmtid="{D5CDD505-2E9C-101B-9397-08002B2CF9AE}" pid="3" name="KSOProductBuildVer">
    <vt:lpwstr>1033-12.1.22533.22533</vt:lpwstr>
  </property>
</Properties>
</file>